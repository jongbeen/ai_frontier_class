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966"/>
          </a:solidFill>
          <a:ln>
            <a:solidFill>
              <a:srgbClr val="0B2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2895" cy="73152"/>
          </a:xfrm>
          <a:prstGeom prst="rect">
            <a:avLst/>
          </a:prstGeom>
          <a:solidFill>
            <a:srgbClr val="0068B6"/>
          </a:solidFill>
          <a:ln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8B6"/>
                </a:solidFill>
                <a:latin typeface="맑은 고딕"/>
              </a:defRPr>
            </a:pPr>
            <a:r>
              <a:t>2026 하반기 서울대 AI 프론티어 마스터 과정  |  개인 프로젝트 제안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Generative AI 기반 기업 여신 심사 자동화 및</a:t>
            </a:r>
            <a:br/>
            <a:r>
              <a:t>실시간 리스크 센싱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7059"/>
                </a:solidFill>
                <a:latin typeface="Arial"/>
              </a:defRPr>
            </a:pPr>
            <a:r>
              <a:t>Woori Corporate Credit Underwriting Assistant: Real-time Risk Sensing &amp; Draft Generator (Woori Copilot)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맑은 고딕"/>
              </a:defRPr>
            </a:pPr>
            <a:r>
              <a:t>제안기관: 우리금융그룹 / 우리은행</a:t>
            </a:r>
            <a:br/>
            <a:r>
              <a:t>제안자: 교육생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966"/>
          </a:solidFill>
          <a:ln>
            <a:solidFill>
              <a:srgbClr val="0B2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01.  프로젝트 주제 및 문제 정의 (Topic &amp; Pain Point)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8B6"/>
                </a:solidFill>
                <a:latin typeface="Arial"/>
              </a:defRPr>
            </a:pPr>
            <a:r>
              <a:t>WOORI FINANCIAL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DF4F3"/>
          </a:solidFill>
          <a:ln w="19050">
            <a:solidFill>
              <a:srgbClr val="F27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7059"/>
                </a:solidFill>
                <a:latin typeface="맑은 고딕"/>
              </a:defRPr>
            </a:pPr>
            <a:r>
              <a:t>🚨 현업의 Pain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심사역의 과도한 업무 로드 및 생산성 한계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수십 장의 DART 공시, 산업동향 보고서, 부정 뉴스를 수작업 수집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기업당 보고서(Credit Memo) 초안 작성에만 최소 2~3일 소요</a:t>
            </a:r>
          </a:p>
          <a:p>
            <a:pPr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정성적/비정형 리스크 실시간 모니터링 공백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배임, 소송, 특허 분쟁 등은 정형 재무제표에 뒤늦게 반영됨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실시간 리스크 감지 지연 시 거액의 여신 부실화 손실 초래</a:t>
            </a:r>
          </a:p>
          <a:p>
            <a:pPr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설명 가능성(Explainability)이 없는 AI의 한계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여신 심사는 '거절 근거'를 법적으로 소상히 설명해야 함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블랙박스 형태의 LLM 단독 판정은 신뢰도 부족으로 실무 적용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0F7FE"/>
          </a:solidFill>
          <a:ln w="1905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8B6"/>
                </a:solidFill>
                <a:latin typeface="맑은 고딕"/>
              </a:defRPr>
            </a:pPr>
            <a:r>
              <a:t>💡 해결 방안 (Our Solution)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정량/정성 데이터의 하이브리드 수집 파이프라인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정형 데이터(재무제표 등)는 DART API를 통해 오차율 0%로 추출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비정형 데이터(뉴스 등)는 실시간 뉴스 크롤러 및 임베딩 구성</a:t>
            </a:r>
          </a:p>
          <a:p>
            <a:pPr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Multi-Agent 및 RAG 기반 정교화된 심사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수집 데이터 기반 부정 신호 센싱 및 실시간 리스크 게이지 산출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RAG 결합으로 모든 리스크 문장에 대한 명확한 출처/원문 인용 제공</a:t>
            </a:r>
          </a:p>
          <a:p>
            <a:pPr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안전한 금융 특화 하이브리드 LLM 가이드라인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대형 상용 LLM의 리서치 능력과 사내 On-Premise SLM 결합</a:t>
            </a:r>
          </a:p>
          <a:p>
            <a:pPr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  - 심사역이 판단에만 고도로 집중하는 '심사 Copilot'으로 기능 설계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966"/>
          </a:solidFill>
          <a:ln>
            <a:solidFill>
              <a:srgbClr val="0B2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02.  현업 과제 해결 및 비즈니스 기대 효과 (Expected Benefits)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8B6"/>
                </a:solidFill>
                <a:latin typeface="Arial"/>
              </a:defRPr>
            </a:pPr>
            <a:r>
              <a:t>WOORI FINANCIAL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8B6"/>
                </a:solidFill>
                <a:latin typeface="맑은 고딕"/>
              </a:defRPr>
            </a:pPr>
            <a:r>
              <a:t>🔄 프로세스 패러다임 전환 (Paradigm Shift)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맑은 고딕"/>
              </a:defRPr>
            </a:pPr>
            <a:r>
              <a:t>  [기존 업무]  수작업 수집 ──&gt; 데이터 일일이 수작업 타이핑 ──&gt; 보고서 서식 수작업 작성 ➔ [최소 2~3일 소요]</a:t>
            </a:r>
            <a:br/>
            <a:r>
              <a:t>  [개선 업무]  대상 기업명 입력 ──&gt; Multi-Agent 자동 수집/센싱 ──&gt; Credit Memo 초안 10분 내 자동 도출 ➔ [심사역은 승인 판단만 수행]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8B6"/>
                </a:solidFill>
                <a:latin typeface="맑은 고딕"/>
              </a:defRPr>
            </a:pPr>
            <a:r>
              <a:t>📌 해결하고자 하는 현업 핵심 과제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정보 탐색 및 문서 타이핑 최소화: 단순 기입 자동화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비정형 리스크 점량화: 기업 부정 뉴스 조기 감지 체계 구현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부서 간 분석 격차 극복: 표준화된 심사 양식 자동 매핑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4747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8B6"/>
                </a:solidFill>
                <a:latin typeface="맑은 고딕"/>
              </a:defRPr>
            </a:pPr>
            <a:r>
              <a:t>📈 기대 효과 및 재무 가치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생산성 약 90% 이상 개선: 심사 소요시간 획기적 단축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부실여신 선제 방어: NPL(부실채권) 비율의 적극적 감소 유도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법적 신뢰성 제고: AI에 원본 출처 인용 연계로 신뢰성 확보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• 심사 전문성 상향 평준화: 누구나 일치하는 고품질 보고서 수립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966"/>
          </a:solidFill>
          <a:ln>
            <a:solidFill>
              <a:srgbClr val="0B2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03.  사용 예정 데이터 및 모델 아키텍처 (Data &amp;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8B6"/>
                </a:solidFill>
                <a:latin typeface="Arial"/>
              </a:defRPr>
            </a:pPr>
            <a:r>
              <a:t>WOORI FINANCIAL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8B6"/>
                </a:solidFill>
                <a:latin typeface="맑은 고딕"/>
              </a:defRPr>
            </a:pPr>
            <a:r>
              <a:t>📊 사용 예정 데이터 수집 &amp; 활용 계획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정형 데이터 (Hard Data): 환각 우려 원천 제거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대상: DART 공시 재무제표, 주요 재무비율, KRX 대주주 현황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획득: Open API 및 가상의 마스킹 데이터 활용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처리: LLM 배제, 오로지 규칙 기반 코딩으로 100% 정합성 수집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비정형 데이터 (Soft Data): RAG 기반 분석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대상: 포털 뉴스 API, 우리금융경영연구소 산업 보고서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획득: BeautifulSoup/Selenium 및 공용 데이터포털 연계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처리: 텍스트 임베딩 후 Chroma DB(Vector DB) 적재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금융 보안 가이드라인 준수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가상 기업 정보(10개사) 기반으로 가명 처리하여 유출 위험 제로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8B6"/>
                </a:solidFill>
                <a:latin typeface="맑은 고딕"/>
              </a:defRPr>
            </a:pPr>
            <a:r>
              <a:t>⚙️ 시스템 기술 아키텍처 및 도구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Multi-Agent 제어 (LangGraph): 흐름 정교화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Data Agent: DART API를 연동하여 재무 수치 분석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Risk Agent: 부정 뉴스 감성 분석 및 리스크 스코어 계산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Drafting Agent: 결과 결합 후 Credit Memo 최종 조립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Hybrid LLM 운영 정책: 보안과 성능의 합의점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외부망 GPT-4o: 비정형 데이터 정제 및 추론 성능 극대화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On-Premise SLM: 사내 내부망 템플릿 문서 빌드용으로 활용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시연용 인터페이스 (Streamlit)</a:t>
            </a:r>
          </a:p>
          <a:p>
            <a:pPr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  - 기업명 입력 대시보드, 리스크 게이지 시각화, 보고서 다운로드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966"/>
          </a:solidFill>
          <a:ln>
            <a:solidFill>
              <a:srgbClr val="0B2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04.  개발 및 추진 계획과 핵심 평가 지표 (Roadmap &amp; 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8B6"/>
                </a:solidFill>
                <a:latin typeface="Arial"/>
              </a:defRPr>
            </a:pPr>
            <a:r>
              <a:t>WOORI FINANCIAL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8B6"/>
                </a:solidFill>
                <a:latin typeface="맑은 고딕"/>
              </a:defRPr>
            </a:pPr>
            <a:r>
              <a:t>📅 12주 현실적 개발 로드맵 (6~18주차)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6 ~ 8주차: 데이터 파이프라인 수립 및 데이터 가상화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- DART, 뉴스 API 연동 모듈 및 가상 10개사 데이터셋 구축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9 ~ 11주차: Multi-Agent 및 RAG 아키텍처 모델링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- LangGraph 에이전트 설계, 뉴스 분석 RAG 및 VectorDB 이식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12 ~ 14주차: 보고서 파일 빌더 및 Streamlit 대시보드 연동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- Markdown/PDF 파일 작성 로직 정합성 점검 및 UI 고도화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15 ~ 17주차: End-to-End 통합 검증 및 프롬프트 튜닝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- 에이전트 연동 에러 방지 및 환각(Hallucination) 제어 수치 튜닝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18주차: 최종 데모 영상 및 발표 자료 최종화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0F7FE"/>
          </a:solidFill>
          <a:ln w="19050">
            <a:solidFill>
              <a:srgbClr val="00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8B6"/>
                </a:solidFill>
                <a:latin typeface="맑은 고딕"/>
              </a:defRPr>
            </a:pPr>
            <a:r>
              <a:t>🎯 핵심 평가지표 및 검증 타당성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정량적 평가 지표 (Technical Performance)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1. 재무 정보 정합성 (Data Accuracy): DART 수치 일치율 100%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2. 보고서 도출 속도: 수동 2~3일 ➔ 자동 10분 이내 (90% 이상 향상)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3. 생성 도달율: 파이프라인 에러율 5% 미만 (성공률 95% 이상)</a:t>
            </a:r>
          </a:p>
          <a:p>
            <a:pPr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정성적 평가 지표 (Expert Verification)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1. 문장 원문 근거성 (BERTScore): 소스 연동 평가 0.82 이상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2. 현업 블라인드 피델리티 평가 (Fidelity Test):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     - 우리은행 여신 전문가 3인의 보고서 수준 만족도 블라인드 테스트</a:t>
            </a:r>
          </a:p>
          <a:p>
            <a:pPr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       - 목표 평점 4.0점 이상 / 5.0점 만점 획득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