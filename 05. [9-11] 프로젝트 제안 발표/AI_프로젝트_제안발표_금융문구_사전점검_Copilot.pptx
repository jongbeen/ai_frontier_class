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1d1fc90894010" /><Relationship Type="http://schemas.openxmlformats.org/officeDocument/2006/relationships/extended-properties" Target="/docProps/app.xml" Id="R856fae67d5f14388" /><Relationship Type="http://schemas.openxmlformats.org/officeDocument/2006/relationships/officeDocument" Target="/ppt/presentation.xml" Id="R1d4454508cde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babda42d74df7"/>
  </p:sldMasterIdLst>
  <p:notesMasterIdLst>
    <p:notesMasterId xmlns:r="http://schemas.openxmlformats.org/officeDocument/2006/relationships" r:id="R91c14f1dcc444184"/>
  </p:notesMasterIdLst>
  <p:sldIdLst>
    <p:sldId xmlns:r="http://schemas.openxmlformats.org/officeDocument/2006/relationships" id="256" r:id="R8507a00e9c2f4204"/>
    <p:sldId xmlns:r="http://schemas.openxmlformats.org/officeDocument/2006/relationships" id="257" r:id="Rb164776b60e54fa1"/>
    <p:sldId xmlns:r="http://schemas.openxmlformats.org/officeDocument/2006/relationships" id="258" r:id="R7d454ec55e394728"/>
    <p:sldId xmlns:r="http://schemas.openxmlformats.org/officeDocument/2006/relationships" id="259" r:id="R84096010f3a94d89"/>
    <p:sldId xmlns:r="http://schemas.openxmlformats.org/officeDocument/2006/relationships" id="260" r:id="Rbe695f02f02c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91329a93214a30" /><Relationship Type="http://schemas.openxmlformats.org/officeDocument/2006/relationships/slideMaster" Target="/ppt/slideMasters/slideMaster1.xml" Id="R65bbabda42d74df7" /><Relationship Type="http://schemas.openxmlformats.org/officeDocument/2006/relationships/notesMaster" Target="/ppt/notesMasters/notesMaster1.xml" Id="R91c14f1dcc444184" /><Relationship Type="http://schemas.openxmlformats.org/officeDocument/2006/relationships/presProps" Target="/ppt/presProps.xml" Id="R41d3ed47a2ee433b" /><Relationship Type="http://schemas.openxmlformats.org/officeDocument/2006/relationships/tableStyles" Target="/ppt/tableStyles.xml" Id="R0e9294c642b24c0e" /><Relationship Type="http://schemas.openxmlformats.org/officeDocument/2006/relationships/slide" Target="/ppt/slides/slide1.xml" Id="R8507a00e9c2f4204" /><Relationship Type="http://schemas.openxmlformats.org/officeDocument/2006/relationships/slide" Target="/ppt/slides/slide2.xml" Id="Rb164776b60e54fa1" /><Relationship Type="http://schemas.openxmlformats.org/officeDocument/2006/relationships/slide" Target="/ppt/slides/slide3.xml" Id="R7d454ec55e394728" /><Relationship Type="http://schemas.openxmlformats.org/officeDocument/2006/relationships/slide" Target="/ppt/slides/slide4.xml" Id="R84096010f3a94d89" /><Relationship Type="http://schemas.openxmlformats.org/officeDocument/2006/relationships/slide" Target="/ppt/slides/slide5.xml" Id="Rbe695f02f02c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efa0e5b5ed48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fbbf18757b4824" /><Relationship Type="http://schemas.openxmlformats.org/officeDocument/2006/relationships/notesMaster" Target="/ppt/notesMasters/notesMaster1.xml" Id="Rcd8f93a00674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1efdaf26704848" /><Relationship Type="http://schemas.openxmlformats.org/officeDocument/2006/relationships/notesMaster" Target="/ppt/notesMasters/notesMaster1.xml" Id="R7322f855de7b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4cea35dce459e" /><Relationship Type="http://schemas.openxmlformats.org/officeDocument/2006/relationships/notesMaster" Target="/ppt/notesMasters/notesMaster1.xml" Id="Rb3ba6d9c73d1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00d76c7d24b54" /><Relationship Type="http://schemas.openxmlformats.org/officeDocument/2006/relationships/notesMaster" Target="/ppt/notesMasters/notesMaster1.xml" Id="R376ed221e5e2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205cd919b4df9" /><Relationship Type="http://schemas.openxmlformats.org/officeDocument/2006/relationships/notesMaster" Target="/ppt/notesMasters/notesMaster1.xml" Id="Rf491799fa011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제공: 2026년 하반기 AI 프론티어 마스터 과정 프로젝트 제안 발표 운영 계획(안).pdf</a:t>
            </a:r>
          </a:p>
          <a:p xmlns:a="http://schemas.openxmlformats.org/drawingml/2006/main">
            <a:r>
              <a:t>사용자 제공: 개인프로젝트 제안발표 공지.pdf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프로젝트 구조 참고: 제안발표_01.pdf(사람의 판단을 남기는 Copilot 설계)</a:t>
            </a:r>
          </a:p>
          <a:p xmlns:a="http://schemas.openxmlformats.org/drawingml/2006/main">
            <a:r>
              <a:t>프로젝트 구조 참고: 제안발표_03.pdf(좁고 반복적인 현업 업무를 MVP 범위로 선정)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참고자료: 제안발표_01.pdf의 정형 로직 + RAG + 인간 검토 구조</a:t>
            </a:r>
          </a:p>
          <a:p xmlns:a="http://schemas.openxmlformats.org/drawingml/2006/main">
            <a:r>
              <a:t>사용자 제공 참고자료: 제안발표_03.pdf의 Semantic Layer 및 검증 가능한 가상 데이터 접근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평가 구조 참고: 제안발표_02.pdf의 분류·예측 성능 및 Backtesting 관점</a:t>
            </a:r>
          </a:p>
          <a:p xmlns:a="http://schemas.openxmlformats.org/drawingml/2006/main">
            <a:r>
              <a:t>평가 구조 참고: 제안발표_03.pdf의 실행 성공률·데이터 일치율·업무 효율성 지표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일정 구성 참고: 프로젝트 운영 계획(안).pdf의 6-18주차 현실화 요구</a:t>
            </a:r>
          </a:p>
          <a:p xmlns:a="http://schemas.openxmlformats.org/drawingml/2006/main">
            <a:r>
              <a:t>로드맵 구조 참고: 제안발표_03.pdf의 15주 단계별 구현 계획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a702b36e548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e87918d1e45ec" /><Relationship Type="http://schemas.openxmlformats.org/officeDocument/2006/relationships/slideLayout" Target="/ppt/slideLayouts/slideLayout1.xml" Id="R3fb238b64a7c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238b64a7c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ddeaf745f4791" /><Relationship Type="http://schemas.openxmlformats.org/officeDocument/2006/relationships/notesSlide" Target="/ppt/notesSlides/notesSlide1.xml" Id="R6387b186e25447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9c410bb1148c5" /><Relationship Type="http://schemas.openxmlformats.org/officeDocument/2006/relationships/notesSlide" Target="/ppt/notesSlides/notesSlide2.xml" Id="Rcfc768225391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b9175a14948d0" /><Relationship Type="http://schemas.openxmlformats.org/officeDocument/2006/relationships/notesSlide" Target="/ppt/notesSlides/notesSlide3.xml" Id="R8af3a8f1074b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58ee3cb35478d" /><Relationship Type="http://schemas.openxmlformats.org/officeDocument/2006/relationships/notesSlide" Target="/ppt/notesSlides/notesSlide4.xml" Id="Re183ebc397d0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8915fe174af1" /><Relationship Type="http://schemas.openxmlformats.org/officeDocument/2006/relationships/notesSlide" Target="/ppt/notesSlides/notesSlide5.xml" Id="Rc6f4510c349742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F5367-EAA0-4A30-AA48-AF2FA8F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65D83-1DFF-4787-A890-25A111F7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2026 하반기 AI 프론티어 마스터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A427D-E666-41D8-B5F3-92D59B8B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금융상품 광고·상담 문구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사전점검 AI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96C1-A87C-4A46-AFD1-72F8959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B7280"/>
                </a:solidFill>
              </a:defRPr>
            </a:pPr>
            <a:r>
              <a:rPr sz="1725" b="0">
                <a:solidFill>
                  <a:srgbClr val="6B7280"/>
                </a:solidFill>
              </a:rPr>
              <a:t>규정 위반 가능성을 문장 단위로 탐지하고, 근거와 수정안을 함께 제시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B3AB7-CD27-4BC6-833C-945246F8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4900"/>
            <a:ext cx="2381250" cy="3905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91135-5A62-42B2-921F-2D54AA19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859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8EEC5-1689-4E3A-A2A2-C76D291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52625"/>
            <a:ext cx="1676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광고 문구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상담 스크립트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A7818-018F-4063-87A7-127A70C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EB72-911B-4D59-85B2-49C9469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AI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0B614-6388-4133-A9B9-7D120A5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1676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위험 문장</a:t>
            </a:r>
          </a:p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근거 조항</a:t>
            </a:r>
          </a:p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수정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AA212-28FE-4A8C-A545-CDC36305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개인 프로젝트 제안 발표</a:t>
            </a:r>
          </a:p>
        </p:txBody>
      </p:sp>
    </p:spTree>
    <p:extLst>
      <p:ext uri="{BB962C8B-B14F-4D97-AF65-F5344CB8AC3E}">
        <p14:creationId xmlns:p14="http://schemas.microsoft.com/office/powerpoint/2010/main" val="2116937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F091E-0DBB-44AC-81AF-CAC072BE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4139D-2996-47FE-9DC5-EA3F906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검수의 병목은 ‘규정 탐색’과 ‘문장별 근거 확인’이다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1B7E8-0F3C-4F15-BCAB-A4FFC2E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02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26C7-FDBE-415B-9D59-A48BA7E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78DFB-85DE-4273-8254-D6881DB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현재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07C21-E210-4FA2-9BD9-2B74D9AA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문구 작성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7DEA-3315-4328-8E02-0DA9B62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12C32-95D2-4B76-99AB-A263186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수작업 규정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6F492-BCCC-4610-ACC6-505EF7EF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11592-4417-4FCA-9F85-D0A0DFD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준법 검토·수정 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B0169-8DE3-4FEA-B9B6-3CD0854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A7A79-6A33-4E3E-83B2-EDD78C2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핵심 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67A2F-03D4-4110-B9EB-8792090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규정은 흩어져 있고, 같은 위험도 문맥에 따라 판단이 달라진다.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2F472-4D26-42FF-B9DD-4764DE2B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280"/>
                </a:solidFill>
              </a:defRPr>
            </a:pPr>
            <a:r>
              <a:rPr sz="1575" b="0">
                <a:solidFill>
                  <a:srgbClr val="6B7280"/>
                </a:solidFill>
              </a:rPr>
              <a:t>그 결과 검토 시간은 길어지고, 작성자와 검토자 사이의 반복 작업이 늘어난다.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4EB1C-E97C-429F-9344-ECA3F4B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90700"/>
            <a:ext cx="1809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9C12B-2DB2-48FB-B13F-4F2F725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AI의 역할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76E73-EC54-4195-8095-56304D29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위험 표현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D9D92-310C-42D0-AF4C-0851165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528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근거 조항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35D61-55CC-43DE-A690-C14088D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338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대체 문구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5ADD9-821B-40BE-AF76-26C5590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7FF"/>
                </a:solidFill>
              </a:defRPr>
            </a:pPr>
            <a:r>
              <a:rPr sz="1950" b="1">
                <a:solidFill>
                  <a:srgbClr val="1677FF"/>
                </a:solidFill>
              </a:rPr>
              <a:t>사람은 최종 판단에 집중</a:t>
            </a:r>
          </a:p>
        </p:txBody>
      </p:sp>
    </p:spTree>
    <p:extLst>
      <p:ext uri="{BB962C8B-B14F-4D97-AF65-F5344CB8AC3E}">
        <p14:creationId xmlns:p14="http://schemas.microsoft.com/office/powerpoint/2010/main" val="2027421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097B0-7061-4F41-BE5D-457421C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해결 방안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C68C-C0A2-4CF2-8BD8-11AB82F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규칙 엔진과 RAG를 결합해 ‘탐지-근거-수정’을 한 번에 제공한다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7AA90-6CE5-416D-BB3E-F45A253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03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9FA7-764D-4F12-BD4F-9252DEA9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96E21-7B76-419C-A14E-DAAFB945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162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BBC8E-DFC8-4BE3-B050-236CD56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① 문구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989B1-8463-472E-B068-4F8ADE1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819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광고안·상담 스크립트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텍스트 또는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2BF89-5E1A-4C2F-BF53-1C40B890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C15A8-3E67-4B60-9E92-BB505CC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66900"/>
            <a:ext cx="2162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8AB75-9252-448D-ABAF-2B610CAB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383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② 위험 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1E1D6-C610-4636-8ED2-E6F2DAAE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14600"/>
            <a:ext cx="1819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금지어·필수고지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문맥 기반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F887A-153C-4D37-89D5-D79D052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28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55C4D-0CF8-4D96-BA3E-EA6DB88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66900"/>
            <a:ext cx="2162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F79B1-480A-488E-8D00-2033D35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383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③ 근거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E579F-24E6-465E-BE4D-4908407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14600"/>
            <a:ext cx="1819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내부 가이드·법규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관련 조항 인용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BF504-B1BC-454F-9B0D-40E8EF8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B67DC-9F21-46D1-9EBC-0B7369A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66900"/>
            <a:ext cx="2162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D0BB0-BC22-4252-959A-22C68A5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④ 수정안·리포트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57AF6-E345-457F-A5C2-54CF934C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14600"/>
            <a:ext cx="1819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위험도·근거·대체 문구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검토자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4C62D-DD9D-40E8-9EEA-DB4B7A8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활용 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1939B-C886-43BD-ACC9-7A0BD64D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내부 규정·심의 체크리스트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7FB77-1FCB-4582-A1F6-62479045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과거 승인/반려 문구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72394-E253-4267-A075-E180E792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공개 법규·가이드라인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D31E3-4DF5-4715-A2AA-2C28513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민감정보 제거 후 활용 · 초기에는 가상/비식별 사례로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BF239-B9F5-43BC-B54B-6E8C9931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EBC4F-B124-49CF-B86A-13929CD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설계 원칙  |  답변마다 근거를 표시하고, 근거가 약하면 ‘검토 필요’로 전환</a:t>
            </a:r>
          </a:p>
        </p:txBody>
      </p:sp>
    </p:spTree>
    <p:extLst>
      <p:ext uri="{BB962C8B-B14F-4D97-AF65-F5344CB8AC3E}">
        <p14:creationId xmlns:p14="http://schemas.microsoft.com/office/powerpoint/2010/main" val="87366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8F39C-F457-4A60-B30F-ED21C25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평가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D7D97-74E7-4B9B-9A25-2C4B4B6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성공 기준은 검출 정확도와 근거 신뢰도다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D5507-2F3C-419A-8749-14BD1567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04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25F64-447D-456B-8F50-5987EA0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D0FFB-3902-4352-A266-70363E42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평가 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B87DC-A8BD-4CCD-BBB6-CEB8E0B2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핵심 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32BD0-4462-4664-8883-CFE0774F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76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</a:defRPr>
            </a:pPr>
            <a:r>
              <a:rPr sz="1275" b="1">
                <a:solidFill>
                  <a:srgbClr val="6B7280"/>
                </a:solidFill>
              </a:rPr>
              <a:t>검증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F9D69-1062-4400-81BE-2B72F99A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1A688-91F4-401F-A700-E6EADA8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위험 문장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DB132-A7D2-4013-9392-F3A16BB7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Precision / Recall /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9E4DE-5D00-4269-9DD8-7AE89C4A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과거 심의 문구를 정답셋으로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E863C-F73E-4845-9AEA-178FEAA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ACDCF-1582-4E63-A349-ACD0522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근거 조항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402BC-B254-4CD8-A1F4-F2F0C8C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Recall@3 / MRR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6F0DA-2381-443E-878C-B39ADA4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정답 조항이 상위 결과에 포함되는지 측정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213B7-CFD1-47F9-8658-160FD30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EFBF1-CA9E-471E-95DF-7616B298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수정안 품질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CC714-1C81-4E6A-9954-D20AB8B3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전문가 적합 판정률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2EBF1-9AF5-4C60-9B3C-5A84915B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준법·현업 담당자 Blind 평가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8823C-5E18-40B3-87E3-4DD460D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34625-6C80-44E2-A9F4-B5EC5AB2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업무 효율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1A12F-6DF5-464D-BCB4-F6A5280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767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평균 검토시간 감소율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3398C-F3D4-47C5-9C8D-5201A0A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기존 방식 대비 동일 문구 처리시간 비교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3C012-AEC8-45D0-991E-45328F6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03660-7B84-4664-8FF5-2A0E7359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CD553-89A6-4D5D-888F-1A98B20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MVP 목표  |  F1 ≥ 0.80 · 근거 Recall@3 ≥ 0.90 · 검토시간 30% 단축</a:t>
            </a:r>
          </a:p>
        </p:txBody>
      </p:sp>
    </p:spTree>
    <p:extLst>
      <p:ext uri="{BB962C8B-B14F-4D97-AF65-F5344CB8AC3E}">
        <p14:creationId xmlns:p14="http://schemas.microsoft.com/office/powerpoint/2010/main" val="321955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0795E-BA23-4EBD-9D50-A0452697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수행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F6C56-6B43-4A67-9C82-5AB2080F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15주 안에 ‘근거가 보이는 검수 데모’까지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95A4C-2C0C-455E-9BF3-FB3262D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05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7D270-D1F1-470C-ABDF-425CD367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8EB4E-58F4-4275-BCD4-48BB43A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E93BB-5FED-4924-A172-4289A4F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</a:defRPr>
            </a:pPr>
            <a:r>
              <a:rPr sz="1875" b="1">
                <a:solidFill>
                  <a:srgbClr val="1677FF"/>
                </a:solidFill>
              </a:rPr>
              <a:t>1-3주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91463-B54E-4D81-A411-7A484F60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범위·데이터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3B538-082F-4669-B16D-1616D17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대상 문구 유형 선정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규정/사례 수집·비식별화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테스트셋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5E86D-1AD7-4489-A713-658BCBA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169D7-3A7D-4A32-B917-260AD779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81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DFED4-CE32-4664-8017-579D0D6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</a:defRPr>
            </a:pPr>
            <a:r>
              <a:rPr sz="1875" b="1">
                <a:solidFill>
                  <a:srgbClr val="1677FF"/>
                </a:solidFill>
              </a:rPr>
              <a:t>4-7주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1F8E4-4FEC-4684-9F01-22035B7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탐지·검색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9F5BD-DA1C-426E-90D7-EB40B768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규칙 베이스라인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RAG 인덱스 구축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위험 분류 모델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115EE-4E8D-4577-B5DD-9D8C30C9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95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816E2-4553-4EBC-B69C-87B8324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81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6F454-4BD6-4CC0-A71C-49D5651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</a:defRPr>
            </a:pPr>
            <a:r>
              <a:rPr sz="1875" b="1">
                <a:solidFill>
                  <a:srgbClr val="1677FF"/>
                </a:solidFill>
              </a:rPr>
              <a:t>8-11주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E2029-9FF4-423A-B209-43DB1C3E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통합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CA742-39F5-43FC-8717-DFFE526F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근거 인용·수정안 생성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신뢰도 임계값 적용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Streamlit 화면 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C7B5C-694C-4CC9-81F3-10A9162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</a:defRPr>
            </a:pPr>
            <a:r>
              <a:rPr sz="18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293DE-583E-45AD-8DCD-556C25D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812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6ED7C-A4F2-4283-ADDC-2897D17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</a:defRPr>
            </a:pPr>
            <a:r>
              <a:rPr sz="1875" b="1">
                <a:solidFill>
                  <a:srgbClr val="1677FF"/>
                </a:solidFill>
              </a:rPr>
              <a:t>12-15주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76B17-58AB-43E3-8882-B30C3A0D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검증·적용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773B9-332D-4685-BAE0-FB8F3DA8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정량 평가·오류 분석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현업 사용자 평가</a:t>
            </a:r>
          </a:p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운영 가이드·최종 데모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1EA82-8100-4915-9C3B-03D20E7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최종 산출물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287A3-0426-4172-BFAF-6FB3DB7C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① 작동하는 웹 데모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3E9BF-6F69-4019-8E7A-3BE8E11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② 평가 리포트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052DD-60BE-4BC1-82F2-D6B2514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③ 현업 도입 가이드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75B7F-B73C-4E97-8EB6-810BC54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판단을 대체하지 않고, 검토의 속도와 일관성을 높이는 AI</a:t>
            </a:r>
          </a:p>
        </p:txBody>
      </p:sp>
    </p:spTree>
    <p:extLst>
      <p:ext uri="{BB962C8B-B14F-4D97-AF65-F5344CB8AC3E}">
        <p14:creationId xmlns:p14="http://schemas.microsoft.com/office/powerpoint/2010/main" val="2041170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2026-08-28T00:45:07.8070000Z</dcterms:created>
  <dcterms:modified xsi:type="dcterms:W3CDTF">2026-08-28T00:45:07.8070000Z</dcterms:modified>
</coreProperties>
</file>