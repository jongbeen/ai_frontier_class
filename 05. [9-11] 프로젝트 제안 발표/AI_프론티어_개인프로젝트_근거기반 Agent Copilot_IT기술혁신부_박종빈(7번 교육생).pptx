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157" autoAdjust="0"/>
  </p:normalViewPr>
  <p:slideViewPr>
    <p:cSldViewPr snapToGrid="0">
      <p:cViewPr varScale="1">
        <p:scale>
          <a:sx n="58" d="100"/>
          <a:sy n="58" d="100"/>
        </p:scale>
        <p:origin x="161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안녕하세요. 제가 제안하는 프로젝트는 ‘근거 기반 업무 실행 </a:t>
            </a:r>
            <a:r>
              <a:rPr lang="ko-KR" altLang="ko-KR" dirty="0" err="1"/>
              <a:t>Agent</a:t>
            </a:r>
            <a:r>
              <a:rPr lang="ko-KR" altLang="ko-KR" dirty="0"/>
              <a:t> </a:t>
            </a:r>
            <a:r>
              <a:rPr lang="ko-KR" altLang="ko-KR" dirty="0" err="1"/>
              <a:t>Copilot’입니다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사내 문서를 바탕으로 질문에 답하고, 보고서 초안이나 검토 체크리스트까지 만들어주는 업무 지원 </a:t>
            </a:r>
            <a:r>
              <a:rPr lang="ko-KR" altLang="ko-KR" dirty="0" err="1"/>
              <a:t>AI입니다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업무를 하다 보면 실제 작성보다 관련 자료를 찾고, 최신 기준인지 확인하는 데 시간이 많이 들어갑니다. 이 과정을 줄이고, 결과물에 근거를 함께 제시해서 담당자가 확인하고 활용할 수 있도록 하는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먼저, 실제 사내 업무에서 겪는 문제를 말씀드리겠습니다.</a:t>
            </a:r>
          </a:p>
          <a:p>
            <a:r>
              <a:rPr lang="ko-KR" altLang="ko-KR" dirty="0"/>
              <a:t>현재 사내 전문가 시스템인 </a:t>
            </a:r>
            <a:r>
              <a:rPr lang="ko-KR" altLang="ko-KR" dirty="0" err="1"/>
              <a:t>Wibit과</a:t>
            </a:r>
            <a:r>
              <a:rPr lang="ko-KR" altLang="ko-KR" dirty="0"/>
              <a:t> </a:t>
            </a:r>
            <a:r>
              <a:rPr lang="ko-KR" altLang="ko-KR" dirty="0" err="1"/>
              <a:t>Winpms에는</a:t>
            </a:r>
            <a:r>
              <a:rPr lang="ko-KR" altLang="ko-KR" dirty="0"/>
              <a:t> 아키텍처정의서, 즉 AA 문서와 </a:t>
            </a:r>
            <a:r>
              <a:rPr lang="ko-KR" altLang="ko-KR" dirty="0" err="1"/>
              <a:t>사용자·운영</a:t>
            </a:r>
            <a:r>
              <a:rPr lang="ko-KR" altLang="ko-KR" dirty="0"/>
              <a:t> 매뉴얼이 있습니다. 하지만 일부 문서는 최신화가 되어 있지 않거나 여러 곳에 흩어져 있어서, 필요한 내용을 찾더라도 현재 적용할 수 있는 기준인지 다시 확인해야 합니다.</a:t>
            </a:r>
          </a:p>
          <a:p>
            <a:r>
              <a:rPr lang="ko-KR" altLang="ko-KR" dirty="0"/>
              <a:t>예를 들어 시스템 변경 작업을 검토한다고 가정해 보겠습니다. AA 문서에서 시스템 구성을 확인하고, 운영 매뉴얼에서 작업 절차를 찾아야 합니다. 그런데 문서별 작성 시점이 다르면 실제 운영 환경과 일치하는지 담당자에게 다시 물어봐야 합니다.</a:t>
            </a:r>
          </a:p>
          <a:p>
            <a:r>
              <a:rPr lang="ko-KR" altLang="ko-KR" dirty="0"/>
              <a:t>과거 업무 사례도 비슷합니다. 각 팀에서 자체적으로 관리하고 있지만, 전문가 시스템에 </a:t>
            </a:r>
            <a:r>
              <a:rPr lang="ko-KR" altLang="ko-KR" dirty="0" err="1"/>
              <a:t>업로드되어</a:t>
            </a:r>
            <a:r>
              <a:rPr lang="ko-KR" altLang="ko-KR" dirty="0"/>
              <a:t> 공통으로 관리되지 않아 다른 팀에서는 어떤 사례가 있는지조차 알기 어렵습니다.</a:t>
            </a:r>
          </a:p>
          <a:p>
            <a:r>
              <a:rPr lang="ko-KR" altLang="ko-KR" dirty="0"/>
              <a:t>결국 문서를 찾고, 사람에게 확인하고, 초안을 다시 작성하는 과정이 반복됩니다. 이로 인해 담당자의 경험에 따라 결과물의 품질이 달라지고, 필요한 근거가 빠질 수도 있습니다.</a:t>
            </a:r>
          </a:p>
          <a:p>
            <a:r>
              <a:rPr lang="ko-KR" altLang="ko-KR" dirty="0"/>
              <a:t>이 프로젝트에서는 </a:t>
            </a:r>
            <a:r>
              <a:rPr lang="ko-KR" altLang="ko-KR" dirty="0" err="1"/>
              <a:t>Agent가</a:t>
            </a:r>
            <a:r>
              <a:rPr lang="ko-KR" altLang="ko-KR" dirty="0"/>
              <a:t> 요청을 나누고 관련 근거를 찾아 초안을 작성하도록 해, 담당자가 근거 확인과 최종 판단에 집중할 수 있도록 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해결 방안은 </a:t>
            </a:r>
            <a:r>
              <a:rPr lang="ko-KR" altLang="ko-KR" dirty="0" err="1"/>
              <a:t>Hybrid</a:t>
            </a:r>
            <a:r>
              <a:rPr lang="ko-KR" altLang="ko-KR" dirty="0"/>
              <a:t> </a:t>
            </a:r>
            <a:r>
              <a:rPr lang="ko-KR" altLang="ko-KR" dirty="0" err="1"/>
              <a:t>RAG와</a:t>
            </a:r>
            <a:r>
              <a:rPr lang="ko-KR" altLang="ko-KR" dirty="0"/>
              <a:t> </a:t>
            </a:r>
            <a:r>
              <a:rPr lang="ko-KR" altLang="ko-KR" dirty="0" err="1"/>
              <a:t>Agent를</a:t>
            </a:r>
            <a:r>
              <a:rPr lang="ko-KR" altLang="ko-KR" dirty="0"/>
              <a:t> 결합하는 것입니다. 핵심은 흩어진 지식을 모으고, 최신 문서를 바탕으로 검색한 내용을 실제 업무 결과물까지 연결하는 데 있습니다.</a:t>
            </a:r>
          </a:p>
          <a:p>
            <a:r>
              <a:rPr lang="ko-KR" altLang="ko-KR" dirty="0"/>
              <a:t>먼저 </a:t>
            </a:r>
            <a:r>
              <a:rPr lang="ko-KR" altLang="ko-KR" dirty="0" err="1"/>
              <a:t>Wibit과</a:t>
            </a:r>
            <a:r>
              <a:rPr lang="ko-KR" altLang="ko-KR" dirty="0"/>
              <a:t> </a:t>
            </a:r>
            <a:r>
              <a:rPr lang="ko-KR" altLang="ko-KR" dirty="0" err="1"/>
              <a:t>Winpms의</a:t>
            </a:r>
            <a:r>
              <a:rPr lang="ko-KR" altLang="ko-KR" dirty="0"/>
              <a:t> AA 문서, </a:t>
            </a:r>
            <a:r>
              <a:rPr lang="ko-KR" altLang="ko-KR" dirty="0" err="1"/>
              <a:t>사용자·운영</a:t>
            </a:r>
            <a:r>
              <a:rPr lang="ko-KR" altLang="ko-KR" dirty="0"/>
              <a:t> 매뉴얼과 내부 규정을 수집하고, 각 팀이 보유한 업무 사례도 등록할 수 있는 관리 절차를 마련하겠습니다.</a:t>
            </a:r>
          </a:p>
          <a:p>
            <a:r>
              <a:rPr lang="ko-KR" altLang="ko-KR" dirty="0"/>
              <a:t>문서에는 담당 부서와 버전, 개정일 등의 정보를 함께 관리하겠습니다. 담당자가 원본을 </a:t>
            </a:r>
            <a:r>
              <a:rPr lang="ko-KR" altLang="ko-KR" dirty="0" err="1"/>
              <a:t>최신화하면</a:t>
            </a:r>
            <a:r>
              <a:rPr lang="ko-KR" altLang="ko-KR" dirty="0"/>
              <a:t> 변경 내용을 수집하고, 검색에 사용하는 벡터 데이터베이스에도 반영하는 구조입니다. 팀별 사례 역시 검토 후 등록해서 다른 팀에서도 활용할 수 있도록 하겠습니다.</a:t>
            </a:r>
          </a:p>
          <a:p>
            <a:r>
              <a:rPr lang="ko-KR" altLang="ko-KR" b="1" dirty="0"/>
              <a:t>여기서 최신화는 벡터 검색 자체가 해결하는 것이 아니라, 문서 갱신과 검색 데이터 갱신을 연결하는 관리 체계로 구현하겠습니다.</a:t>
            </a:r>
            <a:endParaRPr lang="ko-KR" altLang="ko-KR" dirty="0"/>
          </a:p>
          <a:p>
            <a:r>
              <a:rPr lang="ko-KR" altLang="ko-KR" dirty="0"/>
              <a:t>검색에는 문장의 의미를 찾는 벡터 검색과 정확한 시스템명이나 규정 번호를 찾는 키워드 검색을 함께 사용합니다. 이것이 </a:t>
            </a:r>
            <a:r>
              <a:rPr lang="ko-KR" altLang="ko-KR" dirty="0" err="1"/>
              <a:t>Hybrid</a:t>
            </a:r>
            <a:r>
              <a:rPr lang="ko-KR" altLang="ko-KR" dirty="0"/>
              <a:t> </a:t>
            </a:r>
            <a:r>
              <a:rPr lang="ko-KR" altLang="ko-KR" dirty="0" err="1"/>
              <a:t>RAG입니다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앞서 말씀드린 시스템 변경 업무를 예로 들면, 사용자가 “이 변경 작업의 사전 검토 체크리스트를 </a:t>
            </a:r>
            <a:r>
              <a:rPr lang="ko-KR" altLang="ko-KR" dirty="0" err="1"/>
              <a:t>만들어줘”라고</a:t>
            </a:r>
            <a:r>
              <a:rPr lang="ko-KR" altLang="ko-KR" dirty="0"/>
              <a:t> 요청할 수 있습니다.</a:t>
            </a:r>
          </a:p>
          <a:p>
            <a:r>
              <a:rPr lang="ko-KR" altLang="ko-KR" dirty="0"/>
              <a:t>그러면 </a:t>
            </a:r>
            <a:r>
              <a:rPr lang="ko-KR" altLang="ko-KR" dirty="0" err="1"/>
              <a:t>Agent가</a:t>
            </a:r>
            <a:r>
              <a:rPr lang="ko-KR" altLang="ko-KR" dirty="0"/>
              <a:t> 필요한 검토 항목을 정하고, 해당 시스템의 AA 문서와 최신 운영 매뉴얼, 유사한 과거 사례를 찾아 체크리스트 초안을 생성합니다. 각 항목에는 출처와 문서 버전을 함께 제시하고, 필수 항목이 빠졌는지도 검사합니다.</a:t>
            </a:r>
          </a:p>
          <a:p>
            <a:r>
              <a:rPr lang="ko-KR" altLang="ko-KR" dirty="0"/>
              <a:t>이렇게 하면 규정과 매뉴얼, 사례를 연결해서 활용하고, 담당자는 어떤 근거로 작성된 결과인지 확인할 수 있습니다. 접근 권한을 적용하고, 근거가 부족하면 추가 확인을 요청하며, 중요한 작업은 사용자 승인 후 실행하도록 설계하겠습니다.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성과는 검색 정확도와 결과물의 완성도, 시간 절감으로 평가하겠습니다.</a:t>
            </a:r>
          </a:p>
          <a:p>
            <a:r>
              <a:rPr lang="ko-KR" altLang="ko-KR" dirty="0"/>
              <a:t>대표 질문 30개를 만들고, 정답 근거가 검색 결과 상위 세 개 안에 포함되는 비율과 인용 정확도를 각각 85% 이상으로 목표하겠습니다.</a:t>
            </a:r>
          </a:p>
          <a:p>
            <a:r>
              <a:rPr lang="ko-KR" altLang="ko-KR" dirty="0"/>
              <a:t>결과물은 업무별 필수 항목을 90% 이상 충족하는지 확인하겠습니다. 또 같은 과제를 수작업과 기본 RAG 방식으로 수행한 결과와 비교해, 처리시간 40% 단축을 목표로 하겠습니다.</a:t>
            </a:r>
          </a:p>
          <a:p>
            <a:r>
              <a:rPr lang="ko-KR" altLang="ko-KR" dirty="0"/>
              <a:t>이를 통해 답변이 </a:t>
            </a:r>
            <a:r>
              <a:rPr lang="ko-KR" altLang="ko-KR" dirty="0" err="1"/>
              <a:t>그럴듯한지를</a:t>
            </a:r>
            <a:r>
              <a:rPr lang="ko-KR" altLang="ko-KR" dirty="0"/>
              <a:t> 넘어, 실제 근거가 맞고 업무에 필요한 내용을 갖췄는지 검증하겠습니다.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수행은 네 단계로 진행하겠습니다.</a:t>
            </a:r>
          </a:p>
          <a:p>
            <a:r>
              <a:rPr lang="en-US" altLang="ko-KR" dirty="0"/>
              <a:t>1</a:t>
            </a:r>
            <a:r>
              <a:rPr lang="ko-KR" altLang="ko-KR" dirty="0"/>
              <a:t>주차부터 </a:t>
            </a:r>
            <a:r>
              <a:rPr lang="en-US" altLang="ko-KR" dirty="0"/>
              <a:t>4</a:t>
            </a:r>
            <a:r>
              <a:rPr lang="ko-KR" altLang="ko-KR" dirty="0"/>
              <a:t>주차에는 대표 업무 하나를 선정하고, 문서를 수집해 </a:t>
            </a:r>
            <a:r>
              <a:rPr lang="ko-KR" altLang="ko-KR" dirty="0" err="1"/>
              <a:t>비식별</a:t>
            </a:r>
            <a:r>
              <a:rPr lang="ko-KR" altLang="ko-KR" dirty="0"/>
              <a:t> 처리한 뒤 평가 질문 30개를 준비하겠습니다.</a:t>
            </a:r>
          </a:p>
          <a:p>
            <a:r>
              <a:rPr lang="en-US" altLang="ko-KR" dirty="0"/>
              <a:t>5</a:t>
            </a:r>
            <a:r>
              <a:rPr lang="ko-KR" altLang="ko-KR" dirty="0"/>
              <a:t>주차부터 9주차에는 기본 </a:t>
            </a:r>
            <a:r>
              <a:rPr lang="ko-KR" altLang="ko-KR" dirty="0" err="1"/>
              <a:t>RAG를</a:t>
            </a:r>
            <a:r>
              <a:rPr lang="ko-KR" altLang="ko-KR" dirty="0"/>
              <a:t> 구축하고, </a:t>
            </a:r>
            <a:r>
              <a:rPr lang="ko-KR" altLang="ko-KR" dirty="0" err="1"/>
              <a:t>Hybrid</a:t>
            </a:r>
            <a:r>
              <a:rPr lang="ko-KR" altLang="ko-KR" dirty="0"/>
              <a:t> 검색과 재순위화를 적용해 근거 검색 성능을 개선하겠습니다.</a:t>
            </a:r>
          </a:p>
          <a:p>
            <a:r>
              <a:rPr lang="ko-KR" altLang="ko-KR" dirty="0"/>
              <a:t>10주차부터 14주차에는 </a:t>
            </a:r>
            <a:r>
              <a:rPr lang="ko-KR" altLang="ko-KR" dirty="0" err="1"/>
              <a:t>LangGraph로</a:t>
            </a:r>
            <a:r>
              <a:rPr lang="ko-KR" altLang="ko-KR" dirty="0"/>
              <a:t> 업무 흐름을 구성하고, 누락 검사와 사용자 승인 단계를 포함한 </a:t>
            </a:r>
            <a:r>
              <a:rPr lang="ko-KR" altLang="ko-KR" dirty="0" err="1"/>
              <a:t>Agent</a:t>
            </a:r>
            <a:r>
              <a:rPr lang="ko-KR" altLang="ko-KR" dirty="0"/>
              <a:t> </a:t>
            </a:r>
            <a:r>
              <a:rPr lang="ko-KR" altLang="ko-KR" dirty="0" err="1"/>
              <a:t>MVP와</a:t>
            </a:r>
            <a:r>
              <a:rPr lang="ko-KR" altLang="ko-KR" dirty="0"/>
              <a:t> 사용 화면을 구현하겠습니다.</a:t>
            </a:r>
          </a:p>
          <a:p>
            <a:r>
              <a:rPr lang="ko-KR" altLang="ko-KR" dirty="0"/>
              <a:t>마지막 14주차부터 15주차에는 배포와 사용자 평가를 진행하고, 웹 데모와 정량 평가 리포트, 운영 가이드를 완성하겠습니다.</a:t>
            </a:r>
          </a:p>
          <a:p>
            <a:r>
              <a:rPr lang="ko-KR" altLang="ko-KR" dirty="0"/>
              <a:t>제가 만들고 싶은 것은 </a:t>
            </a:r>
            <a:r>
              <a:rPr lang="ko-KR" altLang="ko-KR" b="1" dirty="0"/>
              <a:t>흩어진 사내 지식을 최신 기준으로 관리하고, 근거를 확인할 수 있는 업무 결과물로 연결하는 </a:t>
            </a:r>
            <a:r>
              <a:rPr lang="ko-KR" altLang="ko-KR" b="1" dirty="0" err="1"/>
              <a:t>AI</a:t>
            </a:r>
            <a:r>
              <a:rPr lang="ko-KR" altLang="ko-KR" dirty="0" err="1"/>
              <a:t>입니다</a:t>
            </a:r>
            <a:r>
              <a:rPr lang="ko-KR" altLang="ko-KR" dirty="0"/>
              <a:t>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BF5367-EAA0-4A30-AA48-AF2FA8FC1C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565D83-1DFF-4787-A890-25A111F7E92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2026 하반기 AI 프론티어 마스터 과정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3A427D-E666-41D8-B5F3-92D59B8B35A3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2390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근거 기반 업무 실행</a:t>
            </a:r>
          </a:p>
          <a:p>
            <a:pPr algn="l">
              <a:buNone/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Agent Copilot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B996C1-A87C-4A46-AFD1-72F895966D91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752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6B7280"/>
                </a:solidFill>
              </a:defRPr>
            </a:pPr>
            <a:r>
              <a:rPr sz="1725" b="0">
                <a:solidFill>
                  <a:srgbClr val="6B7280"/>
                </a:solidFill>
              </a:rPr>
              <a:t>사내 지식을 찾아 업무를 수행하고, 근거와 검증 결과를 함께 제시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5EB3AB7-CD27-4BC6-833C-945246F8E6A1}"/>
              </a:ext>
            </a:extLst>
          </p:cNvPr>
          <p:cNvSpPr>
            <a:spLocks noGrp="1"/>
          </p:cNvSpPr>
          <p:nvPr/>
        </p:nvSpPr>
        <p:spPr>
          <a:xfrm>
            <a:off x="8763000" y="1104900"/>
            <a:ext cx="2381250" cy="3905250"/>
          </a:xfrm>
          <a:prstGeom prst="roundRect">
            <a:avLst>
              <a:gd name="adj" fmla="val 48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D91135-5A62-42B2-921F-2D54AA19620D}"/>
              </a:ext>
            </a:extLst>
          </p:cNvPr>
          <p:cNvSpPr>
            <a:spLocks noGrp="1"/>
          </p:cNvSpPr>
          <p:nvPr/>
        </p:nvSpPr>
        <p:spPr>
          <a:xfrm>
            <a:off x="9124950" y="1485900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업무 입력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08EEC5-1689-4E3A-A2A2-C76D291578BF}"/>
              </a:ext>
            </a:extLst>
          </p:cNvPr>
          <p:cNvSpPr>
            <a:spLocks noGrp="1"/>
          </p:cNvSpPr>
          <p:nvPr/>
        </p:nvSpPr>
        <p:spPr>
          <a:xfrm>
            <a:off x="9124950" y="1952625"/>
            <a:ext cx="1818352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111827"/>
                </a:solidFill>
              </a:defRPr>
            </a:pPr>
            <a:r>
              <a:rPr sz="1875" b="1" dirty="0" err="1">
                <a:solidFill>
                  <a:srgbClr val="111827"/>
                </a:solidFill>
              </a:rPr>
              <a:t>업무</a:t>
            </a:r>
            <a:r>
              <a:rPr sz="1875" b="1" dirty="0">
                <a:solidFill>
                  <a:srgbClr val="111827"/>
                </a:solidFill>
              </a:rPr>
              <a:t> </a:t>
            </a:r>
            <a:r>
              <a:rPr sz="1875" b="1" dirty="0" err="1">
                <a:solidFill>
                  <a:srgbClr val="111827"/>
                </a:solidFill>
              </a:rPr>
              <a:t>질문</a:t>
            </a:r>
            <a:endParaRPr sz="1875" b="1" dirty="0">
              <a:solidFill>
                <a:srgbClr val="111827"/>
              </a:solidFill>
            </a:endParaRPr>
          </a:p>
          <a:p>
            <a:pPr algn="ctr">
              <a:buNone/>
              <a:defRPr sz="1875" b="1">
                <a:solidFill>
                  <a:srgbClr val="111827"/>
                </a:solidFill>
              </a:defRPr>
            </a:pPr>
            <a:r>
              <a:rPr sz="1875" b="1" dirty="0" err="1">
                <a:solidFill>
                  <a:srgbClr val="111827"/>
                </a:solidFill>
              </a:rPr>
              <a:t>초안·점검</a:t>
            </a:r>
            <a:r>
              <a:rPr sz="1875" b="1" dirty="0">
                <a:solidFill>
                  <a:srgbClr val="111827"/>
                </a:solidFill>
              </a:rPr>
              <a:t> </a:t>
            </a:r>
            <a:r>
              <a:rPr sz="1875" b="1" dirty="0" err="1">
                <a:solidFill>
                  <a:srgbClr val="111827"/>
                </a:solidFill>
              </a:rPr>
              <a:t>대상</a:t>
            </a:r>
            <a:endParaRPr sz="1875" b="1" dirty="0">
              <a:solidFill>
                <a:srgbClr val="111827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BA7818-018F-4063-87A7-127A70C0B788}"/>
              </a:ext>
            </a:extLst>
          </p:cNvPr>
          <p:cNvSpPr>
            <a:spLocks noGrp="1"/>
          </p:cNvSpPr>
          <p:nvPr/>
        </p:nvSpPr>
        <p:spPr>
          <a:xfrm>
            <a:off x="9258300" y="3009900"/>
            <a:ext cx="1409700" cy="28575"/>
          </a:xfrm>
          <a:prstGeom prst="rect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3BEB72-911B-4D59-85B2-49C9469C753C}"/>
              </a:ext>
            </a:extLst>
          </p:cNvPr>
          <p:cNvSpPr>
            <a:spLocks noGrp="1"/>
          </p:cNvSpPr>
          <p:nvPr/>
        </p:nvSpPr>
        <p:spPr>
          <a:xfrm>
            <a:off x="9124950" y="3238500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Agent 실행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00B614-6388-4133-A9B9-7D120A5141A2}"/>
              </a:ext>
            </a:extLst>
          </p:cNvPr>
          <p:cNvSpPr>
            <a:spLocks noGrp="1"/>
          </p:cNvSpPr>
          <p:nvPr/>
        </p:nvSpPr>
        <p:spPr>
          <a:xfrm>
            <a:off x="9124949" y="3676650"/>
            <a:ext cx="1818353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111827"/>
                </a:solidFill>
              </a:defRPr>
            </a:pPr>
            <a:r>
              <a:rPr sz="1725" b="1" dirty="0" err="1">
                <a:solidFill>
                  <a:srgbClr val="111827"/>
                </a:solidFill>
              </a:rPr>
              <a:t>근거</a:t>
            </a:r>
            <a:r>
              <a:rPr sz="1725" b="1" dirty="0">
                <a:solidFill>
                  <a:srgbClr val="111827"/>
                </a:solidFill>
              </a:rPr>
              <a:t> </a:t>
            </a:r>
            <a:r>
              <a:rPr sz="1725" b="1" dirty="0" err="1">
                <a:solidFill>
                  <a:srgbClr val="111827"/>
                </a:solidFill>
              </a:rPr>
              <a:t>답변</a:t>
            </a:r>
            <a:endParaRPr sz="1725" b="1" dirty="0">
              <a:solidFill>
                <a:srgbClr val="111827"/>
              </a:solidFill>
            </a:endParaRPr>
          </a:p>
          <a:p>
            <a:pPr algn="ctr">
              <a:buNone/>
              <a:defRPr sz="1725" b="1">
                <a:solidFill>
                  <a:srgbClr val="111827"/>
                </a:solidFill>
              </a:defRPr>
            </a:pPr>
            <a:r>
              <a:rPr sz="1725" b="1" dirty="0" err="1">
                <a:solidFill>
                  <a:srgbClr val="111827"/>
                </a:solidFill>
              </a:rPr>
              <a:t>보고서</a:t>
            </a:r>
            <a:r>
              <a:rPr sz="1725" b="1" dirty="0">
                <a:solidFill>
                  <a:srgbClr val="111827"/>
                </a:solidFill>
              </a:rPr>
              <a:t> </a:t>
            </a:r>
            <a:r>
              <a:rPr sz="1725" b="1" dirty="0" err="1">
                <a:solidFill>
                  <a:srgbClr val="111827"/>
                </a:solidFill>
              </a:rPr>
              <a:t>초안</a:t>
            </a:r>
            <a:endParaRPr sz="1725" b="1" dirty="0">
              <a:solidFill>
                <a:srgbClr val="111827"/>
              </a:solidFill>
            </a:endParaRPr>
          </a:p>
          <a:p>
            <a:pPr algn="ctr">
              <a:buNone/>
              <a:defRPr sz="1725" b="1">
                <a:solidFill>
                  <a:srgbClr val="111827"/>
                </a:solidFill>
              </a:defRPr>
            </a:pPr>
            <a:r>
              <a:rPr sz="1725" b="1" dirty="0" err="1">
                <a:solidFill>
                  <a:srgbClr val="111827"/>
                </a:solidFill>
              </a:rPr>
              <a:t>검토</a:t>
            </a:r>
            <a:r>
              <a:rPr sz="1725" b="1" dirty="0">
                <a:solidFill>
                  <a:srgbClr val="111827"/>
                </a:solidFill>
              </a:rPr>
              <a:t> </a:t>
            </a:r>
            <a:r>
              <a:rPr sz="1725" b="1" dirty="0" err="1">
                <a:solidFill>
                  <a:srgbClr val="111827"/>
                </a:solidFill>
              </a:rPr>
              <a:t>체크리스트</a:t>
            </a:r>
            <a:endParaRPr sz="1725" b="1" dirty="0">
              <a:solidFill>
                <a:srgbClr val="111827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5AA212-28FE-4A8C-A545-CDC363053236}"/>
              </a:ext>
            </a:extLst>
          </p:cNvPr>
          <p:cNvSpPr>
            <a:spLocks noGrp="1"/>
          </p:cNvSpPr>
          <p:nvPr/>
        </p:nvSpPr>
        <p:spPr>
          <a:xfrm>
            <a:off x="723900" y="5981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6B7280"/>
                </a:solidFill>
              </a:defRPr>
            </a:pPr>
            <a:r>
              <a:rPr lang="ko-KR" altLang="en-US" sz="1125" b="0" dirty="0">
                <a:solidFill>
                  <a:srgbClr val="6B7280"/>
                </a:solidFill>
              </a:rPr>
              <a:t>우리은행 </a:t>
            </a:r>
            <a:r>
              <a:rPr lang="en-US" sz="1125" b="0" dirty="0">
                <a:solidFill>
                  <a:srgbClr val="6B7280"/>
                </a:solidFill>
              </a:rPr>
              <a:t>IT</a:t>
            </a:r>
            <a:r>
              <a:rPr lang="ko-KR" altLang="en-US" sz="1125" dirty="0">
                <a:solidFill>
                  <a:srgbClr val="6B7280"/>
                </a:solidFill>
              </a:rPr>
              <a:t>기술혁신부 박종빈 계장 </a:t>
            </a:r>
            <a:r>
              <a:rPr lang="en-US" altLang="ko-KR" sz="1125" dirty="0">
                <a:solidFill>
                  <a:srgbClr val="6B7280"/>
                </a:solidFill>
              </a:rPr>
              <a:t>(7</a:t>
            </a:r>
            <a:r>
              <a:rPr lang="ko-KR" altLang="en-US" sz="1125" dirty="0">
                <a:solidFill>
                  <a:srgbClr val="6B7280"/>
                </a:solidFill>
              </a:rPr>
              <a:t>번교육생</a:t>
            </a:r>
            <a:r>
              <a:rPr lang="en-US" altLang="ko-KR" sz="1125" dirty="0">
                <a:solidFill>
                  <a:srgbClr val="6B7280"/>
                </a:solidFill>
              </a:rPr>
              <a:t>)</a:t>
            </a:r>
            <a:endParaRPr sz="1125" b="0" dirty="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937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36F091E-0DBB-44AC-81AF-CAC072BE167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문제 정의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24139D-2996-47FE-9DC5-EA3F906BB9F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업무의 병목은 ‘문서 탐색’과 ‘반복 작성’이다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71B7E8-0F3C-4F15-BCAB-A4FFC2EF2E79}"/>
              </a:ext>
            </a:extLst>
          </p:cNvPr>
          <p:cNvSpPr>
            <a:spLocks noGrp="1"/>
          </p:cNvSpPr>
          <p:nvPr/>
        </p:nvSpPr>
        <p:spPr>
          <a:xfrm>
            <a:off x="10763250" y="5143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02 / 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A526C7-FDBE-415B-9D59-A48BA7EFC01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E78DFB-85DE-4273-8254-D6881DB05363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현재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007C21-E210-4FA2-9BD9-2B74D9AA85A7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업무 요청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E07DEA-3315-4328-8E02-0DA9B6229F19}"/>
              </a:ext>
            </a:extLst>
          </p:cNvPr>
          <p:cNvSpPr>
            <a:spLocks noGrp="1"/>
          </p:cNvSpPr>
          <p:nvPr/>
        </p:nvSpPr>
        <p:spPr>
          <a:xfrm>
            <a:off x="2762250" y="209550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412C32-95D2-4B76-99AB-A26318623699}"/>
              </a:ext>
            </a:extLst>
          </p:cNvPr>
          <p:cNvSpPr>
            <a:spLocks noGrp="1"/>
          </p:cNvSpPr>
          <p:nvPr/>
        </p:nvSpPr>
        <p:spPr>
          <a:xfrm>
            <a:off x="3295650" y="2095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수작업 문서 탐색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D6F492-BCCC-4610-ACC6-505EF7EFED83}"/>
              </a:ext>
            </a:extLst>
          </p:cNvPr>
          <p:cNvSpPr>
            <a:spLocks noGrp="1"/>
          </p:cNvSpPr>
          <p:nvPr/>
        </p:nvSpPr>
        <p:spPr>
          <a:xfrm>
            <a:off x="5924550" y="209550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11592-4417-4FCA-9F85-D0A0DFDC9DBF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초안 작성·검토 반복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2B0169-8DE3-4FEA-B9B6-3CD0854C9DEF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89154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17A7A79-6A33-4E3E-83B2-EDD78C2B19E3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핵심 문제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C67A2F-03D4-4110-B9EB-8792090FD13E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규정·매뉴얼·사례는 흩어져 있고, 최신 기준 확인이 어렵다.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02F472-4D26-42FF-B9DD-4764DE2BF6E5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876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6B7280"/>
                </a:solidFill>
              </a:defRPr>
            </a:pPr>
            <a:r>
              <a:rPr sz="1575" b="0">
                <a:solidFill>
                  <a:srgbClr val="6B7280"/>
                </a:solidFill>
              </a:rPr>
              <a:t>그 결과 담당자별 품질 편차와 근거 누락, 반복 작성 비용이 커진다.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A14EB1C-E97C-429F-9344-ECA3F4B4C5DB}"/>
              </a:ext>
            </a:extLst>
          </p:cNvPr>
          <p:cNvSpPr>
            <a:spLocks noGrp="1"/>
          </p:cNvSpPr>
          <p:nvPr/>
        </p:nvSpPr>
        <p:spPr>
          <a:xfrm>
            <a:off x="9696450" y="1790700"/>
            <a:ext cx="1809750" cy="300990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539C12B-2DB2-48FB-B13F-4F2F725B6320}"/>
              </a:ext>
            </a:extLst>
          </p:cNvPr>
          <p:cNvSpPr>
            <a:spLocks noGrp="1"/>
          </p:cNvSpPr>
          <p:nvPr/>
        </p:nvSpPr>
        <p:spPr>
          <a:xfrm>
            <a:off x="9944100" y="20764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Agent 역할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576E73-EC54-4195-8095-56304D29EDC8}"/>
              </a:ext>
            </a:extLst>
          </p:cNvPr>
          <p:cNvSpPr>
            <a:spLocks noGrp="1"/>
          </p:cNvSpPr>
          <p:nvPr/>
        </p:nvSpPr>
        <p:spPr>
          <a:xfrm>
            <a:off x="9944100" y="25717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1</a:t>
            </a:r>
          </a:p>
          <a:p>
            <a:pPr algn="ctr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요청 분해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1D9D92-310C-42D0-AF4C-085116581061}"/>
              </a:ext>
            </a:extLst>
          </p:cNvPr>
          <p:cNvSpPr>
            <a:spLocks noGrp="1"/>
          </p:cNvSpPr>
          <p:nvPr/>
        </p:nvSpPr>
        <p:spPr>
          <a:xfrm>
            <a:off x="9944100" y="335280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2</a:t>
            </a:r>
          </a:p>
          <a:p>
            <a:pPr algn="ctr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근거 검색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D435D61-55CC-43DE-A690-C14088DB45FE}"/>
              </a:ext>
            </a:extLst>
          </p:cNvPr>
          <p:cNvSpPr>
            <a:spLocks noGrp="1"/>
          </p:cNvSpPr>
          <p:nvPr/>
        </p:nvSpPr>
        <p:spPr>
          <a:xfrm>
            <a:off x="9944100" y="41338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3</a:t>
            </a:r>
          </a:p>
          <a:p>
            <a:pPr algn="ctr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결과물 생성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A5ADD9-821B-40BE-AF76-26C5590CBC2A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1677FF"/>
                </a:solidFill>
              </a:defRPr>
            </a:pPr>
            <a:r>
              <a:rPr sz="1950" b="1">
                <a:solidFill>
                  <a:srgbClr val="1677FF"/>
                </a:solidFill>
              </a:rPr>
              <a:t>사람은 근거를 확인하고 최종 승인에 집중</a:t>
            </a:r>
          </a:p>
        </p:txBody>
      </p:sp>
    </p:spTree>
    <p:extLst>
      <p:ext uri="{BB962C8B-B14F-4D97-AF65-F5344CB8AC3E}">
        <p14:creationId xmlns:p14="http://schemas.microsoft.com/office/powerpoint/2010/main" val="202742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9097B0-7061-4F41-BE5D-457421C555A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해결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7BC68C-C0A2-4CF2-8BD8-11AB82F1EAE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Hybrid RAG와 Agent를 결합해 ‘검색-실행-검증’을 한 번에 제공한다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07AA90-6CE5-416D-BB3E-F45A253E531E}"/>
              </a:ext>
            </a:extLst>
          </p:cNvPr>
          <p:cNvSpPr>
            <a:spLocks noGrp="1"/>
          </p:cNvSpPr>
          <p:nvPr/>
        </p:nvSpPr>
        <p:spPr>
          <a:xfrm>
            <a:off x="10763250" y="5143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03 / 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309FA7-764D-4F12-BD4F-9252DEA9142A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296E21-7B76-419C-A14E-DAAFB9457E1E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2162175" cy="167640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CBBC8E-DFC8-4BE3-B050-236CD5678489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1819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① 요청 입력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0989B1-8463-472E-B068-4F8ADE110AB6}"/>
              </a:ext>
            </a:extLst>
          </p:cNvPr>
          <p:cNvSpPr>
            <a:spLocks noGrp="1"/>
          </p:cNvSpPr>
          <p:nvPr/>
        </p:nvSpPr>
        <p:spPr>
          <a:xfrm>
            <a:off x="857250" y="2514600"/>
            <a:ext cx="18192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업무 질문·대상 문서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텍스트 또는 파일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72BF89-5E1A-4C2F-BF53-1C40B8900CC1}"/>
              </a:ext>
            </a:extLst>
          </p:cNvPr>
          <p:cNvSpPr>
            <a:spLocks noGrp="1"/>
          </p:cNvSpPr>
          <p:nvPr/>
        </p:nvSpPr>
        <p:spPr>
          <a:xfrm>
            <a:off x="2857500" y="24288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6C15A8-3E67-4B60-9E92-BB505CCBD9A5}"/>
              </a:ext>
            </a:extLst>
          </p:cNvPr>
          <p:cNvSpPr>
            <a:spLocks noGrp="1"/>
          </p:cNvSpPr>
          <p:nvPr/>
        </p:nvSpPr>
        <p:spPr>
          <a:xfrm>
            <a:off x="3190875" y="1866900"/>
            <a:ext cx="2162175" cy="167640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A8AB75-9252-448D-ABAF-2B610CAB0E17}"/>
              </a:ext>
            </a:extLst>
          </p:cNvPr>
          <p:cNvSpPr>
            <a:spLocks noGrp="1"/>
          </p:cNvSpPr>
          <p:nvPr/>
        </p:nvSpPr>
        <p:spPr>
          <a:xfrm>
            <a:off x="3362325" y="2038350"/>
            <a:ext cx="1819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② 계획 수립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71E1D6-C610-4636-8ED2-E6F2DAAEF712}"/>
              </a:ext>
            </a:extLst>
          </p:cNvPr>
          <p:cNvSpPr>
            <a:spLocks noGrp="1"/>
          </p:cNvSpPr>
          <p:nvPr/>
        </p:nvSpPr>
        <p:spPr>
          <a:xfrm>
            <a:off x="3362325" y="2514600"/>
            <a:ext cx="18192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업무 유형 분류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필수 항목 정의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9F887A-153C-4D37-89D5-D79D05238565}"/>
              </a:ext>
            </a:extLst>
          </p:cNvPr>
          <p:cNvSpPr>
            <a:spLocks noGrp="1"/>
          </p:cNvSpPr>
          <p:nvPr/>
        </p:nvSpPr>
        <p:spPr>
          <a:xfrm>
            <a:off x="5362575" y="24288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655C4D-0CF8-4D96-BA3E-EA6DB8850893}"/>
              </a:ext>
            </a:extLst>
          </p:cNvPr>
          <p:cNvSpPr>
            <a:spLocks noGrp="1"/>
          </p:cNvSpPr>
          <p:nvPr/>
        </p:nvSpPr>
        <p:spPr>
          <a:xfrm>
            <a:off x="5695950" y="1866900"/>
            <a:ext cx="2162175" cy="167640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6F79B1-480A-488E-8D00-2033D35322F7}"/>
              </a:ext>
            </a:extLst>
          </p:cNvPr>
          <p:cNvSpPr>
            <a:spLocks noGrp="1"/>
          </p:cNvSpPr>
          <p:nvPr/>
        </p:nvSpPr>
        <p:spPr>
          <a:xfrm>
            <a:off x="5867400" y="2038350"/>
            <a:ext cx="1819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③ 근거·도구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1E579F-24E6-465E-BE4D-49084079BBE6}"/>
              </a:ext>
            </a:extLst>
          </p:cNvPr>
          <p:cNvSpPr>
            <a:spLocks noGrp="1"/>
          </p:cNvSpPr>
          <p:nvPr/>
        </p:nvSpPr>
        <p:spPr>
          <a:xfrm>
            <a:off x="5867400" y="2514600"/>
            <a:ext cx="18192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Hybrid RAG 검색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업무 도구 호출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BBF504-B1BC-454F-9B0D-40E8EF80F30A}"/>
              </a:ext>
            </a:extLst>
          </p:cNvPr>
          <p:cNvSpPr>
            <a:spLocks noGrp="1"/>
          </p:cNvSpPr>
          <p:nvPr/>
        </p:nvSpPr>
        <p:spPr>
          <a:xfrm>
            <a:off x="7867650" y="24288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6B67DC-9F21-46D1-9EBC-0B7369A15F8B}"/>
              </a:ext>
            </a:extLst>
          </p:cNvPr>
          <p:cNvSpPr>
            <a:spLocks noGrp="1"/>
          </p:cNvSpPr>
          <p:nvPr/>
        </p:nvSpPr>
        <p:spPr>
          <a:xfrm>
            <a:off x="8201025" y="1866900"/>
            <a:ext cx="2162175" cy="167640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E2D0BB0-BC22-4252-959A-22C68A58DDB8}"/>
              </a:ext>
            </a:extLst>
          </p:cNvPr>
          <p:cNvSpPr>
            <a:spLocks noGrp="1"/>
          </p:cNvSpPr>
          <p:nvPr/>
        </p:nvSpPr>
        <p:spPr>
          <a:xfrm>
            <a:off x="8372475" y="2038350"/>
            <a:ext cx="1819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④ 검증·산출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C57AF6-E345-457F-A5C2-54CF934CF26F}"/>
              </a:ext>
            </a:extLst>
          </p:cNvPr>
          <p:cNvSpPr>
            <a:spLocks noGrp="1"/>
          </p:cNvSpPr>
          <p:nvPr/>
        </p:nvSpPr>
        <p:spPr>
          <a:xfrm>
            <a:off x="8372475" y="2514600"/>
            <a:ext cx="18192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인용·누락 검사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결과물·사용자 승인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24C62D-DD9D-40E8-9EEA-DB4B7A8EA5EF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활용 데이터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D1939B-C886-43BD-ACC9-7A0BD64D7D7B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3095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내부 규정·업무 매뉴얼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517FB77-1FCB-4582-A1F6-62479045C015}"/>
              </a:ext>
            </a:extLst>
          </p:cNvPr>
          <p:cNvSpPr>
            <a:spLocks noGrp="1"/>
          </p:cNvSpPr>
          <p:nvPr/>
        </p:nvSpPr>
        <p:spPr>
          <a:xfrm>
            <a:off x="4095750" y="443865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과거 보고서·업무 사례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7372394-E253-4267-A075-E180E7924865}"/>
              </a:ext>
            </a:extLst>
          </p:cNvPr>
          <p:cNvSpPr>
            <a:spLocks noGrp="1"/>
          </p:cNvSpPr>
          <p:nvPr/>
        </p:nvSpPr>
        <p:spPr>
          <a:xfrm>
            <a:off x="7239000" y="443865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템플릿·공공 데이터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8D31E3-4DF5-4715-A2AA-2C28513A27B4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876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권한 기반 접근 · 민감정보 제거 · 초기에는 가상/비식별 사례로 검증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4BF239-B9F5-43BC-B54B-6E8C9931452E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4381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55EBC4F-B124-49CF-B86A-13929CD54329}"/>
              </a:ext>
            </a:extLst>
          </p:cNvPr>
          <p:cNvSpPr>
            <a:spLocks noGrp="1"/>
          </p:cNvSpPr>
          <p:nvPr/>
        </p:nvSpPr>
        <p:spPr>
          <a:xfrm>
            <a:off x="876300" y="5676900"/>
            <a:ext cx="1043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설계 원칙  |  근거가 약하면 답변을 중단하고, 중요 작업은 사용자 승인 후 실행</a:t>
            </a:r>
          </a:p>
        </p:txBody>
      </p:sp>
    </p:spTree>
    <p:extLst>
      <p:ext uri="{BB962C8B-B14F-4D97-AF65-F5344CB8AC3E}">
        <p14:creationId xmlns:p14="http://schemas.microsoft.com/office/powerpoint/2010/main" val="87366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48F39C-F457-4A60-B30F-ED21C2515BA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평가 지표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4D7D97-74E7-4B9B-9A25-2C4B4B6E648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성공 기준은 근거 정확도·업무 완료율·시간 절감이다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9D5507-2F3C-419A-8749-14BD15672333}"/>
              </a:ext>
            </a:extLst>
          </p:cNvPr>
          <p:cNvSpPr>
            <a:spLocks noGrp="1"/>
          </p:cNvSpPr>
          <p:nvPr/>
        </p:nvSpPr>
        <p:spPr>
          <a:xfrm>
            <a:off x="10763250" y="5143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04 / 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C25F64-447D-456B-8F50-5987EA05873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DD0FFB-3902-4352-A266-70363E42DFE6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평가 대상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9B87DC-A8BD-4CCD-BBB6-CEB8E0B24E8F}"/>
              </a:ext>
            </a:extLst>
          </p:cNvPr>
          <p:cNvSpPr>
            <a:spLocks noGrp="1"/>
          </p:cNvSpPr>
          <p:nvPr/>
        </p:nvSpPr>
        <p:spPr>
          <a:xfrm>
            <a:off x="3162300" y="16764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핵심 지표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632BD0-4462-4664-8883-CFE0774F0AD6}"/>
              </a:ext>
            </a:extLst>
          </p:cNvPr>
          <p:cNvSpPr>
            <a:spLocks noGrp="1"/>
          </p:cNvSpPr>
          <p:nvPr/>
        </p:nvSpPr>
        <p:spPr>
          <a:xfrm>
            <a:off x="6019800" y="16764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검증 방법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2F9D69-1062-4400-81BE-2B72F99AA0D3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08204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B1A688-91F4-401F-A700-E6EADA8BAC49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근거 검색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0DB132-A7D2-4013-9392-F3A16BB7CD97}"/>
              </a:ext>
            </a:extLst>
          </p:cNvPr>
          <p:cNvSpPr>
            <a:spLocks noGrp="1"/>
          </p:cNvSpPr>
          <p:nvPr/>
        </p:nvSpPr>
        <p:spPr>
          <a:xfrm>
            <a:off x="3162300" y="21336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Recall@3 ≥ 0.85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29E4DE-5D00-4269-9DD8-7AE89C4A8BA7}"/>
              </a:ext>
            </a:extLst>
          </p:cNvPr>
          <p:cNvSpPr>
            <a:spLocks noGrp="1"/>
          </p:cNvSpPr>
          <p:nvPr/>
        </p:nvSpPr>
        <p:spPr>
          <a:xfrm>
            <a:off x="6019800" y="213360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정답 근거가 상위 3개 결과에 포함되는지 측정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9E863C-F73E-4845-9AEA-178FEAA427A7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108204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2ACDCF-1582-4E63-A349-ACD0522D6BBC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근거 충실도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A402BC-B254-4CD8-A1F4-F2F0C8CD99FE}"/>
              </a:ext>
            </a:extLst>
          </p:cNvPr>
          <p:cNvSpPr>
            <a:spLocks noGrp="1"/>
          </p:cNvSpPr>
          <p:nvPr/>
        </p:nvSpPr>
        <p:spPr>
          <a:xfrm>
            <a:off x="3162300" y="29146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인용 정확도 ≥ 0.85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06F0DA-2381-443E-878C-B39ADA4DC6F8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인용 문장이 라벨링한 정답 근거와 일치하는지 평가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A213B7-CFD1-47F9-8658-160FD304DE3E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08204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BEFBF1-CA9E-471E-95DF-7616B2984B80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업무 완료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5CC714-1C81-4E6A-9954-D20AB8B38EA7}"/>
              </a:ext>
            </a:extLst>
          </p:cNvPr>
          <p:cNvSpPr>
            <a:spLocks noGrp="1"/>
          </p:cNvSpPr>
          <p:nvPr/>
        </p:nvSpPr>
        <p:spPr>
          <a:xfrm>
            <a:off x="3162300" y="36957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필수항목 충족률 ≥ 0.90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BB2EBF1-9AF5-4C60-9B3C-5A84915B3822}"/>
              </a:ext>
            </a:extLst>
          </p:cNvPr>
          <p:cNvSpPr>
            <a:spLocks noGrp="1"/>
          </p:cNvSpPr>
          <p:nvPr/>
        </p:nvSpPr>
        <p:spPr>
          <a:xfrm>
            <a:off x="6019800" y="369570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30개 대표 질문의 필수 산출 항목 누락 여부 검사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968823C-5E18-40B3-87E3-4DD460DB3504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734625-6C80-44E2-A9F4-B5EC5AB2AACB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업무 효율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F1A12F-6DF5-464D-BCB4-F6A52808B3FC}"/>
              </a:ext>
            </a:extLst>
          </p:cNvPr>
          <p:cNvSpPr>
            <a:spLocks noGrp="1"/>
          </p:cNvSpPr>
          <p:nvPr/>
        </p:nvSpPr>
        <p:spPr>
          <a:xfrm>
            <a:off x="3162300" y="44767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처리시간 감소율 ≥ 0.40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433398C-F3D4-47C5-9C8D-5201A0A39D0C}"/>
              </a:ext>
            </a:extLst>
          </p:cNvPr>
          <p:cNvSpPr>
            <a:spLocks noGrp="1"/>
          </p:cNvSpPr>
          <p:nvPr/>
        </p:nvSpPr>
        <p:spPr>
          <a:xfrm>
            <a:off x="6019800" y="447675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수작업 및 Baseline RAG 대비 동일 과제 처리시간 비교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D33C012-AEC8-45D0-991E-45328F6FB7EF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108204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1303660-7B84-4664-8FF5-2A0E735902B7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820400" cy="59055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0CD553-89A6-4D5D-888F-1A98B2062D20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1043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MVP 목표  |  근거 정확도 ≥ 85% · 업무 완료율 ≥ 90% · 처리시간 40% 단축</a:t>
            </a:r>
          </a:p>
        </p:txBody>
      </p:sp>
    </p:spTree>
    <p:extLst>
      <p:ext uri="{BB962C8B-B14F-4D97-AF65-F5344CB8AC3E}">
        <p14:creationId xmlns:p14="http://schemas.microsoft.com/office/powerpoint/2010/main" val="32195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3E50795E-BA23-4EBD-9D50-A0452697D52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수행 계획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2F6C56-6B43-4A67-9C82-5AB2080F2BC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11827"/>
                </a:solidFill>
              </a:defRPr>
            </a:pPr>
            <a:r>
              <a:rPr lang="en-US" sz="2700" b="1" dirty="0">
                <a:solidFill>
                  <a:srgbClr val="111827"/>
                </a:solidFill>
              </a:rPr>
              <a:t>10</a:t>
            </a:r>
            <a:r>
              <a:rPr sz="2700" b="1" dirty="0">
                <a:solidFill>
                  <a:srgbClr val="111827"/>
                </a:solidFill>
              </a:rPr>
              <a:t>-1</a:t>
            </a:r>
            <a:r>
              <a:rPr lang="en-US" sz="2700" b="1" dirty="0">
                <a:solidFill>
                  <a:srgbClr val="111827"/>
                </a:solidFill>
              </a:rPr>
              <a:t>4</a:t>
            </a:r>
            <a:r>
              <a:rPr sz="2700" b="1" dirty="0">
                <a:solidFill>
                  <a:srgbClr val="111827"/>
                </a:solidFill>
              </a:rPr>
              <a:t>주차에 ‘</a:t>
            </a:r>
            <a:r>
              <a:rPr sz="2700" b="1" dirty="0" err="1">
                <a:solidFill>
                  <a:srgbClr val="111827"/>
                </a:solidFill>
              </a:rPr>
              <a:t>근거가</a:t>
            </a:r>
            <a:r>
              <a:rPr sz="2700" b="1" dirty="0">
                <a:solidFill>
                  <a:srgbClr val="111827"/>
                </a:solidFill>
              </a:rPr>
              <a:t> </a:t>
            </a:r>
            <a:r>
              <a:rPr sz="2700" b="1" dirty="0" err="1">
                <a:solidFill>
                  <a:srgbClr val="111827"/>
                </a:solidFill>
              </a:rPr>
              <a:t>보이는</a:t>
            </a:r>
            <a:r>
              <a:rPr sz="2700" b="1" dirty="0">
                <a:solidFill>
                  <a:srgbClr val="111827"/>
                </a:solidFill>
              </a:rPr>
              <a:t> </a:t>
            </a:r>
            <a:r>
              <a:rPr sz="2700" b="1" dirty="0" err="1">
                <a:solidFill>
                  <a:srgbClr val="111827"/>
                </a:solidFill>
              </a:rPr>
              <a:t>업무</a:t>
            </a:r>
            <a:r>
              <a:rPr sz="2700" b="1" dirty="0">
                <a:solidFill>
                  <a:srgbClr val="111827"/>
                </a:solidFill>
              </a:rPr>
              <a:t> </a:t>
            </a:r>
            <a:r>
              <a:rPr sz="2700" b="1" dirty="0" err="1">
                <a:solidFill>
                  <a:srgbClr val="111827"/>
                </a:solidFill>
              </a:rPr>
              <a:t>Agent’를</a:t>
            </a:r>
            <a:r>
              <a:rPr sz="2700" b="1" dirty="0">
                <a:solidFill>
                  <a:srgbClr val="111827"/>
                </a:solidFill>
              </a:rPr>
              <a:t> </a:t>
            </a:r>
            <a:r>
              <a:rPr sz="2700" b="1" dirty="0" err="1">
                <a:solidFill>
                  <a:srgbClr val="111827"/>
                </a:solidFill>
              </a:rPr>
              <a:t>완성한다</a:t>
            </a:r>
            <a:endParaRPr sz="2700" b="1" dirty="0">
              <a:solidFill>
                <a:srgbClr val="111827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295A4C-2C0C-455E-9BF3-FB3262D31269}"/>
              </a:ext>
            </a:extLst>
          </p:cNvPr>
          <p:cNvSpPr>
            <a:spLocks noGrp="1"/>
          </p:cNvSpPr>
          <p:nvPr/>
        </p:nvSpPr>
        <p:spPr>
          <a:xfrm>
            <a:off x="10763250" y="5143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05 / 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57D270-D1F1-470C-ABDF-425CD367633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F8EB4E-58F4-4275-BCD4-48BB43A768D6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381250" cy="300990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1E93BB-5FED-4924-A172-4289A4F1E79A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FF"/>
                </a:solidFill>
              </a:defRPr>
            </a:pPr>
            <a:r>
              <a:rPr lang="en-US" sz="1875" b="1" dirty="0">
                <a:solidFill>
                  <a:srgbClr val="1677FF"/>
                </a:solidFill>
              </a:rPr>
              <a:t>1</a:t>
            </a:r>
            <a:r>
              <a:rPr sz="1875" b="1" dirty="0">
                <a:solidFill>
                  <a:srgbClr val="1677FF"/>
                </a:solidFill>
              </a:rPr>
              <a:t>-</a:t>
            </a:r>
            <a:r>
              <a:rPr lang="en-US" sz="1875" b="1" dirty="0">
                <a:solidFill>
                  <a:srgbClr val="1677FF"/>
                </a:solidFill>
              </a:rPr>
              <a:t>4</a:t>
            </a:r>
            <a:r>
              <a:rPr sz="1875" b="1" dirty="0">
                <a:solidFill>
                  <a:srgbClr val="1677FF"/>
                </a:solidFill>
              </a:rPr>
              <a:t>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091463-B54E-4D81-A411-7A484F60BB54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업무·데이터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43B538-082F-4669-B16D-1616D17A6A71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20383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대표 업무 1개 선정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문서 수집·가명화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30개 평가셋 정의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F5E86D-1AD7-4489-A713-658BCBAC0A3B}"/>
              </a:ext>
            </a:extLst>
          </p:cNvPr>
          <p:cNvSpPr>
            <a:spLocks noGrp="1"/>
          </p:cNvSpPr>
          <p:nvPr/>
        </p:nvSpPr>
        <p:spPr>
          <a:xfrm>
            <a:off x="3067050" y="289560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B169D7-3A7D-4A32-B917-260AD7795CAF}"/>
              </a:ext>
            </a:extLst>
          </p:cNvPr>
          <p:cNvSpPr>
            <a:spLocks noGrp="1"/>
          </p:cNvSpPr>
          <p:nvPr/>
        </p:nvSpPr>
        <p:spPr>
          <a:xfrm>
            <a:off x="3390900" y="1790700"/>
            <a:ext cx="2381250" cy="300990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5DFED4-CE32-4664-8017-579D0D6DD8AA}"/>
              </a:ext>
            </a:extLst>
          </p:cNvPr>
          <p:cNvSpPr>
            <a:spLocks noGrp="1"/>
          </p:cNvSpPr>
          <p:nvPr/>
        </p:nvSpPr>
        <p:spPr>
          <a:xfrm>
            <a:off x="3562350" y="20002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FF"/>
                </a:solidFill>
              </a:defRPr>
            </a:pPr>
            <a:r>
              <a:rPr lang="en-US" sz="1875" b="1" dirty="0">
                <a:solidFill>
                  <a:srgbClr val="1677FF"/>
                </a:solidFill>
              </a:rPr>
              <a:t>5</a:t>
            </a:r>
            <a:r>
              <a:rPr sz="1875" b="1" dirty="0">
                <a:solidFill>
                  <a:srgbClr val="1677FF"/>
                </a:solidFill>
              </a:rPr>
              <a:t>-</a:t>
            </a:r>
            <a:r>
              <a:rPr lang="en-US" sz="1875" b="1" dirty="0">
                <a:solidFill>
                  <a:srgbClr val="1677FF"/>
                </a:solidFill>
              </a:rPr>
              <a:t>9</a:t>
            </a:r>
            <a:r>
              <a:rPr sz="1875" b="1" dirty="0">
                <a:solidFill>
                  <a:srgbClr val="1677FF"/>
                </a:solidFill>
              </a:rPr>
              <a:t>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F1F8E4-4FEC-4684-9F01-22035B76836C}"/>
              </a:ext>
            </a:extLst>
          </p:cNvPr>
          <p:cNvSpPr>
            <a:spLocks noGrp="1"/>
          </p:cNvSpPr>
          <p:nvPr/>
        </p:nvSpPr>
        <p:spPr>
          <a:xfrm>
            <a:off x="3562350" y="247650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검색 기반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39F5BD-DA1C-426E-90D7-EB40B768281B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20383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Baseline RAG 구축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Hybrid 검색·재순위화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근거 인용 평가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E115EE-4E8D-4577-B5DD-9D8C30C97603}"/>
              </a:ext>
            </a:extLst>
          </p:cNvPr>
          <p:cNvSpPr>
            <a:spLocks noGrp="1"/>
          </p:cNvSpPr>
          <p:nvPr/>
        </p:nvSpPr>
        <p:spPr>
          <a:xfrm>
            <a:off x="5772150" y="289560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C8816E2-4553-4EBC-B69C-87B83248FDBB}"/>
              </a:ext>
            </a:extLst>
          </p:cNvPr>
          <p:cNvSpPr>
            <a:spLocks noGrp="1"/>
          </p:cNvSpPr>
          <p:nvPr/>
        </p:nvSpPr>
        <p:spPr>
          <a:xfrm>
            <a:off x="6096000" y="1790700"/>
            <a:ext cx="2381250" cy="300990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46F454-4BD6-4CC0-A71C-49D565136981}"/>
              </a:ext>
            </a:extLst>
          </p:cNvPr>
          <p:cNvSpPr>
            <a:spLocks noGrp="1"/>
          </p:cNvSpPr>
          <p:nvPr/>
        </p:nvSpPr>
        <p:spPr>
          <a:xfrm>
            <a:off x="6267450" y="20002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FF"/>
                </a:solidFill>
              </a:defRPr>
            </a:pPr>
            <a:r>
              <a:rPr sz="1875" b="1" dirty="0">
                <a:solidFill>
                  <a:srgbClr val="1677FF"/>
                </a:solidFill>
              </a:rPr>
              <a:t>1</a:t>
            </a:r>
            <a:r>
              <a:rPr lang="en-US" sz="1875" b="1" dirty="0">
                <a:solidFill>
                  <a:srgbClr val="1677FF"/>
                </a:solidFill>
              </a:rPr>
              <a:t>0</a:t>
            </a:r>
            <a:r>
              <a:rPr sz="1875" b="1" dirty="0">
                <a:solidFill>
                  <a:srgbClr val="1677FF"/>
                </a:solidFill>
              </a:rPr>
              <a:t>-1</a:t>
            </a:r>
            <a:r>
              <a:rPr lang="en-US" sz="1875" b="1" dirty="0">
                <a:solidFill>
                  <a:srgbClr val="1677FF"/>
                </a:solidFill>
              </a:rPr>
              <a:t>4</a:t>
            </a:r>
            <a:r>
              <a:rPr sz="1875" b="1" dirty="0">
                <a:solidFill>
                  <a:srgbClr val="1677FF"/>
                </a:solidFill>
              </a:rPr>
              <a:t>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BE2029-9FF4-423A-B209-43DB1C3E51CA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Agent MVP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1CA742-39F5-43FC-8717-DFFE526FA292}"/>
              </a:ext>
            </a:extLst>
          </p:cNvPr>
          <p:cNvSpPr>
            <a:spLocks noGrp="1"/>
          </p:cNvSpPr>
          <p:nvPr/>
        </p:nvSpPr>
        <p:spPr>
          <a:xfrm>
            <a:off x="6267450" y="3105150"/>
            <a:ext cx="20383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LangGraph 업무 흐름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누락 검사·승인 단계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Streamlit 화면 구현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16C7B5C-694C-4CC9-81F3-10A9162BF878}"/>
              </a:ext>
            </a:extLst>
          </p:cNvPr>
          <p:cNvSpPr>
            <a:spLocks noGrp="1"/>
          </p:cNvSpPr>
          <p:nvPr/>
        </p:nvSpPr>
        <p:spPr>
          <a:xfrm>
            <a:off x="8477250" y="289560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D293DE-583E-45AD-8DCD-556C25D3A764}"/>
              </a:ext>
            </a:extLst>
          </p:cNvPr>
          <p:cNvSpPr>
            <a:spLocks noGrp="1"/>
          </p:cNvSpPr>
          <p:nvPr/>
        </p:nvSpPr>
        <p:spPr>
          <a:xfrm>
            <a:off x="8801100" y="1790700"/>
            <a:ext cx="2381250" cy="300990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D6ED7C-A4F2-4283-ADDC-2897D17FFB9C}"/>
              </a:ext>
            </a:extLst>
          </p:cNvPr>
          <p:cNvSpPr>
            <a:spLocks noGrp="1"/>
          </p:cNvSpPr>
          <p:nvPr/>
        </p:nvSpPr>
        <p:spPr>
          <a:xfrm>
            <a:off x="8972550" y="20002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FF"/>
                </a:solidFill>
              </a:defRPr>
            </a:pPr>
            <a:r>
              <a:rPr sz="1875" b="1" dirty="0">
                <a:solidFill>
                  <a:srgbClr val="1677FF"/>
                </a:solidFill>
              </a:rPr>
              <a:t>1</a:t>
            </a:r>
            <a:r>
              <a:rPr lang="en-US" sz="1875" b="1" dirty="0">
                <a:solidFill>
                  <a:srgbClr val="1677FF"/>
                </a:solidFill>
              </a:rPr>
              <a:t>4</a:t>
            </a:r>
            <a:r>
              <a:rPr sz="1875" b="1" dirty="0">
                <a:solidFill>
                  <a:srgbClr val="1677FF"/>
                </a:solidFill>
              </a:rPr>
              <a:t>-1</a:t>
            </a:r>
            <a:r>
              <a:rPr lang="en-US" sz="1875" b="1" dirty="0">
                <a:solidFill>
                  <a:srgbClr val="1677FF"/>
                </a:solidFill>
              </a:rPr>
              <a:t>5</a:t>
            </a:r>
            <a:r>
              <a:rPr sz="1875" b="1" dirty="0">
                <a:solidFill>
                  <a:srgbClr val="1677FF"/>
                </a:solidFill>
              </a:rPr>
              <a:t>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A976B17-58AB-43E3-8882-B30C3A0D5828}"/>
              </a:ext>
            </a:extLst>
          </p:cNvPr>
          <p:cNvSpPr>
            <a:spLocks noGrp="1"/>
          </p:cNvSpPr>
          <p:nvPr/>
        </p:nvSpPr>
        <p:spPr>
          <a:xfrm>
            <a:off x="8972550" y="247650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배포·검증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9E773B9-332D-4685-BAE0-FB8F3DA8C0E0}"/>
              </a:ext>
            </a:extLst>
          </p:cNvPr>
          <p:cNvSpPr>
            <a:spLocks noGrp="1"/>
          </p:cNvSpPr>
          <p:nvPr/>
        </p:nvSpPr>
        <p:spPr>
          <a:xfrm>
            <a:off x="8972550" y="3105150"/>
            <a:ext cx="20383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Podman Compose 배포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정량·사용자 평가</a:t>
            </a:r>
          </a:p>
          <a:p>
            <a:pPr algn="l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최종 데모·결과 보고서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F11EA82-8100-4915-9C3B-03D20E7926FD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최종 산출물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C287A3-0426-4172-BFAF-6FB3DB7C300A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① 업무 Agent 웹 데모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F83E9BF-6F69-4019-8E7A-3BE8E11B240D}"/>
              </a:ext>
            </a:extLst>
          </p:cNvPr>
          <p:cNvSpPr>
            <a:spLocks noGrp="1"/>
          </p:cNvSpPr>
          <p:nvPr/>
        </p:nvSpPr>
        <p:spPr>
          <a:xfrm>
            <a:off x="3524250" y="5619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② 정량 평가 리포트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B2052DD-60BE-4BC1-82F2-D6B2514002B0}"/>
              </a:ext>
            </a:extLst>
          </p:cNvPr>
          <p:cNvSpPr>
            <a:spLocks noGrp="1"/>
          </p:cNvSpPr>
          <p:nvPr/>
        </p:nvSpPr>
        <p:spPr>
          <a:xfrm>
            <a:off x="6191250" y="56197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③ Podman 운영 가이드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3575B7F-B73C-4E97-8EB6-810BC54A09EF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검색에 그치지 않고, 근거 있는 업무 완료를 돕는 AI</a:t>
            </a:r>
          </a:p>
        </p:txBody>
      </p:sp>
    </p:spTree>
    <p:extLst>
      <p:ext uri="{BB962C8B-B14F-4D97-AF65-F5344CB8AC3E}">
        <p14:creationId xmlns:p14="http://schemas.microsoft.com/office/powerpoint/2010/main" val="20411701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1095</Words>
  <Application>Microsoft Office PowerPoint</Application>
  <DocSecurity>0</DocSecurity>
  <PresentationFormat>와이드스크린</PresentationFormat>
  <Paragraphs>133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종빈 박</cp:lastModifiedBy>
  <cp:revision>2</cp:revision>
  <dcterms:created xsi:type="dcterms:W3CDTF">2026-09-04T00:40:02Z</dcterms:created>
  <dcterms:modified xsi:type="dcterms:W3CDTF">2026-09-07T11:39:03Z</dcterms:modified>
</cp:coreProperties>
</file>