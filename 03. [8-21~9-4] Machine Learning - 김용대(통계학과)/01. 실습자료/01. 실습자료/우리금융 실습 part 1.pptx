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80" r:id="rId4"/>
    <p:sldId id="291" r:id="rId5"/>
    <p:sldId id="265" r:id="rId6"/>
    <p:sldId id="295" r:id="rId7"/>
    <p:sldId id="296" r:id="rId8"/>
    <p:sldId id="301" r:id="rId9"/>
    <p:sldId id="298" r:id="rId10"/>
    <p:sldId id="302" r:id="rId11"/>
    <p:sldId id="299" r:id="rId12"/>
    <p:sldId id="300" r:id="rId13"/>
    <p:sldId id="303" r:id="rId14"/>
    <p:sldId id="292" r:id="rId15"/>
    <p:sldId id="304" r:id="rId16"/>
    <p:sldId id="306" r:id="rId17"/>
    <p:sldId id="307" r:id="rId18"/>
    <p:sldId id="308" r:id="rId19"/>
    <p:sldId id="310" r:id="rId20"/>
    <p:sldId id="432" r:id="rId21"/>
    <p:sldId id="433" r:id="rId22"/>
    <p:sldId id="309" r:id="rId23"/>
    <p:sldId id="311" r:id="rId24"/>
    <p:sldId id="315" r:id="rId25"/>
    <p:sldId id="312" r:id="rId26"/>
    <p:sldId id="316" r:id="rId27"/>
    <p:sldId id="314" r:id="rId28"/>
    <p:sldId id="317" r:id="rId29"/>
    <p:sldId id="318" r:id="rId30"/>
    <p:sldId id="323" r:id="rId31"/>
    <p:sldId id="320" r:id="rId32"/>
    <p:sldId id="321" r:id="rId33"/>
    <p:sldId id="324" r:id="rId34"/>
    <p:sldId id="322" r:id="rId35"/>
    <p:sldId id="325" r:id="rId36"/>
    <p:sldId id="332" r:id="rId37"/>
    <p:sldId id="326" r:id="rId38"/>
    <p:sldId id="327" r:id="rId39"/>
    <p:sldId id="328" r:id="rId40"/>
    <p:sldId id="329" r:id="rId41"/>
    <p:sldId id="330" r:id="rId42"/>
    <p:sldId id="331" r:id="rId43"/>
    <p:sldId id="333" r:id="rId44"/>
    <p:sldId id="334" r:id="rId45"/>
    <p:sldId id="335" r:id="rId46"/>
    <p:sldId id="336" r:id="rId47"/>
    <p:sldId id="337" r:id="rId48"/>
    <p:sldId id="297" r:id="rId49"/>
    <p:sldId id="338" r:id="rId50"/>
    <p:sldId id="313" r:id="rId51"/>
    <p:sldId id="339" r:id="rId52"/>
    <p:sldId id="340" r:id="rId53"/>
    <p:sldId id="341" r:id="rId54"/>
    <p:sldId id="342" r:id="rId55"/>
    <p:sldId id="343" r:id="rId56"/>
    <p:sldId id="344" r:id="rId57"/>
    <p:sldId id="345" r:id="rId58"/>
    <p:sldId id="346" r:id="rId59"/>
    <p:sldId id="347" r:id="rId60"/>
    <p:sldId id="348" r:id="rId61"/>
    <p:sldId id="349" r:id="rId62"/>
    <p:sldId id="350" r:id="rId63"/>
    <p:sldId id="351" r:id="rId64"/>
    <p:sldId id="352" r:id="rId65"/>
    <p:sldId id="353" r:id="rId66"/>
    <p:sldId id="354" r:id="rId67"/>
    <p:sldId id="355" r:id="rId68"/>
  </p:sldIdLst>
  <p:sldSz cx="12192000" cy="6858000"/>
  <p:notesSz cx="6858000" cy="9144000"/>
  <p:embeddedFontLst>
    <p:embeddedFont>
      <p:font typeface="Cambria Math" panose="02040503050406030204" pitchFamily="18" charset="0"/>
      <p:regular r:id="rId69"/>
    </p:embeddedFont>
    <p:embeddedFont>
      <p:font typeface="나눔스퀘어OTF" panose="020B0600000101010101" pitchFamily="34" charset="-127"/>
      <p:regular r:id="rId70"/>
    </p:embeddedFont>
    <p:embeddedFont>
      <p:font typeface="나눔스퀘어OTF ExtraBold" panose="020B0600000101010101" pitchFamily="34" charset="-127"/>
      <p:bold r:id="rId7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8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162" y="3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font" Target="fonts/font1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2.fntdata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841820-B93E-4BD1-9A45-FB2586DF7A7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  <a:r>
              <a:rPr lang="en-US" altLang="ko-KR" dirty="0"/>
              <a:t>s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300FF20-CD9F-4AFF-8F90-DC92AA5F58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361B00-D5BE-4F58-B130-9EADD1FA6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32099-8D81-41B5-ACC9-A719EB423CB0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FB9C45-B895-4712-9458-01843B0A2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BC6F7E-8F79-4D55-BBEE-505394ECE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3DC15-878E-4BBE-990A-8D7636F25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8925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5EFAE5-B006-425B-8778-FAC71E95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FADBAF-CFCC-405F-8532-2B55C9BB5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5EBF6C-638B-484A-99E1-F85ABB379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32099-8D81-41B5-ACC9-A719EB423CB0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39FC65-0257-4F6F-916E-F284EE2E4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AEDEFA-2EE8-4DCF-A464-14C6552B6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3DC15-878E-4BBE-990A-8D7636F25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7384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BB2DCB-7969-43AA-8BB2-7C5DDDE36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8C9B35-6CF4-41CB-8877-483E6C933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B45DAB-F08E-46B0-AA46-B08A890E1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32099-8D81-41B5-ACC9-A719EB423CB0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21FF68-A1EC-4859-8187-8EA6C5146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E02601-40B6-41F6-86BA-9F630BB5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3DC15-878E-4BBE-990A-8D7636F25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57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F5B84A-E9B7-4440-8424-7839BF776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06B6F1-DE2F-4DF0-8C40-32982EA43F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3C75F4-9251-49F4-8565-612A5462DB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F06E91-A87C-4A09-B8E4-F42B71373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32099-8D81-41B5-ACC9-A719EB423CB0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5C94C7-28F2-4716-8A43-83A3D8FFE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0A544E-E686-4FA7-9ED8-D7D6DF2A3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3DC15-878E-4BBE-990A-8D7636F25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246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B78D96-4828-495F-BE8E-74BFC2B04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6D5E08-3119-4E57-B7C7-D6B40929B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70CFAF-BE6B-4316-BFDB-2630299844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83650D3-4F0B-458A-BC88-3F0179E752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EC74E43-ECEE-48A5-B52C-AF8DFEEE6C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8D68631-25C3-422D-9356-A4EA2FB42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32099-8D81-41B5-ACC9-A719EB423CB0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13D1474-3A38-417C-93ED-88100D6B2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CFCAD0D-82D2-4F9F-85DA-6F0788825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3DC15-878E-4BBE-990A-8D7636F25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6039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837C51-DF11-4851-B6FF-13FDBA3E0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A59584B-C1F5-471B-BA97-7030EFA73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32099-8D81-41B5-ACC9-A719EB423CB0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10916A8-D4BB-4EE7-986D-FD3B091B0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C496833-1563-45D0-9F9D-A4E8B392F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3DC15-878E-4BBE-990A-8D7636F25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3563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0D7DF54-32F4-4D74-924F-1F7028430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32099-8D81-41B5-ACC9-A719EB423CB0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F5D32FA-5368-4E2D-9AE8-1F99D92BF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F9BC50-4558-4521-AF3B-32CCA50B9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3DC15-878E-4BBE-990A-8D7636F25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1831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616229-EE88-4AF3-AF80-128D1BC26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35487A-4A89-4221-BCB8-D95A3FA1D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A879F24-D5D2-48DD-9FF3-BFC4DF5C47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284DDE-C71E-4D6C-AA0E-0809FAE13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32099-8D81-41B5-ACC9-A719EB423CB0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627055-AD37-4E5A-B735-BAD8B4E74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187225-F055-4BBD-9F83-D3A2DD5B1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3DC15-878E-4BBE-990A-8D7636F25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4048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8604E1-0E9C-4282-A0F4-0E995EC8D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AFEE94F-570E-4C5A-82F8-148E4DEB9E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250FC1E-B25C-4590-B86F-42072749C1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040AF1-E7A2-4FCF-AD1E-8892DCFB6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32099-8D81-41B5-ACC9-A719EB423CB0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BB34AEA-E26C-4219-9C4A-D1AC1164B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B62DA4-C7D4-4813-A870-9596AC6C8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3DC15-878E-4BBE-990A-8D7636F25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0708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6EAA4C-6BAD-409E-814C-8E7356772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AFFABCD-3AD1-4139-B43E-EE0972DFB1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A4989F-456A-46B2-969E-686B17D19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32099-8D81-41B5-ACC9-A719EB423CB0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C008F5-1BA2-4FD7-837D-579B62D3B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77A758-4CC5-40E1-A593-BA0D99CCA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3DC15-878E-4BBE-990A-8D7636F25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4320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50273E5-CA10-45D1-AE1C-E40B8C46B0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F150514-1DDB-41D5-AE2D-B72484F896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FF823C-A86A-4557-B345-9CD385627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32099-8D81-41B5-ACC9-A719EB423CB0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E26626-56C9-4A65-A9BE-80A971D8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AF38CF-83F9-4FAC-AC4C-41DFC6688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3DC15-878E-4BBE-990A-8D7636F25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6587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FAF3EC9-674B-4DE7-9DB8-3E1FFAEA9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06981D-268B-4C5A-9733-0298D4184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B0A6F6-BB7A-4662-B32F-3533FFA57C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32099-8D81-41B5-ACC9-A719EB423CB0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AC5F66-6E80-4E25-A499-0BA5BCA2CD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4B61F3-D4DF-492F-8F54-415868737A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3DC15-878E-4BBE-990A-8D7636F25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1355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B1F882-F7A4-4AE6-90E1-1ED74DCCEF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우리금융 </a:t>
            </a:r>
            <a:r>
              <a:rPr lang="ko-KR" altLang="en-US"/>
              <a:t>실습 </a:t>
            </a:r>
            <a:r>
              <a:rPr lang="en-US" altLang="ko-KR"/>
              <a:t>1</a:t>
            </a:r>
            <a:r>
              <a:rPr lang="ko-KR" altLang="en-US"/>
              <a:t>주차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8EA9D65-841B-4C71-8F89-F121B4ABF8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단순선형회귀</a:t>
            </a:r>
            <a:r>
              <a:rPr lang="en-US" altLang="ko-KR" dirty="0"/>
              <a:t>, </a:t>
            </a:r>
            <a:r>
              <a:rPr lang="ko-KR" altLang="en-US" dirty="0"/>
              <a:t>변수선택</a:t>
            </a:r>
            <a:r>
              <a:rPr lang="en-US" altLang="ko-KR" dirty="0"/>
              <a:t>, </a:t>
            </a:r>
            <a:r>
              <a:rPr lang="ko-KR" altLang="en-US" dirty="0"/>
              <a:t>로지스틱 회귀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박세현</a:t>
            </a:r>
            <a:r>
              <a:rPr lang="en-US" altLang="ko-KR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김초은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1814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1061BB-F176-4316-BB3D-71356B201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8" y="1825625"/>
            <a:ext cx="10278762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ko-KR" altLang="en-US" dirty="0"/>
              <a:t> 분포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l"/>
            </a:pPr>
            <a:r>
              <a:rPr lang="ko-KR" altLang="en-US" dirty="0"/>
              <a:t> 제어구문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l"/>
            </a:pPr>
            <a:r>
              <a:rPr lang="ko-KR" altLang="en-US" dirty="0"/>
              <a:t> 사용자 정의 함수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l"/>
            </a:pPr>
            <a:r>
              <a:rPr lang="ko-KR" altLang="en-US" dirty="0"/>
              <a:t> 선형회귀모형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l"/>
            </a:pPr>
            <a:r>
              <a:rPr lang="ko-KR" altLang="en-US" dirty="0"/>
              <a:t> 선형회귀 모형의 변수선택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l"/>
            </a:pPr>
            <a:r>
              <a:rPr lang="ko-KR" altLang="en-US" dirty="0"/>
              <a:t> 실습</a:t>
            </a:r>
            <a:r>
              <a:rPr lang="en-US" altLang="ko-KR" dirty="0"/>
              <a:t>1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ko-KR" altLang="en-US" dirty="0"/>
              <a:t> 로지스틱 회귀모형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ko-KR" altLang="en-US" dirty="0"/>
              <a:t>실습</a:t>
            </a:r>
            <a:r>
              <a:rPr lang="en-US" altLang="ko-KR" dirty="0"/>
              <a:t>2</a:t>
            </a:r>
            <a:endParaRPr lang="ko-KR" altLang="en-US" dirty="0"/>
          </a:p>
          <a:p>
            <a:pPr>
              <a:buFont typeface="Wingdings" panose="05000000000000000000" pitchFamily="2" charset="2"/>
              <a:buChar char="l"/>
            </a:pPr>
            <a:endParaRPr lang="ko-KR" altLang="en-US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7413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패키지 설치</a:t>
            </a:r>
            <a:endParaRPr lang="en-US" altLang="ko-KR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8" y="1825625"/>
            <a:ext cx="10278762" cy="446396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!pip</a:t>
            </a:r>
            <a:r>
              <a:rPr lang="ko-KR" altLang="en-US" dirty="0"/>
              <a:t> </a:t>
            </a:r>
            <a:r>
              <a:rPr lang="en-US" altLang="ko-KR" dirty="0"/>
              <a:t>install</a:t>
            </a:r>
            <a:r>
              <a:rPr lang="ko-KR" altLang="en-US" dirty="0"/>
              <a:t> </a:t>
            </a:r>
            <a:r>
              <a:rPr lang="en-US" altLang="ko-KR" dirty="0" err="1"/>
              <a:t>numpy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!pip</a:t>
            </a:r>
            <a:r>
              <a:rPr lang="ko-KR" altLang="en-US" dirty="0"/>
              <a:t> </a:t>
            </a:r>
            <a:r>
              <a:rPr lang="en-US" altLang="ko-KR" dirty="0"/>
              <a:t>install</a:t>
            </a:r>
            <a:r>
              <a:rPr lang="ko-KR" altLang="en-US" dirty="0"/>
              <a:t> </a:t>
            </a:r>
            <a:r>
              <a:rPr lang="en-US" altLang="ko-KR" dirty="0"/>
              <a:t>pandas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!pip</a:t>
            </a:r>
            <a:r>
              <a:rPr lang="ko-KR" altLang="en-US" dirty="0"/>
              <a:t> </a:t>
            </a:r>
            <a:r>
              <a:rPr lang="en-US" altLang="ko-KR" dirty="0"/>
              <a:t>install</a:t>
            </a:r>
            <a:r>
              <a:rPr lang="ko-KR" altLang="en-US" dirty="0"/>
              <a:t> </a:t>
            </a:r>
            <a:r>
              <a:rPr lang="en-US" altLang="ko-KR" dirty="0" err="1"/>
              <a:t>scikit</a:t>
            </a:r>
            <a:r>
              <a:rPr lang="en-US" altLang="ko-KR" dirty="0"/>
              <a:t>-learn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!pip</a:t>
            </a:r>
            <a:r>
              <a:rPr lang="ko-KR" altLang="en-US" dirty="0"/>
              <a:t> </a:t>
            </a:r>
            <a:r>
              <a:rPr lang="en-US" altLang="ko-KR" dirty="0"/>
              <a:t>install seaborn</a:t>
            </a:r>
          </a:p>
          <a:p>
            <a:pPr marL="0" indent="0">
              <a:buNone/>
            </a:pPr>
            <a:endParaRPr lang="en-US" altLang="ko-KR" dirty="0"/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!pip</a:t>
            </a:r>
            <a:r>
              <a:rPr lang="ko-KR" altLang="en-US" dirty="0"/>
              <a:t> </a:t>
            </a:r>
            <a:r>
              <a:rPr lang="en-US" altLang="ko-KR" dirty="0"/>
              <a:t>install </a:t>
            </a:r>
            <a:r>
              <a:rPr lang="en-US" altLang="ko-KR" dirty="0" err="1"/>
              <a:t>scipy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!pip</a:t>
            </a:r>
            <a:r>
              <a:rPr lang="ko-KR" altLang="en-US" dirty="0"/>
              <a:t> </a:t>
            </a:r>
            <a:r>
              <a:rPr lang="en-US" altLang="ko-KR" dirty="0"/>
              <a:t>install </a:t>
            </a:r>
            <a:r>
              <a:rPr lang="en-US" altLang="ko-KR" dirty="0" err="1"/>
              <a:t>statsmodels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!pip</a:t>
            </a:r>
            <a:r>
              <a:rPr lang="ko-KR" altLang="ko-KR" dirty="0"/>
              <a:t> </a:t>
            </a:r>
            <a:r>
              <a:rPr lang="en-US" altLang="ko-KR" dirty="0"/>
              <a:t>install matplotlib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2604889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패키지 설치</a:t>
            </a:r>
            <a:endParaRPr lang="en-US" altLang="ko-KR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8" y="1825625"/>
            <a:ext cx="10278762" cy="446396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import </a:t>
            </a:r>
            <a:r>
              <a:rPr lang="en-US" altLang="ko-KR" dirty="0" err="1"/>
              <a:t>numpy</a:t>
            </a:r>
            <a:r>
              <a:rPr lang="en-US" altLang="ko-KR" dirty="0"/>
              <a:t> as np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import pandas as pd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from </a:t>
            </a:r>
            <a:r>
              <a:rPr lang="en-US" altLang="ko-KR" dirty="0" err="1"/>
              <a:t>scipy.stats</a:t>
            </a:r>
            <a:r>
              <a:rPr lang="en-US" altLang="ko-KR" dirty="0"/>
              <a:t> import beta, </a:t>
            </a:r>
            <a:r>
              <a:rPr lang="en-US" altLang="ko-KR" dirty="0" err="1"/>
              <a:t>binom</a:t>
            </a:r>
            <a:r>
              <a:rPr lang="en-US" altLang="ko-KR" dirty="0"/>
              <a:t>, </a:t>
            </a:r>
            <a:r>
              <a:rPr lang="en-US" altLang="ko-KR" dirty="0" err="1"/>
              <a:t>cauchy</a:t>
            </a:r>
            <a:r>
              <a:rPr lang="en-US" altLang="ko-KR" dirty="0"/>
              <a:t>, chi2, </a:t>
            </a:r>
            <a:r>
              <a:rPr lang="en-US" altLang="ko-KR" dirty="0" err="1"/>
              <a:t>expon</a:t>
            </a:r>
            <a:r>
              <a:rPr lang="en-US" altLang="ko-KR" dirty="0"/>
              <a:t>, f, gamma, </a:t>
            </a:r>
            <a:r>
              <a:rPr lang="en-US" altLang="ko-KR" dirty="0" err="1"/>
              <a:t>geom</a:t>
            </a:r>
            <a:r>
              <a:rPr lang="en-US" altLang="ko-KR" dirty="0"/>
              <a:t>, </a:t>
            </a:r>
            <a:r>
              <a:rPr lang="en-US" altLang="ko-KR" dirty="0" err="1"/>
              <a:t>hypergeom</a:t>
            </a:r>
            <a:r>
              <a:rPr lang="en-US" altLang="ko-KR" dirty="0"/>
              <a:t>, </a:t>
            </a:r>
            <a:r>
              <a:rPr lang="en-US" altLang="ko-KR" dirty="0" err="1"/>
              <a:t>lognorm</a:t>
            </a:r>
            <a:r>
              <a:rPr lang="en-US" altLang="ko-KR" dirty="0"/>
              <a:t>, logistic, </a:t>
            </a:r>
            <a:r>
              <a:rPr lang="en-US" altLang="ko-KR" dirty="0" err="1"/>
              <a:t>nbinom</a:t>
            </a:r>
            <a:r>
              <a:rPr lang="en-US" altLang="ko-KR" dirty="0"/>
              <a:t>, norm, </a:t>
            </a:r>
            <a:r>
              <a:rPr lang="en-US" altLang="ko-KR" dirty="0" err="1"/>
              <a:t>poisson</a:t>
            </a:r>
            <a:r>
              <a:rPr lang="en-US" altLang="ko-KR" dirty="0"/>
              <a:t>, t, </a:t>
            </a:r>
            <a:r>
              <a:rPr lang="en-US" altLang="ko-KR" dirty="0" err="1"/>
              <a:t>weibull_min</a:t>
            </a:r>
            <a:r>
              <a:rPr lang="en-US" altLang="ko-KR" dirty="0"/>
              <a:t>, </a:t>
            </a:r>
            <a:r>
              <a:rPr lang="en-US" altLang="ko-KR" dirty="0" err="1"/>
              <a:t>wilcoxon</a:t>
            </a:r>
            <a:r>
              <a:rPr lang="en-US" altLang="ko-KR" dirty="0"/>
              <a:t>, </a:t>
            </a:r>
            <a:r>
              <a:rPr lang="en-US" altLang="ko-KR" dirty="0" err="1"/>
              <a:t>ttest_ind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import </a:t>
            </a:r>
            <a:r>
              <a:rPr lang="en-US" altLang="ko-KR" dirty="0" err="1"/>
              <a:t>matplotlib.pyplot</a:t>
            </a:r>
            <a:r>
              <a:rPr lang="en-US" altLang="ko-KR" dirty="0"/>
              <a:t> as </a:t>
            </a:r>
            <a:r>
              <a:rPr lang="en-US" altLang="ko-KR" dirty="0" err="1"/>
              <a:t>plt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import </a:t>
            </a:r>
            <a:r>
              <a:rPr lang="en-US" altLang="ko-KR" dirty="0" err="1"/>
              <a:t>scipy.stats</a:t>
            </a:r>
            <a:r>
              <a:rPr lang="en-US" altLang="ko-KR" dirty="0"/>
              <a:t> as stats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import </a:t>
            </a:r>
            <a:r>
              <a:rPr lang="en-US" altLang="ko-KR" dirty="0" err="1"/>
              <a:t>statsmodels.api</a:t>
            </a:r>
            <a:r>
              <a:rPr lang="en-US" altLang="ko-KR" dirty="0"/>
              <a:t> as </a:t>
            </a:r>
            <a:r>
              <a:rPr lang="en-US" altLang="ko-KR" dirty="0" err="1"/>
              <a:t>sm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import seaborn as </a:t>
            </a:r>
            <a:r>
              <a:rPr lang="en-US" altLang="ko-KR" dirty="0" err="1"/>
              <a:t>sns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628135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분포</a:t>
            </a:r>
            <a:endParaRPr lang="en-US" altLang="ko-KR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8" y="1825625"/>
            <a:ext cx="10278762" cy="34754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ko-KR" altLang="en-US" dirty="0"/>
              <a:t>자주 쓰이는 확률분포의 </a:t>
            </a:r>
            <a:r>
              <a:rPr lang="ko-KR" altLang="en-US" dirty="0" err="1"/>
              <a:t>확률값이나</a:t>
            </a:r>
            <a:r>
              <a:rPr lang="ko-KR" altLang="en-US" dirty="0"/>
              <a:t> 밀도함수를 구해주고</a:t>
            </a:r>
            <a:r>
              <a:rPr lang="en-US" altLang="ko-KR" dirty="0"/>
              <a:t>, </a:t>
            </a:r>
            <a:r>
              <a:rPr lang="ko-KR" altLang="en-US" dirty="0"/>
              <a:t>특정 분포를 따르는 난수를 생성한다</a:t>
            </a:r>
            <a:r>
              <a:rPr lang="en-US" altLang="ko-KR" dirty="0"/>
              <a:t>. 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ko-KR" altLang="en-US" dirty="0"/>
              <a:t>지원되는 분포의 종류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Beta, binomial, Cauchy, chi-square, exponential, F, gamma, geometric, hypergeometric, log-normal, logistic, negative, normal, Poisson, Student’s t, uniform, Weibull, Wilcoxon</a:t>
            </a:r>
            <a:endParaRPr lang="ko-KR" alt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4A434BD-B184-40DD-B13B-E469A3883DB3}"/>
              </a:ext>
            </a:extLst>
          </p:cNvPr>
          <p:cNvGrpSpPr/>
          <p:nvPr/>
        </p:nvGrpSpPr>
        <p:grpSpPr>
          <a:xfrm>
            <a:off x="2556046" y="4600960"/>
            <a:ext cx="7079907" cy="2121115"/>
            <a:chOff x="3448050" y="4650388"/>
            <a:chExt cx="5714228" cy="1676400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BED10B1F-26CF-45BD-9831-4B7DBEFC6B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48050" y="4650388"/>
              <a:ext cx="2647950" cy="1676400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CC5CE423-3899-4ACC-A09F-F56EA05ED7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14328" y="4740875"/>
              <a:ext cx="2647950" cy="1495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24919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분포</a:t>
            </a:r>
            <a:endParaRPr lang="en-US" altLang="ko-KR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8" y="1825625"/>
            <a:ext cx="10278762" cy="347542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dirty="0"/>
              <a:t>지원하는 분포의 </a:t>
            </a:r>
            <a:r>
              <a:rPr lang="en-US" altLang="ko-KR" dirty="0"/>
              <a:t>option</a:t>
            </a:r>
          </a:p>
          <a:p>
            <a:pPr marL="0" indent="0">
              <a:buNone/>
            </a:pPr>
            <a:endParaRPr lang="en-US" altLang="ko-KR" dirty="0"/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size: </a:t>
            </a:r>
            <a:r>
              <a:rPr lang="ko-KR" altLang="en-US" dirty="0"/>
              <a:t>생성할 난수의 개수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p: </a:t>
            </a:r>
            <a:r>
              <a:rPr lang="ko-KR" altLang="en-US" dirty="0"/>
              <a:t>성공 확률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df:</a:t>
            </a:r>
            <a:r>
              <a:rPr lang="ko-KR" altLang="en-US" dirty="0"/>
              <a:t> 자유도</a:t>
            </a:r>
            <a:r>
              <a:rPr lang="en-US" altLang="ko-KR" dirty="0"/>
              <a:t>(</a:t>
            </a:r>
            <a:r>
              <a:rPr lang="en-US" altLang="ko-KR" dirty="0" err="1"/>
              <a:t>dfn,dfd</a:t>
            </a:r>
            <a:r>
              <a:rPr lang="en-US" altLang="ko-KR" dirty="0"/>
              <a:t>: </a:t>
            </a:r>
            <a:r>
              <a:rPr lang="ko-KR" altLang="en-US" dirty="0"/>
              <a:t>분자</a:t>
            </a:r>
            <a:r>
              <a:rPr lang="en-US" altLang="ko-KR" dirty="0"/>
              <a:t>, </a:t>
            </a:r>
            <a:r>
              <a:rPr lang="ko-KR" altLang="en-US" dirty="0"/>
              <a:t>분모 자유도</a:t>
            </a:r>
            <a:r>
              <a:rPr lang="en-US" altLang="ko-KR" dirty="0"/>
              <a:t>)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mu:</a:t>
            </a:r>
            <a:r>
              <a:rPr lang="ko-KR" altLang="en-US" dirty="0"/>
              <a:t> 평균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scale: </a:t>
            </a:r>
            <a:r>
              <a:rPr lang="ko-KR" altLang="en-US" dirty="0"/>
              <a:t>분포마다 뜻이 다름</a:t>
            </a: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8F58AAD-EA12-47C6-A45B-062C97A34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0195" y="1027906"/>
            <a:ext cx="3728711" cy="441384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8D54E75-6BEA-4D30-B7BE-0CB320826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548" y="5535590"/>
            <a:ext cx="6116004" cy="908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88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분포</a:t>
            </a:r>
            <a:endParaRPr lang="en-US" altLang="ko-KR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8" y="1825625"/>
            <a:ext cx="10278762" cy="34754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ko-KR" altLang="en-US" dirty="0" err="1"/>
              <a:t>ㅇㅇ</a:t>
            </a:r>
            <a:endParaRPr lang="en-US" altLang="ko-KR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1936E8B-FDFE-4327-B5B4-8FA524F78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992" y="1593035"/>
            <a:ext cx="7093668" cy="269157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9ECFCA2-A62C-4634-80C2-8D85114471D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0469" b="1735"/>
          <a:stretch/>
        </p:blipFill>
        <p:spPr>
          <a:xfrm>
            <a:off x="4892833" y="4131294"/>
            <a:ext cx="6365654" cy="253721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0E1DADF-B945-46E5-A70C-4DE75FDF423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543" r="39662" b="54768"/>
          <a:stretch/>
        </p:blipFill>
        <p:spPr>
          <a:xfrm>
            <a:off x="933513" y="4346489"/>
            <a:ext cx="3840901" cy="2106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05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분포 </a:t>
            </a:r>
            <a:r>
              <a:rPr lang="en-US" altLang="ko-KR" dirty="0"/>
              <a:t>– </a:t>
            </a:r>
            <a:r>
              <a:rPr lang="ko-KR" altLang="en-US" dirty="0"/>
              <a:t>자료의 특성</a:t>
            </a:r>
            <a:endParaRPr lang="en-US" altLang="ko-KR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8" y="1825625"/>
            <a:ext cx="10278762" cy="34754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ko-KR" altLang="en-US" dirty="0"/>
              <a:t>자료분석을 하기 전에 우선 자료의 특성을 확인해야한다</a:t>
            </a:r>
            <a:r>
              <a:rPr lang="en-US" altLang="ko-KR" dirty="0"/>
              <a:t>.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ko-KR" altLang="en-US" dirty="0"/>
              <a:t>자료의 특성에 따라 적절한 분석방법을 선택할 수 있다</a:t>
            </a:r>
            <a:r>
              <a:rPr lang="en-US" altLang="ko-KR" dirty="0"/>
              <a:t>.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mean(), median() : </a:t>
            </a:r>
            <a:r>
              <a:rPr lang="ko-KR" altLang="en-US" dirty="0"/>
              <a:t>평균과 중앙값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FEBE48A-2D3C-4791-A19F-54BC6FBC8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096" y="3611080"/>
            <a:ext cx="2949808" cy="2781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621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분포 </a:t>
            </a:r>
            <a:r>
              <a:rPr lang="en-US" altLang="ko-KR" dirty="0"/>
              <a:t>– </a:t>
            </a:r>
            <a:r>
              <a:rPr lang="ko-KR" altLang="en-US" dirty="0"/>
              <a:t>자료의 특성</a:t>
            </a:r>
            <a:endParaRPr lang="en-US" altLang="ko-KR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8" y="1825625"/>
            <a:ext cx="10278762" cy="34754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var(), std(), </a:t>
            </a:r>
            <a:r>
              <a:rPr lang="en-US" altLang="ko-KR" dirty="0" err="1"/>
              <a:t>cov</a:t>
            </a:r>
            <a:r>
              <a:rPr lang="en-US" altLang="ko-KR" dirty="0"/>
              <a:t>(), </a:t>
            </a:r>
            <a:r>
              <a:rPr lang="en-US" altLang="ko-KR" dirty="0" err="1"/>
              <a:t>corrcoef</a:t>
            </a:r>
            <a:r>
              <a:rPr lang="en-US" altLang="ko-KR" dirty="0"/>
              <a:t>() : </a:t>
            </a:r>
            <a:r>
              <a:rPr lang="ko-KR" altLang="en-US" dirty="0"/>
              <a:t>분산</a:t>
            </a:r>
            <a:r>
              <a:rPr lang="en-US" altLang="ko-KR" dirty="0"/>
              <a:t>, </a:t>
            </a:r>
            <a:r>
              <a:rPr lang="ko-KR" altLang="en-US" dirty="0"/>
              <a:t>표준편차</a:t>
            </a:r>
            <a:r>
              <a:rPr lang="en-US" altLang="ko-KR" dirty="0"/>
              <a:t>, </a:t>
            </a:r>
            <a:r>
              <a:rPr lang="ko-KR" altLang="en-US" dirty="0"/>
              <a:t>공분산</a:t>
            </a:r>
            <a:r>
              <a:rPr lang="en-US" altLang="ko-KR" dirty="0"/>
              <a:t>, </a:t>
            </a:r>
            <a:r>
              <a:rPr lang="ko-KR" altLang="en-US" dirty="0"/>
              <a:t>상관계수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quantile() : </a:t>
            </a:r>
            <a:r>
              <a:rPr lang="ko-KR" altLang="en-US" dirty="0"/>
              <a:t>사분위수</a:t>
            </a:r>
          </a:p>
          <a:p>
            <a:pPr>
              <a:buFont typeface="Wingdings" panose="05000000000000000000" pitchFamily="2" charset="2"/>
              <a:buChar char="l"/>
            </a:pP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8DDC289-A9DD-4EA5-95F0-00CDF97E1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614" y="2815222"/>
            <a:ext cx="3308771" cy="3677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152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분포 </a:t>
            </a:r>
            <a:r>
              <a:rPr lang="en-US" altLang="ko-KR" dirty="0"/>
              <a:t>– </a:t>
            </a:r>
            <a:r>
              <a:rPr lang="ko-KR" altLang="en-US" dirty="0"/>
              <a:t>자료의 특성</a:t>
            </a:r>
            <a:endParaRPr lang="en-US" altLang="ko-KR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8" y="1825625"/>
            <a:ext cx="10278762" cy="34754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en-US" altLang="ko-KR" dirty="0" err="1"/>
              <a:t>df.describe</a:t>
            </a:r>
            <a:r>
              <a:rPr lang="en-US" altLang="ko-KR" dirty="0"/>
              <a:t>(): </a:t>
            </a:r>
            <a:r>
              <a:rPr lang="ko-KR" altLang="en-US" dirty="0"/>
              <a:t>사분위수와 평균</a:t>
            </a:r>
            <a:r>
              <a:rPr lang="en-US" altLang="ko-KR" dirty="0"/>
              <a:t>, </a:t>
            </a:r>
            <a:r>
              <a:rPr lang="ko-KR" altLang="en-US" dirty="0"/>
              <a:t>표준편차</a:t>
            </a:r>
            <a:r>
              <a:rPr lang="en-US" altLang="ko-KR" dirty="0"/>
              <a:t>, </a:t>
            </a:r>
            <a:r>
              <a:rPr lang="ko-KR" altLang="en-US" dirty="0"/>
              <a:t>최대값</a:t>
            </a:r>
            <a:r>
              <a:rPr lang="en-US" altLang="ko-KR" dirty="0"/>
              <a:t>, </a:t>
            </a:r>
            <a:r>
              <a:rPr lang="ko-KR" altLang="en-US" dirty="0"/>
              <a:t>최소값</a:t>
            </a:r>
            <a:r>
              <a:rPr lang="en-US" altLang="ko-KR" dirty="0"/>
              <a:t>, </a:t>
            </a:r>
            <a:r>
              <a:rPr lang="ko-KR" altLang="en-US" dirty="0"/>
              <a:t>개수</a:t>
            </a:r>
          </a:p>
          <a:p>
            <a:pPr>
              <a:buFont typeface="Wingdings" panose="05000000000000000000" pitchFamily="2" charset="2"/>
              <a:buChar char="l"/>
            </a:pP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44EA04A-C955-4299-A59B-4A2322A05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926" y="2551070"/>
            <a:ext cx="7524148" cy="403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475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분포 </a:t>
            </a:r>
            <a:r>
              <a:rPr lang="en-US" altLang="ko-KR" dirty="0"/>
              <a:t>– </a:t>
            </a:r>
            <a:r>
              <a:rPr lang="ko-KR" altLang="en-US" dirty="0"/>
              <a:t>그래프를 이용한 분석</a:t>
            </a:r>
            <a:endParaRPr lang="en-US" altLang="ko-KR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8" y="1825625"/>
            <a:ext cx="10278762" cy="34754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en-US" altLang="ko-KR" dirty="0" err="1"/>
              <a:t>plt.hist</a:t>
            </a:r>
            <a:r>
              <a:rPr lang="en-US" altLang="ko-KR" dirty="0"/>
              <a:t>():</a:t>
            </a:r>
            <a:r>
              <a:rPr lang="ko-KR" altLang="en-US" dirty="0"/>
              <a:t> 히스토그램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en-US" altLang="ko-KR" dirty="0" err="1"/>
              <a:t>plt.bar</a:t>
            </a:r>
            <a:r>
              <a:rPr lang="en-US" altLang="ko-KR" dirty="0"/>
              <a:t>(): </a:t>
            </a:r>
            <a:r>
              <a:rPr lang="ko-KR" altLang="en-US" dirty="0"/>
              <a:t>막대그래프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97C0BE9-5F03-424A-BE4B-A000E62F4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273" y="2926953"/>
            <a:ext cx="4808362" cy="393104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64A0ECA-8BB6-4C08-8C79-98E7B4FD5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427" y="2926953"/>
            <a:ext cx="4691577" cy="3936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989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분포 </a:t>
            </a:r>
            <a:r>
              <a:rPr lang="en-US" altLang="ko-KR" dirty="0"/>
              <a:t>– </a:t>
            </a:r>
            <a:r>
              <a:rPr lang="ko-KR" altLang="en-US" dirty="0"/>
              <a:t>그래프를 이용한 분석</a:t>
            </a:r>
            <a:endParaRPr lang="en-US" altLang="ko-KR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8" y="1825625"/>
            <a:ext cx="10278762" cy="34754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en-US" altLang="ko-KR" dirty="0" err="1"/>
              <a:t>plt.plot</a:t>
            </a:r>
            <a:r>
              <a:rPr lang="en-US" altLang="ko-KR" dirty="0"/>
              <a:t>(): </a:t>
            </a:r>
            <a:r>
              <a:rPr lang="ko-KR" altLang="en-US" dirty="0" err="1"/>
              <a:t>산점도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en-US" altLang="ko-KR" dirty="0" err="1"/>
              <a:t>stats.probplot</a:t>
            </a:r>
            <a:r>
              <a:rPr lang="en-US" altLang="ko-KR" dirty="0"/>
              <a:t>(): QQ</a:t>
            </a:r>
            <a:r>
              <a:rPr lang="ko-KR" altLang="en-US" dirty="0"/>
              <a:t> </a:t>
            </a:r>
            <a:r>
              <a:rPr lang="en-US" altLang="ko-KR" dirty="0"/>
              <a:t>plot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E9E0FA2-51D9-47CB-8CD8-3E7C62851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032" y="3017450"/>
            <a:ext cx="4580451" cy="384140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29EE9BC-75A5-4646-8D79-F1E5B8BDE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3518" y="3017450"/>
            <a:ext cx="4334877" cy="384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137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분포 </a:t>
            </a:r>
            <a:r>
              <a:rPr lang="en-US" altLang="ko-KR" dirty="0"/>
              <a:t>– </a:t>
            </a:r>
            <a:r>
              <a:rPr lang="ko-KR" altLang="en-US" dirty="0"/>
              <a:t>그래프를 이용한 분석</a:t>
            </a:r>
            <a:endParaRPr lang="en-US" altLang="ko-KR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8" y="1825625"/>
            <a:ext cx="10278762" cy="34754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en-US" altLang="ko-KR" dirty="0" err="1"/>
              <a:t>plt.boxplot</a:t>
            </a:r>
            <a:r>
              <a:rPr lang="en-US" altLang="ko-KR" dirty="0"/>
              <a:t>():</a:t>
            </a:r>
            <a:r>
              <a:rPr lang="ko-KR" altLang="en-US" dirty="0"/>
              <a:t> </a:t>
            </a:r>
            <a:r>
              <a:rPr lang="ko-KR" altLang="en-US" dirty="0" err="1"/>
              <a:t>상자도표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2900D42-9DA0-4610-ACCE-3B2034CC4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127" y="2323467"/>
            <a:ext cx="5515745" cy="453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182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제어구문</a:t>
            </a:r>
            <a:endParaRPr lang="en-US" altLang="ko-KR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8" y="1825625"/>
            <a:ext cx="10278762" cy="34754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if A: B 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ko-KR" dirty="0"/>
              <a:t>A</a:t>
            </a:r>
            <a:r>
              <a:rPr lang="ko-KR" altLang="en-US" dirty="0"/>
              <a:t>가 참이면 </a:t>
            </a:r>
            <a:r>
              <a:rPr lang="en-US" altLang="ko-KR" dirty="0"/>
              <a:t>B</a:t>
            </a:r>
            <a:r>
              <a:rPr lang="ko-KR" altLang="en-US" dirty="0"/>
              <a:t>를 실행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if A: B else: C 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ko-KR" dirty="0"/>
              <a:t>A</a:t>
            </a:r>
            <a:r>
              <a:rPr lang="ko-KR" altLang="en-US" dirty="0"/>
              <a:t>가 참이면 </a:t>
            </a:r>
            <a:r>
              <a:rPr lang="en-US" altLang="ko-KR" dirty="0"/>
              <a:t>B</a:t>
            </a:r>
            <a:r>
              <a:rPr lang="ko-KR" altLang="en-US" dirty="0"/>
              <a:t>를 실행 </a:t>
            </a:r>
            <a:r>
              <a:rPr lang="en-US" altLang="ko-KR" dirty="0"/>
              <a:t>A</a:t>
            </a:r>
            <a:r>
              <a:rPr lang="ko-KR" altLang="en-US" dirty="0"/>
              <a:t>가 거짓이면 </a:t>
            </a:r>
            <a:r>
              <a:rPr lang="en-US" altLang="ko-KR" dirty="0"/>
              <a:t>C</a:t>
            </a:r>
            <a:r>
              <a:rPr lang="ko-KR" altLang="en-US" dirty="0"/>
              <a:t>를 실행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x = 40 if A else 20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ko-KR" dirty="0"/>
              <a:t>A</a:t>
            </a:r>
            <a:r>
              <a:rPr lang="ko-KR" altLang="en-US" dirty="0"/>
              <a:t>가 참이면 </a:t>
            </a:r>
            <a:r>
              <a:rPr lang="en-US" altLang="ko-KR" dirty="0"/>
              <a:t>40</a:t>
            </a:r>
            <a:r>
              <a:rPr lang="ko-KR" altLang="en-US" dirty="0"/>
              <a:t>이고 </a:t>
            </a:r>
            <a:r>
              <a:rPr lang="en-US" altLang="ko-KR" dirty="0"/>
              <a:t>A</a:t>
            </a:r>
            <a:r>
              <a:rPr lang="ko-KR" altLang="en-US" dirty="0"/>
              <a:t>가 거짓이면 </a:t>
            </a:r>
            <a:r>
              <a:rPr lang="en-US" altLang="ko-KR" dirty="0"/>
              <a:t>20</a:t>
            </a:r>
            <a:r>
              <a:rPr lang="ko-KR" altLang="en-US" dirty="0"/>
              <a:t>이 할당</a:t>
            </a:r>
            <a:r>
              <a:rPr lang="en-US" altLang="ko-KR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DA82188-4262-4CF5-94E6-2F2FCE622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1730" y="522183"/>
            <a:ext cx="2855232" cy="608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7928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제어구문</a:t>
            </a:r>
            <a:r>
              <a:rPr lang="en-US" altLang="ko-KR" dirty="0"/>
              <a:t> - </a:t>
            </a:r>
            <a:r>
              <a:rPr lang="ko-KR" altLang="en-US" dirty="0"/>
              <a:t>반복실행</a:t>
            </a:r>
            <a:endParaRPr lang="en-US" altLang="ko-KR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8" y="1825625"/>
            <a:ext cx="10278762" cy="34754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for </a:t>
            </a:r>
            <a:r>
              <a:rPr lang="en-US" altLang="ko-KR" dirty="0" err="1"/>
              <a:t>i</a:t>
            </a:r>
            <a:r>
              <a:rPr lang="en-US" altLang="ko-KR" dirty="0"/>
              <a:t> in v: A : </a:t>
            </a:r>
            <a:r>
              <a:rPr lang="en-US" altLang="ko-KR" dirty="0" err="1"/>
              <a:t>i</a:t>
            </a:r>
            <a:r>
              <a:rPr lang="ko-KR" altLang="en-US" dirty="0"/>
              <a:t>값이 벡터 </a:t>
            </a:r>
            <a:r>
              <a:rPr lang="en-US" altLang="ko-KR" dirty="0"/>
              <a:t>v</a:t>
            </a:r>
            <a:r>
              <a:rPr lang="ko-KR" altLang="en-US" dirty="0"/>
              <a:t>의 각 항의 값을 가지면서 </a:t>
            </a:r>
            <a:r>
              <a:rPr lang="en-US" altLang="ko-KR" dirty="0"/>
              <a:t>A</a:t>
            </a:r>
            <a:r>
              <a:rPr lang="ko-KR" altLang="en-US" dirty="0"/>
              <a:t>를 실행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while A: B : A</a:t>
            </a:r>
            <a:r>
              <a:rPr lang="ko-KR" altLang="en-US" dirty="0"/>
              <a:t>가 참일 동안 </a:t>
            </a:r>
            <a:r>
              <a:rPr lang="en-US" altLang="ko-KR" dirty="0"/>
              <a:t>B</a:t>
            </a:r>
            <a:r>
              <a:rPr lang="ko-KR" altLang="en-US" dirty="0"/>
              <a:t>를 실행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if B break : B</a:t>
            </a:r>
            <a:r>
              <a:rPr lang="ko-KR" altLang="en-US" dirty="0"/>
              <a:t>을 만족하면 </a:t>
            </a:r>
            <a:r>
              <a:rPr lang="en-US" altLang="ko-KR" dirty="0"/>
              <a:t>stop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A89D4BF3-3C44-45B1-B200-56F5B29AA2E3}"/>
              </a:ext>
            </a:extLst>
          </p:cNvPr>
          <p:cNvGrpSpPr/>
          <p:nvPr/>
        </p:nvGrpSpPr>
        <p:grpSpPr>
          <a:xfrm>
            <a:off x="3105125" y="3382576"/>
            <a:ext cx="5334539" cy="3356392"/>
            <a:chOff x="3179266" y="3501608"/>
            <a:chExt cx="4537889" cy="2991267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DC1AD753-BAA1-44D8-983A-2CA167F07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79266" y="3501608"/>
              <a:ext cx="2200582" cy="2991267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952A7E4A-31BA-443D-8CBE-4F391501D1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07152" y="3968397"/>
              <a:ext cx="1810003" cy="20576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517143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사용자 정의 함수</a:t>
            </a:r>
            <a:endParaRPr lang="en-US" altLang="ko-KR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8" y="1825625"/>
            <a:ext cx="10278762" cy="34754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ko-KR" altLang="en-US" dirty="0"/>
              <a:t>사용자가 함수를 정의하여 사용할 수 있다</a:t>
            </a:r>
            <a:r>
              <a:rPr lang="en-US" altLang="ko-KR" dirty="0"/>
              <a:t>.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en-US" altLang="ko-KR" dirty="0" err="1"/>
              <a:t>my_abs</a:t>
            </a:r>
            <a:r>
              <a:rPr lang="en-US" altLang="ko-KR" dirty="0"/>
              <a:t>(): </a:t>
            </a:r>
            <a:r>
              <a:rPr lang="ko-KR" altLang="en-US" dirty="0"/>
              <a:t>절대값 함수</a:t>
            </a:r>
            <a:r>
              <a:rPr lang="en-US" altLang="ko-KR" dirty="0"/>
              <a:t>, </a:t>
            </a:r>
            <a:r>
              <a:rPr lang="en-US" altLang="ko-KR" dirty="0" err="1"/>
              <a:t>normal_pdf</a:t>
            </a:r>
            <a:r>
              <a:rPr lang="en-US" altLang="ko-KR" dirty="0"/>
              <a:t>: </a:t>
            </a:r>
            <a:r>
              <a:rPr lang="ko-KR" altLang="en-US" dirty="0"/>
              <a:t>정규분포의 확률밀도함수</a:t>
            </a: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CCCB3FB-2B20-4E98-8D45-EBC1F611E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109" y="3029874"/>
            <a:ext cx="5133781" cy="373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7250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사용자 정의 함수</a:t>
            </a:r>
            <a:endParaRPr lang="en-US" altLang="ko-KR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8" y="1825625"/>
            <a:ext cx="10278762" cy="34754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en-US" altLang="ko-KR" dirty="0" err="1"/>
              <a:t>my_regression</a:t>
            </a:r>
            <a:r>
              <a:rPr lang="en-US" altLang="ko-KR" dirty="0"/>
              <a:t>(): </a:t>
            </a:r>
            <a:r>
              <a:rPr lang="ko-KR" altLang="en-US" dirty="0"/>
              <a:t>데이터를 받아 회귀분석을 진행하는 함수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ko-KR" altLang="en-US" dirty="0"/>
              <a:t>회귀 계수</a:t>
            </a:r>
            <a:r>
              <a:rPr lang="en-US" altLang="ko-KR" dirty="0"/>
              <a:t>, </a:t>
            </a:r>
            <a:r>
              <a:rPr lang="ko-KR" altLang="en-US" dirty="0"/>
              <a:t>평균 반응</a:t>
            </a:r>
            <a:r>
              <a:rPr lang="en-US" altLang="ko-KR" dirty="0"/>
              <a:t>, </a:t>
            </a:r>
            <a:r>
              <a:rPr lang="ko-KR" altLang="en-US" dirty="0" err="1"/>
              <a:t>제곱합</a:t>
            </a:r>
            <a:r>
              <a:rPr lang="en-US" altLang="ko-KR" dirty="0"/>
              <a:t>, </a:t>
            </a:r>
            <a:r>
              <a:rPr lang="ko-KR" altLang="en-US" dirty="0"/>
              <a:t>평균 제곱 합</a:t>
            </a:r>
            <a:r>
              <a:rPr lang="en-US" altLang="ko-KR" dirty="0"/>
              <a:t>, F</a:t>
            </a:r>
            <a:r>
              <a:rPr lang="ko-KR" altLang="en-US" dirty="0"/>
              <a:t>통계량</a:t>
            </a:r>
            <a:r>
              <a:rPr lang="en-US" altLang="ko-KR" dirty="0"/>
              <a:t>, R</a:t>
            </a:r>
            <a:r>
              <a:rPr lang="ko-KR" altLang="en-US" dirty="0"/>
              <a:t>제곱 값</a:t>
            </a:r>
            <a:r>
              <a:rPr lang="en-US" altLang="ko-KR" dirty="0"/>
              <a:t> 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2DE0800-1F18-49DE-A5BD-7BA7959EA6BE}"/>
              </a:ext>
            </a:extLst>
          </p:cNvPr>
          <p:cNvGrpSpPr/>
          <p:nvPr/>
        </p:nvGrpSpPr>
        <p:grpSpPr>
          <a:xfrm>
            <a:off x="165543" y="3287497"/>
            <a:ext cx="6048876" cy="2884916"/>
            <a:chOff x="1241610" y="2551070"/>
            <a:chExt cx="7746929" cy="362846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A4566F4E-EEC0-4673-ADAC-5E8B6CDBE2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41610" y="2551070"/>
              <a:ext cx="4121223" cy="3628469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D0AFDA77-472D-42EB-B484-F01F3BD2A3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2023"/>
            <a:stretch/>
          </p:blipFill>
          <p:spPr>
            <a:xfrm>
              <a:off x="5362833" y="2755872"/>
              <a:ext cx="3625706" cy="3218864"/>
            </a:xfrm>
            <a:prstGeom prst="rect">
              <a:avLst/>
            </a:prstGeom>
          </p:spPr>
        </p:pic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0CA5D09F-E7BD-4CD5-BF5E-264310C1EF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3605" y="2996163"/>
            <a:ext cx="5734850" cy="346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012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사용자 정의 함수</a:t>
            </a:r>
            <a:endParaRPr lang="en-US" altLang="ko-KR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8" y="1825625"/>
            <a:ext cx="10278762" cy="34754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return </a:t>
            </a:r>
            <a:r>
              <a:rPr lang="ko-KR" altLang="en-US" dirty="0"/>
              <a:t>값으로 </a:t>
            </a:r>
            <a:r>
              <a:rPr lang="en-US" altLang="ko-KR" dirty="0" err="1"/>
              <a:t>dict</a:t>
            </a:r>
            <a:r>
              <a:rPr lang="ko-KR" altLang="en-US" dirty="0"/>
              <a:t>를 지정했으므로 </a:t>
            </a:r>
            <a:r>
              <a:rPr lang="en-US" altLang="ko-KR" dirty="0"/>
              <a:t>output</a:t>
            </a:r>
            <a:r>
              <a:rPr lang="ko-KR" altLang="en-US" dirty="0"/>
              <a:t>에서 원하는 값을 불러올 수 있다</a:t>
            </a:r>
            <a:r>
              <a:rPr lang="en-US" altLang="ko-KR" dirty="0"/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EB61165-111C-42C4-BA68-142F1C0E5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7033" y="3429000"/>
            <a:ext cx="4357934" cy="303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3986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  <a:endParaRPr lang="en-US" altLang="ko-KR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E4969F7F-C160-42CA-B959-F789E32C81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630"/>
          <a:stretch/>
        </p:blipFill>
        <p:spPr>
          <a:xfrm>
            <a:off x="1523688" y="1690688"/>
            <a:ext cx="9144623" cy="5028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5531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두 표본 </a:t>
            </a:r>
            <a:r>
              <a:rPr lang="en-US" altLang="ko-KR" dirty="0"/>
              <a:t>t-</a:t>
            </a:r>
            <a:r>
              <a:rPr lang="ko-KR" altLang="en-US" dirty="0"/>
              <a:t>검정</a:t>
            </a:r>
            <a:endParaRPr lang="en-US" altLang="ko-KR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FC319FF0-5B2D-4260-86AC-6177CD7AEC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75038" y="1825624"/>
                <a:ext cx="10954666" cy="5275819"/>
              </a:xfrm>
            </p:spPr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l"/>
                </a:pPr>
                <a:r>
                  <a:rPr lang="en-US" altLang="ko-KR" dirty="0"/>
                  <a:t> </a:t>
                </a:r>
                <a:r>
                  <a:rPr lang="ko-KR" altLang="en-US" dirty="0"/>
                  <a:t>두 집단의 평균 차이가 있는지 확인하자</a:t>
                </a:r>
                <a:r>
                  <a:rPr lang="en-US" altLang="ko-KR" dirty="0"/>
                  <a:t>.</a:t>
                </a:r>
              </a:p>
              <a:p>
                <a:pPr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>
                  <a:buFont typeface="Wingdings" panose="05000000000000000000" pitchFamily="2" charset="2"/>
                  <a:buChar char="l"/>
                </a:pPr>
                <a:endParaRPr lang="en-US" altLang="ko-KR" dirty="0"/>
              </a:p>
              <a:p>
                <a:pPr>
                  <a:buFont typeface="Wingdings" panose="05000000000000000000" pitchFamily="2" charset="2"/>
                  <a:buChar char="l"/>
                </a:pPr>
                <a:r>
                  <a:rPr lang="en-US" altLang="ko-KR" dirty="0"/>
                  <a:t> </a:t>
                </a:r>
                <a:r>
                  <a:rPr lang="ko-KR" altLang="en-US" dirty="0"/>
                  <a:t>스튜던트 </a:t>
                </a:r>
                <a:r>
                  <a:rPr lang="en-US" altLang="ko-KR" dirty="0"/>
                  <a:t>t-</a:t>
                </a:r>
                <a:r>
                  <a:rPr lang="ko-KR" altLang="en-US" dirty="0"/>
                  <a:t>검정</a:t>
                </a:r>
                <a:endParaRPr lang="en-US" altLang="ko-KR" dirty="0"/>
              </a:p>
              <a:p>
                <a:pPr lvl="1">
                  <a:buFont typeface="Wingdings" panose="05000000000000000000" pitchFamily="2" charset="2"/>
                  <a:buChar char="l"/>
                </a:pPr>
                <a:r>
                  <a:rPr lang="en-US" altLang="ko-KR" dirty="0"/>
                  <a:t> </a:t>
                </a:r>
                <a:r>
                  <a:rPr lang="ko-KR" altLang="en-US" dirty="0"/>
                  <a:t>두 집단이 등분산이라고 가정한다</a:t>
                </a:r>
                <a:r>
                  <a:rPr lang="en-US" altLang="ko-K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l"/>
                </a:pPr>
                <a:endParaRPr lang="en-US" altLang="ko-KR" dirty="0"/>
              </a:p>
              <a:p>
                <a:pPr lvl="1">
                  <a:buFont typeface="Wingdings" panose="05000000000000000000" pitchFamily="2" charset="2"/>
                  <a:buChar char="l"/>
                </a:pPr>
                <a:endParaRPr lang="en-US" altLang="ko-KR" dirty="0"/>
              </a:p>
              <a:p>
                <a:pPr lvl="1">
                  <a:buFont typeface="Wingdings" panose="05000000000000000000" pitchFamily="2" charset="2"/>
                  <a:buChar char="l"/>
                </a:pPr>
                <a:endParaRPr lang="en-US" altLang="ko-KR" dirty="0"/>
              </a:p>
              <a:p>
                <a:pPr lvl="1">
                  <a:buFont typeface="Wingdings" panose="05000000000000000000" pitchFamily="2" charset="2"/>
                  <a:buChar char="l"/>
                </a:pPr>
                <a:endParaRPr lang="en-US" altLang="ko-KR" dirty="0"/>
              </a:p>
              <a:p>
                <a:pPr lvl="1">
                  <a:buFont typeface="Wingdings" panose="05000000000000000000" pitchFamily="2" charset="2"/>
                  <a:buChar char="l"/>
                </a:pPr>
                <a:endParaRPr lang="en-US" altLang="ko-KR" dirty="0"/>
              </a:p>
              <a:p>
                <a:pPr lvl="1">
                  <a:buFont typeface="Wingdings" panose="05000000000000000000" pitchFamily="2" charset="2"/>
                  <a:buChar char="l"/>
                </a:pP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/>
                  <a:t>: </a:t>
                </a:r>
                <a:r>
                  <a:rPr lang="ko-KR" altLang="en-US" dirty="0"/>
                  <a:t>두 집단의 표본평균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/>
                  <a:t>: </a:t>
                </a:r>
                <a:r>
                  <a:rPr lang="ko-KR" altLang="en-US" dirty="0"/>
                  <a:t>두 집단의 표본오차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FC319FF0-5B2D-4260-86AC-6177CD7AEC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38" y="1825624"/>
                <a:ext cx="10954666" cy="5275819"/>
              </a:xfrm>
              <a:blipFill>
                <a:blip r:embed="rId2"/>
                <a:stretch>
                  <a:fillRect l="-946" t="-19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>
            <a:extLst>
              <a:ext uri="{FF2B5EF4-FFF2-40B4-BE49-F238E27FC236}">
                <a16:creationId xmlns:a16="http://schemas.microsoft.com/office/drawing/2014/main" id="{A389E4B6-BEB9-EAAE-AA74-F2CAA772B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0864" y="4437149"/>
            <a:ext cx="7570273" cy="131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3534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두 표본 </a:t>
            </a:r>
            <a:r>
              <a:rPr lang="en-US" altLang="ko-KR" dirty="0"/>
              <a:t>t-</a:t>
            </a:r>
            <a:r>
              <a:rPr lang="ko-KR" altLang="en-US" dirty="0"/>
              <a:t>검정</a:t>
            </a:r>
            <a:endParaRPr lang="en-US" altLang="ko-KR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FC319FF0-5B2D-4260-86AC-6177CD7AEC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75038" y="1825624"/>
                <a:ext cx="10954666" cy="5275819"/>
              </a:xfrm>
            </p:spPr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l"/>
                </a:pPr>
                <a:r>
                  <a:rPr lang="en-US" altLang="ko-KR" dirty="0"/>
                  <a:t> </a:t>
                </a:r>
                <a:r>
                  <a:rPr lang="ko-KR" altLang="en-US" dirty="0"/>
                  <a:t>두 집단의 평균 차이가 있는지 확인하자</a:t>
                </a:r>
                <a:r>
                  <a:rPr lang="en-US" altLang="ko-KR" dirty="0"/>
                  <a:t>.</a:t>
                </a:r>
              </a:p>
              <a:p>
                <a:pPr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>
                  <a:buFont typeface="Wingdings" panose="05000000000000000000" pitchFamily="2" charset="2"/>
                  <a:buChar char="l"/>
                </a:pPr>
                <a:endParaRPr lang="en-US" altLang="ko-KR" dirty="0"/>
              </a:p>
              <a:p>
                <a:pPr>
                  <a:buFont typeface="Wingdings" panose="05000000000000000000" pitchFamily="2" charset="2"/>
                  <a:buChar char="l"/>
                </a:pPr>
                <a:r>
                  <a:rPr lang="en-US" altLang="ko-KR" dirty="0"/>
                  <a:t> </a:t>
                </a:r>
                <a:r>
                  <a:rPr lang="ko-KR" altLang="en-US" dirty="0" err="1"/>
                  <a:t>웰치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t-</a:t>
                </a:r>
                <a:r>
                  <a:rPr lang="ko-KR" altLang="en-US" dirty="0"/>
                  <a:t>검정</a:t>
                </a:r>
                <a:endParaRPr lang="en-US" altLang="ko-KR" dirty="0"/>
              </a:p>
              <a:p>
                <a:pPr lvl="1">
                  <a:buFont typeface="Wingdings" panose="05000000000000000000" pitchFamily="2" charset="2"/>
                  <a:buChar char="l"/>
                </a:pPr>
                <a:r>
                  <a:rPr lang="en-US" altLang="ko-KR" dirty="0"/>
                  <a:t> </a:t>
                </a:r>
                <a:r>
                  <a:rPr lang="ko-KR" altLang="en-US" dirty="0"/>
                  <a:t>두 집단의 분산이 다르다고 가정한다</a:t>
                </a:r>
                <a:r>
                  <a:rPr lang="en-US" altLang="ko-KR" dirty="0"/>
                  <a:t>.</a:t>
                </a:r>
              </a:p>
            </p:txBody>
          </p:sp>
        </mc:Choice>
        <mc:Fallback xmlns="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FC319FF0-5B2D-4260-86AC-6177CD7AEC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38" y="1825624"/>
                <a:ext cx="10954666" cy="5275819"/>
              </a:xfrm>
              <a:blipFill>
                <a:blip r:embed="rId2"/>
                <a:stretch>
                  <a:fillRect l="-946" t="-19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661BD707-89F1-F0C8-28BF-3DFEF57DCA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4172" y="4463533"/>
            <a:ext cx="3943657" cy="172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7929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  <a:endParaRPr lang="en-US" altLang="ko-KR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E96C3AFA-985A-4067-AEA6-ECDA1D3C5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971" y="1556951"/>
            <a:ext cx="7278058" cy="989005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1F91D7B-84CE-45D8-9C27-646EFB2DEAB8}"/>
              </a:ext>
            </a:extLst>
          </p:cNvPr>
          <p:cNvGrpSpPr/>
          <p:nvPr/>
        </p:nvGrpSpPr>
        <p:grpSpPr>
          <a:xfrm>
            <a:off x="1186356" y="2807227"/>
            <a:ext cx="9819286" cy="3838445"/>
            <a:chOff x="838200" y="2831396"/>
            <a:chExt cx="8115113" cy="3172268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84FD83F7-F9C9-4526-AEF2-D2FCA93E9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8200" y="2950476"/>
              <a:ext cx="4620270" cy="2934109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175E65DF-0341-45D2-BAC7-9893873E45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95308" y="2831396"/>
              <a:ext cx="3258005" cy="31722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650349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단순선형회귀모형</a:t>
            </a:r>
            <a:endParaRPr lang="en-US" altLang="ko-KR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D960B0A1-D3F5-460A-A60F-E70CE2AC9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689" y="1825625"/>
            <a:ext cx="7176621" cy="3715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2805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단순선형회귀모형의 가정</a:t>
            </a:r>
            <a:endParaRPr lang="en-US" altLang="ko-KR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35B7A2E4-208B-4DD7-8ABA-55BE4B758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6377" y="1593035"/>
            <a:ext cx="6479246" cy="2168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2276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단순선형회귀모형 </a:t>
            </a:r>
            <a:r>
              <a:rPr lang="en-US" altLang="ko-KR" dirty="0"/>
              <a:t>- </a:t>
            </a:r>
            <a:r>
              <a:rPr lang="en-US" altLang="ko-KR" dirty="0" err="1"/>
              <a:t>macrodata</a:t>
            </a:r>
            <a:endParaRPr lang="en-US" altLang="ko-KR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8" y="1690688"/>
            <a:ext cx="10278762" cy="516730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ko-KR" altLang="en-US" dirty="0"/>
              <a:t> 캘리포니아 주택 가격 데이터셋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9</a:t>
            </a:r>
            <a:r>
              <a:rPr lang="ko-KR" altLang="en-US" dirty="0"/>
              <a:t>개의 변수와 </a:t>
            </a:r>
            <a:r>
              <a:rPr lang="en-US" altLang="ko-KR" dirty="0"/>
              <a:t>506</a:t>
            </a:r>
            <a:r>
              <a:rPr lang="ko-KR" altLang="en-US" dirty="0"/>
              <a:t>개의 </a:t>
            </a:r>
            <a:r>
              <a:rPr lang="ko-KR" altLang="en-US" dirty="0" err="1"/>
              <a:t>관측값으로</a:t>
            </a:r>
            <a:r>
              <a:rPr lang="ko-KR" altLang="en-US" dirty="0"/>
              <a:t> </a:t>
            </a:r>
            <a:r>
              <a:rPr lang="ko-KR" altLang="en-US" dirty="0" err="1"/>
              <a:t>구성되어있다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ko-KR" dirty="0" err="1"/>
              <a:t>MedInc</a:t>
            </a:r>
            <a:r>
              <a:rPr lang="en-US" altLang="ko-KR" dirty="0"/>
              <a:t>: </a:t>
            </a:r>
            <a:r>
              <a:rPr lang="ko-KR" altLang="en-US" dirty="0"/>
              <a:t>지역 블록의 중간 소득 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ko-KR" dirty="0" err="1"/>
              <a:t>HouseAge</a:t>
            </a:r>
            <a:r>
              <a:rPr lang="en-US" altLang="ko-KR" dirty="0"/>
              <a:t>: </a:t>
            </a:r>
            <a:r>
              <a:rPr lang="ko-KR" altLang="en-US" dirty="0"/>
              <a:t>지역 블록의 중간 주택 연령</a:t>
            </a:r>
            <a:r>
              <a:rPr lang="en-US" altLang="ko-KR" dirty="0"/>
              <a:t>(</a:t>
            </a:r>
            <a:r>
              <a:rPr lang="ko-KR" altLang="en-US" dirty="0"/>
              <a:t>건축된 지 얼마나 되었는지</a:t>
            </a:r>
            <a:r>
              <a:rPr lang="en-US" altLang="ko-KR" dirty="0"/>
              <a:t>) 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ko-KR" dirty="0" err="1"/>
              <a:t>AveRooms</a:t>
            </a:r>
            <a:r>
              <a:rPr lang="en-US" altLang="ko-KR" dirty="0"/>
              <a:t>: </a:t>
            </a:r>
            <a:r>
              <a:rPr lang="ko-KR" altLang="en-US" dirty="0"/>
              <a:t>평균 방 개수 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ko-KR" dirty="0" err="1"/>
              <a:t>AveBedrms</a:t>
            </a:r>
            <a:r>
              <a:rPr lang="en-US" altLang="ko-KR" dirty="0"/>
              <a:t>: </a:t>
            </a:r>
            <a:r>
              <a:rPr lang="ko-KR" altLang="en-US" dirty="0"/>
              <a:t>평균 침실 개수 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ko-KR" dirty="0"/>
              <a:t>Population: </a:t>
            </a:r>
            <a:r>
              <a:rPr lang="ko-KR" altLang="en-US" dirty="0"/>
              <a:t>인구 수 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ko-KR" dirty="0" err="1"/>
              <a:t>AveOccup</a:t>
            </a:r>
            <a:r>
              <a:rPr lang="en-US" altLang="ko-KR" dirty="0"/>
              <a:t>: </a:t>
            </a:r>
            <a:r>
              <a:rPr lang="ko-KR" altLang="en-US" dirty="0"/>
              <a:t>가구당 평균 거주 인원 수 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ko-KR" dirty="0"/>
              <a:t>Latitude: </a:t>
            </a:r>
            <a:r>
              <a:rPr lang="ko-KR" altLang="en-US" dirty="0"/>
              <a:t>지역의 위도 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ko-KR" dirty="0"/>
              <a:t>Longitude: </a:t>
            </a:r>
            <a:r>
              <a:rPr lang="ko-KR" altLang="en-US" dirty="0"/>
              <a:t>지역의 경도 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ko-KR" dirty="0" err="1"/>
              <a:t>MedHouseVal</a:t>
            </a:r>
            <a:r>
              <a:rPr lang="en-US" altLang="ko-KR" dirty="0"/>
              <a:t>: (target) </a:t>
            </a:r>
            <a:r>
              <a:rPr lang="ko-KR" altLang="en-US" dirty="0"/>
              <a:t>지역 블록의 주택 중간 가격</a:t>
            </a:r>
          </a:p>
        </p:txBody>
      </p:sp>
    </p:spTree>
    <p:extLst>
      <p:ext uri="{BB962C8B-B14F-4D97-AF65-F5344CB8AC3E}">
        <p14:creationId xmlns:p14="http://schemas.microsoft.com/office/powerpoint/2010/main" val="28914040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단순선형회귀모형 </a:t>
            </a:r>
            <a:r>
              <a:rPr lang="en-US" altLang="ko-KR" dirty="0"/>
              <a:t>- </a:t>
            </a:r>
            <a:r>
              <a:rPr lang="en-US" altLang="ko-KR" dirty="0" err="1"/>
              <a:t>macrodata</a:t>
            </a:r>
            <a:endParaRPr lang="en-US" altLang="ko-KR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8" y="1690688"/>
            <a:ext cx="10278762" cy="516730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ko-KR" altLang="en-US" dirty="0"/>
              <a:t> 분석을 하기전에 자료의 특성을 파악한다</a:t>
            </a:r>
            <a:r>
              <a:rPr lang="en-US" altLang="ko-KR" dirty="0"/>
              <a:t>.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ko-KR" altLang="en-US" dirty="0" err="1"/>
              <a:t>기초통계량과</a:t>
            </a:r>
            <a:r>
              <a:rPr lang="ko-KR" altLang="en-US" dirty="0"/>
              <a:t> 그래프를 이용하여 자료의 분포를 살펴본다</a:t>
            </a:r>
            <a:r>
              <a:rPr lang="en-US" altLang="ko-KR" dirty="0"/>
              <a:t>.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D3C922D9-981A-434F-9610-E59F636818EA}"/>
              </a:ext>
            </a:extLst>
          </p:cNvPr>
          <p:cNvGrpSpPr/>
          <p:nvPr/>
        </p:nvGrpSpPr>
        <p:grpSpPr>
          <a:xfrm>
            <a:off x="475466" y="2996712"/>
            <a:ext cx="11241068" cy="3496163"/>
            <a:chOff x="593885" y="2959092"/>
            <a:chExt cx="11241068" cy="3496163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C4E45B00-6694-4032-A2AB-167BA74D5D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3885" y="3016251"/>
              <a:ext cx="5620534" cy="3381847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F89919BE-E235-44DC-97A8-1B201D4784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4419" y="2959092"/>
              <a:ext cx="5620534" cy="34961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598727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단순선형회귀모형</a:t>
            </a:r>
            <a:endParaRPr lang="en-US" altLang="ko-KR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7" y="1825625"/>
            <a:ext cx="10515599" cy="34754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ko-KR" altLang="en-US" dirty="0"/>
              <a:t>변수 간의 상관계수 확인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ko-KR" altLang="en-US" dirty="0"/>
              <a:t>입력변수 간의 상관계수가 지나치게 크거나 입력변수가 선형독립이 아닐 경우</a:t>
            </a:r>
            <a:r>
              <a:rPr lang="en-US" altLang="ko-KR" dirty="0"/>
              <a:t>, </a:t>
            </a:r>
            <a:r>
              <a:rPr lang="ko-KR" altLang="en-US" dirty="0"/>
              <a:t>회귀계수추정에 문제가 발생한다</a:t>
            </a:r>
            <a:r>
              <a:rPr lang="en-US" altLang="ko-KR" dirty="0"/>
              <a:t>.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ko-KR" altLang="en-US" dirty="0"/>
              <a:t>변수를 제거하거나 </a:t>
            </a:r>
            <a:r>
              <a:rPr lang="en-US" altLang="ko-KR" dirty="0"/>
              <a:t>PCA, ridge </a:t>
            </a:r>
            <a:r>
              <a:rPr lang="ko-KR" altLang="en-US" dirty="0"/>
              <a:t>회귀분석 같은 방법을 사용할 수 있다</a:t>
            </a:r>
            <a:r>
              <a:rPr lang="en-US" altLang="ko-KR" dirty="0"/>
              <a:t>.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B827BC7-081D-4432-8C7C-7C60DE44DDDD}"/>
              </a:ext>
            </a:extLst>
          </p:cNvPr>
          <p:cNvGrpSpPr/>
          <p:nvPr/>
        </p:nvGrpSpPr>
        <p:grpSpPr>
          <a:xfrm>
            <a:off x="151570" y="1331125"/>
            <a:ext cx="11888859" cy="5334744"/>
            <a:chOff x="162794" y="1306412"/>
            <a:chExt cx="11888859" cy="533474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64A3702A-2E99-4E83-B308-DB9785490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2794" y="2348922"/>
              <a:ext cx="5687219" cy="4143953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92C2CC4F-558F-491C-A4AB-3BECE5CA0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50013" y="1306412"/>
              <a:ext cx="6201640" cy="53347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987298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단순선형회귀모형</a:t>
            </a:r>
            <a:endParaRPr lang="en-US" altLang="ko-KR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7" y="1825625"/>
            <a:ext cx="10515599" cy="34754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ko-KR" altLang="en-US" dirty="0"/>
              <a:t>변수 간의 상관계수 확인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ko-KR" altLang="en-US" dirty="0"/>
              <a:t>입력변수 간의 상관계수가 지나치게 크거나 입력변수가 선형독립이 아닐 경우</a:t>
            </a:r>
            <a:r>
              <a:rPr lang="en-US" altLang="ko-KR" dirty="0"/>
              <a:t>, </a:t>
            </a:r>
            <a:r>
              <a:rPr lang="ko-KR" altLang="en-US" dirty="0"/>
              <a:t>회귀계수추정에 문제가 발생한다</a:t>
            </a:r>
            <a:r>
              <a:rPr lang="en-US" altLang="ko-KR" dirty="0"/>
              <a:t>.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ko-KR" altLang="en-US" dirty="0"/>
              <a:t>변수를 제거하거나 </a:t>
            </a:r>
            <a:r>
              <a:rPr lang="en-US" altLang="ko-KR" dirty="0"/>
              <a:t>PCA, ridge </a:t>
            </a:r>
            <a:r>
              <a:rPr lang="ko-KR" altLang="en-US" dirty="0"/>
              <a:t>회귀분석 같은 방법을 사용할 수 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416862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단순선형회귀모형</a:t>
            </a:r>
            <a:r>
              <a:rPr lang="en-US" altLang="ko-KR" dirty="0"/>
              <a:t> 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7" y="1825625"/>
            <a:ext cx="10515599" cy="34754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ko-KR" altLang="en-US" dirty="0"/>
              <a:t>반응 변수의 분포 확인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l"/>
            </a:pPr>
            <a:endParaRPr lang="en-US" altLang="ko-KR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EC01A61-1BBA-4F34-9E89-B82500E2CC4C}"/>
              </a:ext>
            </a:extLst>
          </p:cNvPr>
          <p:cNvGrpSpPr/>
          <p:nvPr/>
        </p:nvGrpSpPr>
        <p:grpSpPr>
          <a:xfrm>
            <a:off x="265650" y="2161520"/>
            <a:ext cx="11660699" cy="4696480"/>
            <a:chOff x="531301" y="2161520"/>
            <a:chExt cx="11660699" cy="4696480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36111A87-A2C1-4302-8572-CBAD9B2CAE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1301" y="2390151"/>
              <a:ext cx="5801535" cy="4467849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B4C9319B-C568-4197-AFE4-4C6C58D571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19044" y="2161520"/>
              <a:ext cx="5772956" cy="46964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432348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단순선형회귀모형</a:t>
            </a:r>
            <a:r>
              <a:rPr lang="en-US" altLang="ko-KR" dirty="0"/>
              <a:t> 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7" y="1825625"/>
            <a:ext cx="10515599" cy="34754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ko-KR" altLang="en-US" dirty="0"/>
              <a:t>선형회귀모형 적합</a:t>
            </a:r>
            <a:endParaRPr lang="en-US" altLang="ko-KR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FBF005D-9DE2-43E9-AF49-ED09090F8CC8}"/>
              </a:ext>
            </a:extLst>
          </p:cNvPr>
          <p:cNvGrpSpPr/>
          <p:nvPr/>
        </p:nvGrpSpPr>
        <p:grpSpPr>
          <a:xfrm>
            <a:off x="866860" y="2379529"/>
            <a:ext cx="10458280" cy="4372585"/>
            <a:chOff x="389729" y="2367172"/>
            <a:chExt cx="10458280" cy="4372585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ED4A1A78-1302-4671-9689-1712056772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9729" y="2367172"/>
              <a:ext cx="5706271" cy="4372585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F510FD72-C9B6-43A6-9C2F-F4A8A54D1E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37266" y="2381461"/>
              <a:ext cx="4610743" cy="43440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936787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단순선형회귀모형</a:t>
            </a:r>
            <a:r>
              <a:rPr lang="en-US" altLang="ko-KR" dirty="0"/>
              <a:t> 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7" y="1825625"/>
            <a:ext cx="10515599" cy="34754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ko-KR" altLang="en-US" dirty="0"/>
              <a:t>변수 선택 이후 선형회귀모형 적합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l"/>
            </a:pPr>
            <a:endParaRPr lang="en-US" altLang="ko-KR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17C4794-B6E4-4711-96D3-6377226A2756}"/>
              </a:ext>
            </a:extLst>
          </p:cNvPr>
          <p:cNvGrpSpPr/>
          <p:nvPr/>
        </p:nvGrpSpPr>
        <p:grpSpPr>
          <a:xfrm>
            <a:off x="1090036" y="2551070"/>
            <a:ext cx="10011927" cy="3924848"/>
            <a:chOff x="1284371" y="2551070"/>
            <a:chExt cx="10011927" cy="3924848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3354188A-AC2B-4229-A75A-61981602C7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84371" y="2551070"/>
              <a:ext cx="4944165" cy="3924848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828092B8-AA49-4E61-B478-8F444C4B1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37870" y="2551070"/>
              <a:ext cx="4858428" cy="38867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007000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단순선형회귀모형 </a:t>
            </a:r>
            <a:r>
              <a:rPr lang="en-US" altLang="ko-KR" dirty="0"/>
              <a:t>- </a:t>
            </a:r>
            <a:r>
              <a:rPr lang="ko-KR" altLang="en-US" dirty="0" err="1"/>
              <a:t>잔차분석</a:t>
            </a:r>
            <a:r>
              <a:rPr lang="en-US" altLang="ko-KR" dirty="0"/>
              <a:t> 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7" y="1825625"/>
            <a:ext cx="10515599" cy="34754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ko-KR" altLang="en-US" dirty="0"/>
              <a:t>회귀분석의 가정을 만족하는지 확인하기 위해서 </a:t>
            </a:r>
            <a:r>
              <a:rPr lang="ko-KR" altLang="en-US" dirty="0" err="1"/>
              <a:t>잔차를</a:t>
            </a:r>
            <a:r>
              <a:rPr lang="ko-KR" altLang="en-US" dirty="0"/>
              <a:t> 이용한다</a:t>
            </a:r>
            <a:r>
              <a:rPr lang="en-US" altLang="ko-KR" dirty="0"/>
              <a:t>.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ko-KR" altLang="en-US" dirty="0" err="1"/>
              <a:t>표준화잔차와</a:t>
            </a:r>
            <a:r>
              <a:rPr lang="ko-KR" altLang="en-US" dirty="0"/>
              <a:t> 스튜던트화 </a:t>
            </a:r>
            <a:r>
              <a:rPr lang="ko-KR" altLang="en-US" dirty="0" err="1"/>
              <a:t>잔차</a:t>
            </a:r>
            <a:endParaRPr lang="en-US" altLang="ko-KR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31E2F269-8073-4628-B6C7-1FA3F8CA8A7D}"/>
              </a:ext>
            </a:extLst>
          </p:cNvPr>
          <p:cNvGrpSpPr/>
          <p:nvPr/>
        </p:nvGrpSpPr>
        <p:grpSpPr>
          <a:xfrm>
            <a:off x="386317" y="2968134"/>
            <a:ext cx="11419365" cy="3321456"/>
            <a:chOff x="623154" y="3062943"/>
            <a:chExt cx="11419365" cy="3321456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C7697B52-6D86-42B9-91A3-83226AAF9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3154" y="3822477"/>
              <a:ext cx="2801027" cy="2005673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DC7EE847-44D9-4FAC-91D7-BDA632813D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5767"/>
            <a:stretch/>
          </p:blipFill>
          <p:spPr>
            <a:xfrm>
              <a:off x="3411665" y="3062943"/>
              <a:ext cx="8630854" cy="33214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360094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단순선형회귀모형 </a:t>
            </a:r>
            <a:r>
              <a:rPr lang="en-US" altLang="ko-KR" dirty="0"/>
              <a:t>- </a:t>
            </a:r>
            <a:r>
              <a:rPr lang="ko-KR" altLang="en-US" dirty="0" err="1"/>
              <a:t>잔차분석</a:t>
            </a:r>
            <a:r>
              <a:rPr lang="en-US" altLang="ko-KR" dirty="0"/>
              <a:t> 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1C28AC72-347B-4F1C-816C-2C06B9D2A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575" y="1825625"/>
            <a:ext cx="5734850" cy="45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1428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단순선형회귀모형 </a:t>
            </a:r>
            <a:r>
              <a:rPr lang="en-US" altLang="ko-KR" dirty="0"/>
              <a:t>– </a:t>
            </a:r>
            <a:r>
              <a:rPr lang="ko-KR" altLang="en-US" dirty="0"/>
              <a:t>이상점과 </a:t>
            </a:r>
            <a:r>
              <a:rPr lang="ko-KR" altLang="en-US" dirty="0" err="1"/>
              <a:t>영향점</a:t>
            </a:r>
            <a:r>
              <a:rPr lang="en-US" altLang="ko-KR" dirty="0"/>
              <a:t> 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7" y="1825625"/>
            <a:ext cx="10515599" cy="34754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ko-KR" altLang="en-US" dirty="0"/>
              <a:t>자료들의 추세와 </a:t>
            </a:r>
            <a:r>
              <a:rPr lang="ko-KR" altLang="en-US" dirty="0" err="1"/>
              <a:t>동떨어져있는</a:t>
            </a:r>
            <a:r>
              <a:rPr lang="ko-KR" altLang="en-US" dirty="0"/>
              <a:t> 점을 </a:t>
            </a:r>
            <a:r>
              <a:rPr lang="ko-KR" altLang="en-US" dirty="0" err="1"/>
              <a:t>이상점이라고</a:t>
            </a:r>
            <a:r>
              <a:rPr lang="ko-KR" altLang="en-US" dirty="0"/>
              <a:t> 한다</a:t>
            </a:r>
            <a:r>
              <a:rPr lang="en-US" altLang="ko-KR" dirty="0"/>
              <a:t>.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ko-KR" altLang="en-US" dirty="0"/>
              <a:t>선형회귀분석에서 회귀 결과에 영향을 크게 주는 점을 </a:t>
            </a:r>
            <a:r>
              <a:rPr lang="ko-KR" altLang="en-US" dirty="0" err="1"/>
              <a:t>영향점이라고</a:t>
            </a:r>
            <a:r>
              <a:rPr lang="ko-KR" altLang="en-US" dirty="0"/>
              <a:t> 한다</a:t>
            </a:r>
            <a:r>
              <a:rPr lang="en-US" altLang="ko-KR" dirty="0"/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D6B4F9F-D763-48A8-9EA4-C1A068F34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454" y="2783661"/>
            <a:ext cx="4210955" cy="4074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558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단순선형회귀모형 </a:t>
            </a:r>
            <a:r>
              <a:rPr lang="en-US" altLang="ko-KR" dirty="0"/>
              <a:t>– </a:t>
            </a:r>
            <a:r>
              <a:rPr lang="ko-KR" altLang="en-US" dirty="0"/>
              <a:t>이상점과 </a:t>
            </a:r>
            <a:r>
              <a:rPr lang="ko-KR" altLang="en-US" dirty="0" err="1"/>
              <a:t>영향점</a:t>
            </a:r>
            <a:r>
              <a:rPr lang="en-US" altLang="ko-KR" dirty="0"/>
              <a:t> 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7" y="1825625"/>
            <a:ext cx="10515599" cy="34754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ko-KR" altLang="en-US" dirty="0" err="1"/>
              <a:t>이상점</a:t>
            </a:r>
            <a:r>
              <a:rPr lang="ko-KR" altLang="en-US" dirty="0"/>
              <a:t> 및 영향점을 찾는 기준</a:t>
            </a:r>
            <a:endParaRPr lang="en-US" altLang="ko-KR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896E8B9-80F3-42DA-9DD1-50FC6E877EA8}"/>
              </a:ext>
            </a:extLst>
          </p:cNvPr>
          <p:cNvGrpSpPr/>
          <p:nvPr/>
        </p:nvGrpSpPr>
        <p:grpSpPr>
          <a:xfrm>
            <a:off x="245966" y="2783660"/>
            <a:ext cx="11700068" cy="3330278"/>
            <a:chOff x="0" y="2812917"/>
            <a:chExt cx="11700068" cy="3330278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36B3725C-EBD7-40F4-AA64-756AAE699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2812917"/>
              <a:ext cx="4676562" cy="3330278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4A268005-4221-4501-8495-5E2107E6E2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5767"/>
            <a:stretch/>
          </p:blipFill>
          <p:spPr>
            <a:xfrm>
              <a:off x="4567131" y="3105553"/>
              <a:ext cx="7132937" cy="274500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537122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단순선형회귀모형 </a:t>
            </a:r>
            <a:r>
              <a:rPr lang="en-US" altLang="ko-KR" dirty="0"/>
              <a:t>– </a:t>
            </a:r>
            <a:r>
              <a:rPr lang="ko-KR" altLang="en-US" dirty="0"/>
              <a:t>이상점과 </a:t>
            </a:r>
            <a:r>
              <a:rPr lang="ko-KR" altLang="en-US" dirty="0" err="1"/>
              <a:t>영향점</a:t>
            </a:r>
            <a:r>
              <a:rPr lang="en-US" altLang="ko-KR" dirty="0"/>
              <a:t> 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7" y="1825624"/>
            <a:ext cx="10515599" cy="503237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en-US" altLang="ko-KR" dirty="0" err="1"/>
              <a:t>dfb_const</a:t>
            </a:r>
            <a:r>
              <a:rPr lang="en-US" altLang="ko-KR" dirty="0"/>
              <a:t>, dfb_X1, dfb_X2, dfb_X3: DFBETAS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ko-KR" altLang="en-US" dirty="0"/>
              <a:t>각 관측치가 해당 회귀계수</a:t>
            </a:r>
            <a:r>
              <a:rPr lang="en-US" altLang="ko-KR" dirty="0"/>
              <a:t>(</a:t>
            </a:r>
            <a:r>
              <a:rPr lang="ko-KR" altLang="en-US" dirty="0" err="1"/>
              <a:t>상수항</a:t>
            </a:r>
            <a:r>
              <a:rPr lang="en-US" altLang="ko-KR" dirty="0"/>
              <a:t>·X1·X2·X3)</a:t>
            </a:r>
            <a:r>
              <a:rPr lang="ko-KR" altLang="en-US" dirty="0"/>
              <a:t>에 미치는 영향 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en-US" altLang="ko-KR" dirty="0" err="1"/>
              <a:t>cooks_d</a:t>
            </a:r>
            <a:r>
              <a:rPr lang="en-US" altLang="ko-KR" dirty="0"/>
              <a:t>: Cook’s distance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ko-KR" altLang="en-US" dirty="0"/>
              <a:t>관측치가 전체 회귀모형에 미치는 종합적 영향 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en-US" altLang="ko-KR" dirty="0" err="1"/>
              <a:t>hat_diag</a:t>
            </a:r>
            <a:r>
              <a:rPr lang="en-US" altLang="ko-KR" dirty="0"/>
              <a:t>: </a:t>
            </a:r>
            <a:r>
              <a:rPr lang="ko-KR" altLang="en-US" dirty="0"/>
              <a:t>레버리지</a:t>
            </a:r>
            <a:r>
              <a:rPr lang="en-US" altLang="ko-KR" dirty="0"/>
              <a:t>(</a:t>
            </a:r>
            <a:r>
              <a:rPr lang="en-US" altLang="ko-KR" dirty="0" err="1"/>
              <a:t>hii</a:t>
            </a:r>
            <a:r>
              <a:rPr lang="en-US" altLang="ko-KR" dirty="0"/>
              <a:t>)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ko-KR" altLang="en-US" dirty="0"/>
              <a:t>관측치가 자기 자신의 예측에 미치는 영향 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en-US" altLang="ko-KR" dirty="0" err="1"/>
              <a:t>dffits_internal</a:t>
            </a:r>
            <a:r>
              <a:rPr lang="en-US" altLang="ko-KR" dirty="0"/>
              <a:t>, </a:t>
            </a:r>
            <a:r>
              <a:rPr lang="en-US" altLang="ko-KR" dirty="0" err="1"/>
              <a:t>dffits</a:t>
            </a:r>
            <a:r>
              <a:rPr lang="en-US" altLang="ko-KR" dirty="0"/>
              <a:t>: DFFITS 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ko-KR" altLang="en-US" dirty="0"/>
              <a:t> 관측치가 자기 자신의 </a:t>
            </a:r>
            <a:r>
              <a:rPr lang="ko-KR" altLang="en-US" dirty="0" err="1"/>
              <a:t>예측값에</a:t>
            </a:r>
            <a:r>
              <a:rPr lang="ko-KR" altLang="en-US" dirty="0"/>
              <a:t> 미치는 영향 정도</a:t>
            </a:r>
            <a:endParaRPr lang="en-US" altLang="ko-KR" dirty="0"/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en-US" altLang="ko-KR" dirty="0" err="1"/>
              <a:t>dffits_internal</a:t>
            </a:r>
            <a:r>
              <a:rPr lang="en-US" altLang="ko-KR" dirty="0"/>
              <a:t>:</a:t>
            </a:r>
            <a:r>
              <a:rPr lang="ko-KR" altLang="en-US" dirty="0"/>
              <a:t> 관측치 </a:t>
            </a:r>
            <a:r>
              <a:rPr lang="en-US" altLang="ko-KR" dirty="0" err="1"/>
              <a:t>i</a:t>
            </a:r>
            <a:r>
              <a:rPr lang="ko-KR" altLang="en-US" dirty="0"/>
              <a:t>를 포함하여 계산된 </a:t>
            </a:r>
            <a:r>
              <a:rPr lang="en-US" altLang="ko-KR" dirty="0"/>
              <a:t>DFFITS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en-US" altLang="ko-KR" dirty="0" err="1"/>
              <a:t>dffits</a:t>
            </a:r>
            <a:r>
              <a:rPr lang="en-US" altLang="ko-KR" dirty="0"/>
              <a:t>: </a:t>
            </a:r>
            <a:r>
              <a:rPr lang="ko-KR" altLang="en-US" dirty="0"/>
              <a:t>관측치 </a:t>
            </a:r>
            <a:r>
              <a:rPr lang="en-US" altLang="ko-KR" dirty="0" err="1"/>
              <a:t>i</a:t>
            </a:r>
            <a:r>
              <a:rPr lang="ko-KR" altLang="en-US" dirty="0"/>
              <a:t>를 제외하고 </a:t>
            </a:r>
            <a:r>
              <a:rPr lang="ko-KR" altLang="en-US" dirty="0" err="1"/>
              <a:t>재추정된</a:t>
            </a:r>
            <a:r>
              <a:rPr lang="ko-KR" altLang="en-US" dirty="0"/>
              <a:t> </a:t>
            </a:r>
            <a:r>
              <a:rPr lang="en-US" altLang="ko-KR" dirty="0"/>
              <a:t>DFFITS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532063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단순선형회귀모형 </a:t>
            </a:r>
            <a:r>
              <a:rPr lang="en-US" altLang="ko-KR" dirty="0"/>
              <a:t>– </a:t>
            </a:r>
            <a:r>
              <a:rPr lang="ko-KR" altLang="en-US" dirty="0"/>
              <a:t>이상점과 </a:t>
            </a:r>
            <a:r>
              <a:rPr lang="ko-KR" altLang="en-US" dirty="0" err="1"/>
              <a:t>영향점</a:t>
            </a:r>
            <a:r>
              <a:rPr lang="en-US" altLang="ko-KR" dirty="0"/>
              <a:t> 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7" y="1825625"/>
            <a:ext cx="10515599" cy="34754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en-US" altLang="ko-KR" dirty="0" err="1"/>
              <a:t>covratio</a:t>
            </a:r>
            <a:r>
              <a:rPr lang="en-US" altLang="ko-KR" dirty="0"/>
              <a:t>:</a:t>
            </a:r>
            <a:r>
              <a:rPr lang="ko-KR" altLang="en-US" dirty="0"/>
              <a:t> 어떤 관측치를 제거했을 때와 제거하지 않았을 때의 회귀계수 추정치의 공분산 행렬 비율</a:t>
            </a:r>
            <a:r>
              <a:rPr lang="en-US" altLang="ko-KR" dirty="0"/>
              <a:t>.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ko-KR" altLang="en-US" dirty="0"/>
              <a:t> 값이 </a:t>
            </a:r>
            <a:r>
              <a:rPr lang="en-US" altLang="ko-KR" dirty="0"/>
              <a:t>1</a:t>
            </a:r>
            <a:r>
              <a:rPr lang="ko-KR" altLang="en-US" dirty="0"/>
              <a:t>에서 크게 벗어나면</a:t>
            </a:r>
            <a:r>
              <a:rPr lang="en-US" altLang="ko-KR" dirty="0"/>
              <a:t>, </a:t>
            </a:r>
            <a:r>
              <a:rPr lang="ko-KR" altLang="en-US" dirty="0"/>
              <a:t>해당 관측치가 전체 모델 추정에 미치는 영향이 크다고 해석한다</a:t>
            </a:r>
            <a:r>
              <a:rPr lang="en-US" altLang="ko-KR" dirty="0"/>
              <a:t>.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598CA25-C861-4916-BBA1-2D9CEE289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5249" y="3837138"/>
            <a:ext cx="4795173" cy="1463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4081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단순선형회귀모형 </a:t>
            </a:r>
            <a:r>
              <a:rPr lang="en-US" altLang="ko-KR" dirty="0"/>
              <a:t>– </a:t>
            </a:r>
            <a:r>
              <a:rPr lang="ko-KR" altLang="en-US" dirty="0" err="1"/>
              <a:t>잔차의</a:t>
            </a:r>
            <a:r>
              <a:rPr lang="ko-KR" altLang="en-US" dirty="0"/>
              <a:t> 정규성</a:t>
            </a:r>
            <a:endParaRPr lang="en-US" altLang="ko-KR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그룹 5">
            <a:extLst>
              <a:ext uri="{FF2B5EF4-FFF2-40B4-BE49-F238E27FC236}">
                <a16:creationId xmlns:a16="http://schemas.microsoft.com/office/drawing/2014/main" id="{70676A84-AC49-484C-8BC7-296FA58D5FD8}"/>
              </a:ext>
            </a:extLst>
          </p:cNvPr>
          <p:cNvGrpSpPr/>
          <p:nvPr/>
        </p:nvGrpSpPr>
        <p:grpSpPr>
          <a:xfrm>
            <a:off x="894239" y="2439859"/>
            <a:ext cx="10403522" cy="4174265"/>
            <a:chOff x="838200" y="2551070"/>
            <a:chExt cx="10403522" cy="4174265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719931D-3CD5-4071-A934-09AF79C440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2551070"/>
              <a:ext cx="5040295" cy="4174265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3FF1401A-659C-4839-A937-44F4511E4E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27408" y="2551070"/>
              <a:ext cx="5014314" cy="4165604"/>
            </a:xfrm>
            <a:prstGeom prst="rect">
              <a:avLst/>
            </a:prstGeom>
          </p:spPr>
        </p:pic>
      </p:grp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7" y="1825625"/>
            <a:ext cx="10515599" cy="34754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ko-KR" altLang="en-US" dirty="0" err="1"/>
              <a:t>이상점</a:t>
            </a:r>
            <a:r>
              <a:rPr lang="ko-KR" altLang="en-US" dirty="0"/>
              <a:t> 제거 전후 </a:t>
            </a:r>
            <a:r>
              <a:rPr lang="ko-KR" altLang="en-US" dirty="0" err="1"/>
              <a:t>잔차의</a:t>
            </a:r>
            <a:r>
              <a:rPr lang="ko-KR" altLang="en-US" dirty="0"/>
              <a:t> </a:t>
            </a:r>
            <a:r>
              <a:rPr lang="en-US" altLang="ko-KR" dirty="0"/>
              <a:t>QQ plot </a:t>
            </a:r>
            <a:r>
              <a:rPr lang="ko-KR" altLang="en-US" dirty="0"/>
              <a:t>비교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549236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단순선형회귀모형 </a:t>
            </a:r>
            <a:r>
              <a:rPr lang="en-US" altLang="ko-KR" dirty="0"/>
              <a:t>– </a:t>
            </a:r>
            <a:r>
              <a:rPr lang="ko-KR" altLang="en-US" dirty="0"/>
              <a:t>유의성 검정</a:t>
            </a:r>
            <a:endParaRPr lang="en-US" altLang="ko-KR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03CA11C4-5F94-4C8F-B84A-49E740D1E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37610"/>
            <a:ext cx="6121558" cy="3651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8357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단순선형회귀모형 </a:t>
            </a:r>
            <a:r>
              <a:rPr lang="en-US" altLang="ko-KR" dirty="0"/>
              <a:t>– </a:t>
            </a:r>
            <a:r>
              <a:rPr lang="ko-KR" altLang="en-US" dirty="0"/>
              <a:t>유의성 검정</a:t>
            </a:r>
            <a:endParaRPr lang="en-US" altLang="ko-KR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7" y="1825625"/>
            <a:ext cx="10515599" cy="34754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ko-KR" altLang="en-US" dirty="0"/>
              <a:t>회귀계수의 검정</a:t>
            </a:r>
            <a:r>
              <a:rPr lang="en-US" altLang="ko-KR" dirty="0"/>
              <a:t>, R</a:t>
            </a:r>
            <a:r>
              <a:rPr lang="ko-KR" altLang="en-US" dirty="0" err="1"/>
              <a:t>제곱값</a:t>
            </a:r>
            <a:r>
              <a:rPr lang="ko-KR" altLang="en-US" dirty="0"/>
              <a:t> </a:t>
            </a:r>
            <a:r>
              <a:rPr lang="en-US" altLang="ko-KR" dirty="0"/>
              <a:t>, F</a:t>
            </a:r>
            <a:r>
              <a:rPr lang="ko-KR" altLang="en-US" dirty="0"/>
              <a:t>통계량을 확인</a:t>
            </a:r>
            <a:r>
              <a:rPr lang="en-US" altLang="ko-KR" dirty="0"/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62BB967-8894-4C16-ADE2-A9CFA316F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6289" y="2390255"/>
            <a:ext cx="5019423" cy="4128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0134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단순선형회귀모형 </a:t>
            </a:r>
            <a:r>
              <a:rPr lang="en-US" altLang="ko-KR" dirty="0"/>
              <a:t>– </a:t>
            </a:r>
            <a:r>
              <a:rPr lang="ko-KR" altLang="en-US" dirty="0"/>
              <a:t>회귀계수의 신뢰구간</a:t>
            </a:r>
            <a:endParaRPr lang="en-US" altLang="ko-KR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내용 개체 틀 2">
            <a:extLst>
              <a:ext uri="{FF2B5EF4-FFF2-40B4-BE49-F238E27FC236}">
                <a16:creationId xmlns:a16="http://schemas.microsoft.com/office/drawing/2014/main" id="{0EFCCC02-5FC0-44E6-ADE4-C43EC5E720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95262" y="2024320"/>
            <a:ext cx="4601475" cy="4204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5432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단순선형회귀모형 </a:t>
            </a:r>
            <a:r>
              <a:rPr lang="en-US" altLang="ko-KR" dirty="0"/>
              <a:t>– </a:t>
            </a:r>
            <a:r>
              <a:rPr lang="ko-KR" altLang="en-US" dirty="0"/>
              <a:t>평균반응</a:t>
            </a:r>
            <a:endParaRPr lang="en-US" altLang="ko-KR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7040A4D5-CF69-489B-8F30-1FD8CD735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6506483" cy="159089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8E79E88-F75D-4FA9-8998-4DAEB14AD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2234" y="1690688"/>
            <a:ext cx="3654014" cy="3884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8142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단순선형회귀모형 </a:t>
            </a:r>
            <a:r>
              <a:rPr lang="en-US" altLang="ko-KR" dirty="0"/>
              <a:t>– </a:t>
            </a:r>
            <a:r>
              <a:rPr lang="ko-KR" altLang="en-US" dirty="0"/>
              <a:t>실습</a:t>
            </a:r>
            <a:endParaRPr lang="en-US" altLang="ko-KR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7" y="1825625"/>
            <a:ext cx="10515601" cy="34754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ko-KR" altLang="en-US" dirty="0"/>
              <a:t>다음의 세 가지 데이터세트에서 이상치를 제거하기 전후의 </a:t>
            </a:r>
            <a:r>
              <a:rPr lang="ko-KR" altLang="en-US" dirty="0" err="1"/>
              <a:t>잔차의</a:t>
            </a:r>
            <a:r>
              <a:rPr lang="ko-KR" altLang="en-US" dirty="0"/>
              <a:t> 정규성</a:t>
            </a:r>
            <a:r>
              <a:rPr lang="en-US" altLang="ko-KR" dirty="0"/>
              <a:t>, </a:t>
            </a:r>
            <a:r>
              <a:rPr lang="ko-KR" altLang="en-US" dirty="0"/>
              <a:t>유의성 검정을 </a:t>
            </a:r>
            <a:r>
              <a:rPr lang="ko-KR" altLang="en-US" dirty="0" err="1"/>
              <a:t>비교하시오</a:t>
            </a:r>
            <a:r>
              <a:rPr lang="en-US" altLang="ko-KR" dirty="0"/>
              <a:t>.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 err="1"/>
              <a:t>이상치라고</a:t>
            </a:r>
            <a:r>
              <a:rPr lang="ko-KR" altLang="en-US" dirty="0"/>
              <a:t> 판단한 이유를 </a:t>
            </a:r>
            <a:r>
              <a:rPr lang="ko-KR" altLang="en-US" dirty="0" err="1"/>
              <a:t>밝히시오</a:t>
            </a:r>
            <a:r>
              <a:rPr lang="en-US" altLang="ko-KR" dirty="0"/>
              <a:t>.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ko-KR" altLang="en-US" dirty="0"/>
              <a:t>범주형 변수는 제외하고</a:t>
            </a:r>
            <a:r>
              <a:rPr lang="en-US" altLang="ko-KR" dirty="0"/>
              <a:t>, </a:t>
            </a:r>
            <a:r>
              <a:rPr lang="ko-KR" altLang="en-US" dirty="0"/>
              <a:t>각 데이터세트의 </a:t>
            </a:r>
            <a:r>
              <a:rPr lang="en-US" altLang="ko-KR" dirty="0"/>
              <a:t>Y</a:t>
            </a:r>
            <a:r>
              <a:rPr lang="ko-KR" altLang="en-US" dirty="0"/>
              <a:t>는 </a:t>
            </a:r>
            <a:r>
              <a:rPr lang="en-US" altLang="ko-KR" dirty="0"/>
              <a:t>tip, mpg, TOTEMP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A50BAE4-2B67-4C81-AFE0-FA93ECF9A856}"/>
              </a:ext>
            </a:extLst>
          </p:cNvPr>
          <p:cNvGrpSpPr>
            <a:grpSpLocks noChangeAspect="1"/>
          </p:cNvGrpSpPr>
          <p:nvPr/>
        </p:nvGrpSpPr>
        <p:grpSpPr>
          <a:xfrm>
            <a:off x="322902" y="4279133"/>
            <a:ext cx="11546196" cy="2043831"/>
            <a:chOff x="382535" y="3725920"/>
            <a:chExt cx="12700815" cy="2248214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078A61C3-4665-4814-900A-9D5931AC2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2535" y="3725920"/>
              <a:ext cx="3829584" cy="2248214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BEB08CD-D5B3-4C33-B5EB-F14604D8A1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75201" y="3725920"/>
              <a:ext cx="3715269" cy="1876687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A20599A2-891F-410D-B7BB-11EC1C1EED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53554" y="3725920"/>
              <a:ext cx="4629796" cy="21720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235159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선형회귀모형의 변수 선택</a:t>
            </a:r>
            <a:endParaRPr lang="en-US" altLang="ko-KR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8" y="1825625"/>
            <a:ext cx="10278762" cy="34754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ko-KR" altLang="en-US" dirty="0"/>
              <a:t>선형 회귀모형의 경우 과적합의 문제가 발생할 수 있다</a:t>
            </a:r>
            <a:r>
              <a:rPr lang="en-US" altLang="ko-KR" dirty="0"/>
              <a:t>.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ko-KR" altLang="en-US" dirty="0"/>
              <a:t>변수 선택을 통해 과적합을 피할 수 있다</a:t>
            </a:r>
            <a:r>
              <a:rPr lang="en-US" altLang="ko-KR" dirty="0"/>
              <a:t>.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ko-KR" altLang="en-US" dirty="0"/>
              <a:t>변수선택 방법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ko-KR" altLang="en-US" dirty="0"/>
              <a:t>전진선택법</a:t>
            </a:r>
            <a:r>
              <a:rPr lang="en-US" altLang="ko-KR" dirty="0"/>
              <a:t>(forward selection)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ko-KR" altLang="en-US" dirty="0"/>
              <a:t>후진선택법</a:t>
            </a:r>
            <a:r>
              <a:rPr lang="en-US" altLang="ko-KR" dirty="0"/>
              <a:t>(backward elimination)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ko-KR" altLang="en-US" dirty="0"/>
              <a:t>단계적방법</a:t>
            </a:r>
            <a:r>
              <a:rPr lang="en-US" altLang="ko-KR" dirty="0"/>
              <a:t>(stepwise method)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074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변수 선택 기준</a:t>
            </a:r>
            <a:endParaRPr lang="en-US" altLang="ko-KR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33745ACB-4671-4BA0-8B2C-F43DCB100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38" y="1825625"/>
            <a:ext cx="8125302" cy="410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1433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macrodata</a:t>
            </a:r>
            <a:endParaRPr lang="en-US" altLang="ko-KR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8" y="1690688"/>
            <a:ext cx="10278762" cy="516730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ko-KR" altLang="en-US" dirty="0"/>
              <a:t> 캘리포니아 주택 가격 데이터셋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9</a:t>
            </a:r>
            <a:r>
              <a:rPr lang="ko-KR" altLang="en-US" dirty="0"/>
              <a:t>개의 변수와 </a:t>
            </a:r>
            <a:r>
              <a:rPr lang="en-US" altLang="ko-KR" dirty="0"/>
              <a:t>506</a:t>
            </a:r>
            <a:r>
              <a:rPr lang="ko-KR" altLang="en-US" dirty="0"/>
              <a:t>개의 </a:t>
            </a:r>
            <a:r>
              <a:rPr lang="ko-KR" altLang="en-US" dirty="0" err="1"/>
              <a:t>관측값으로</a:t>
            </a:r>
            <a:r>
              <a:rPr lang="ko-KR" altLang="en-US" dirty="0"/>
              <a:t> </a:t>
            </a:r>
            <a:r>
              <a:rPr lang="ko-KR" altLang="en-US" dirty="0" err="1"/>
              <a:t>구성되어있다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ko-KR" dirty="0" err="1"/>
              <a:t>MedInc</a:t>
            </a:r>
            <a:r>
              <a:rPr lang="en-US" altLang="ko-KR" dirty="0"/>
              <a:t>: </a:t>
            </a:r>
            <a:r>
              <a:rPr lang="ko-KR" altLang="en-US" dirty="0"/>
              <a:t>지역 블록의 중간 소득 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ko-KR" dirty="0" err="1"/>
              <a:t>HouseAge</a:t>
            </a:r>
            <a:r>
              <a:rPr lang="en-US" altLang="ko-KR" dirty="0"/>
              <a:t>: </a:t>
            </a:r>
            <a:r>
              <a:rPr lang="ko-KR" altLang="en-US" dirty="0"/>
              <a:t>지역 블록의 중간 주택 연령</a:t>
            </a:r>
            <a:r>
              <a:rPr lang="en-US" altLang="ko-KR" dirty="0"/>
              <a:t>(</a:t>
            </a:r>
            <a:r>
              <a:rPr lang="ko-KR" altLang="en-US" dirty="0"/>
              <a:t>건축된 지 얼마나 되었는지</a:t>
            </a:r>
            <a:r>
              <a:rPr lang="en-US" altLang="ko-KR" dirty="0"/>
              <a:t>) 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ko-KR" dirty="0" err="1"/>
              <a:t>AveRooms</a:t>
            </a:r>
            <a:r>
              <a:rPr lang="en-US" altLang="ko-KR" dirty="0"/>
              <a:t>: </a:t>
            </a:r>
            <a:r>
              <a:rPr lang="ko-KR" altLang="en-US" dirty="0"/>
              <a:t>평균 방 개수 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ko-KR" dirty="0" err="1"/>
              <a:t>AveBedrms</a:t>
            </a:r>
            <a:r>
              <a:rPr lang="en-US" altLang="ko-KR" dirty="0"/>
              <a:t>: </a:t>
            </a:r>
            <a:r>
              <a:rPr lang="ko-KR" altLang="en-US" dirty="0"/>
              <a:t>평균 침실 개수 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ko-KR" dirty="0"/>
              <a:t>Population: </a:t>
            </a:r>
            <a:r>
              <a:rPr lang="ko-KR" altLang="en-US" dirty="0"/>
              <a:t>인구 수 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ko-KR" dirty="0" err="1"/>
              <a:t>AveOccup</a:t>
            </a:r>
            <a:r>
              <a:rPr lang="en-US" altLang="ko-KR" dirty="0"/>
              <a:t>: </a:t>
            </a:r>
            <a:r>
              <a:rPr lang="ko-KR" altLang="en-US" dirty="0"/>
              <a:t>가구당 평균 거주 인원 수 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ko-KR" dirty="0"/>
              <a:t>Latitude: </a:t>
            </a:r>
            <a:r>
              <a:rPr lang="ko-KR" altLang="en-US" dirty="0"/>
              <a:t>지역의 위도 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ko-KR" dirty="0"/>
              <a:t>Longitude: </a:t>
            </a:r>
            <a:r>
              <a:rPr lang="ko-KR" altLang="en-US" dirty="0"/>
              <a:t>지역의 경도 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ko-KR" dirty="0" err="1"/>
              <a:t>MedHouseVal</a:t>
            </a:r>
            <a:r>
              <a:rPr lang="en-US" altLang="ko-KR" dirty="0"/>
              <a:t>: (target) </a:t>
            </a:r>
            <a:r>
              <a:rPr lang="ko-KR" altLang="en-US" dirty="0"/>
              <a:t>지역 블록의 주택 중간 가격</a:t>
            </a:r>
          </a:p>
        </p:txBody>
      </p:sp>
    </p:spTree>
    <p:extLst>
      <p:ext uri="{BB962C8B-B14F-4D97-AF65-F5344CB8AC3E}">
        <p14:creationId xmlns:p14="http://schemas.microsoft.com/office/powerpoint/2010/main" val="25744738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변수 선택 기준</a:t>
            </a:r>
            <a:endParaRPr lang="en-US" altLang="ko-KR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8" y="1825625"/>
            <a:ext cx="10278762" cy="34754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ko-KR" altLang="en-US" dirty="0"/>
              <a:t> 변수선택에 사용한 데이터와  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ko-KR" altLang="en-US" dirty="0"/>
              <a:t>성능평가에 사용한 데이터가 달라야 한다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F7E73C2-B8B0-43F4-9948-DB99A9F59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713" y="2851128"/>
            <a:ext cx="5973009" cy="381434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5EBA8E3-E24C-4D05-8B5A-86704B8CD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0238" y="462575"/>
            <a:ext cx="4753638" cy="129558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A4D9205-CF16-4900-84BA-25AE9BDE57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396" y="1926929"/>
            <a:ext cx="4362480" cy="472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1928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변수 선택 기준 </a:t>
            </a:r>
            <a:r>
              <a:rPr lang="en-US" altLang="ko-KR" dirty="0"/>
              <a:t>– </a:t>
            </a:r>
            <a:r>
              <a:rPr lang="ko-KR" altLang="en-US" dirty="0"/>
              <a:t>전진선택법 </a:t>
            </a:r>
            <a:r>
              <a:rPr lang="en-US" altLang="ko-KR" dirty="0"/>
              <a:t>AIC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8" y="1825625"/>
            <a:ext cx="10278762" cy="34754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ko-KR" altLang="en-US" dirty="0" err="1"/>
              <a:t>파이썬에서는</a:t>
            </a:r>
            <a:r>
              <a:rPr lang="ko-KR" altLang="en-US" dirty="0"/>
              <a:t> </a:t>
            </a:r>
            <a:r>
              <a:rPr lang="en-US" altLang="ko-KR" dirty="0"/>
              <a:t>forward selection</a:t>
            </a:r>
            <a:r>
              <a:rPr lang="ko-KR" altLang="en-US" dirty="0"/>
              <a:t> 함수를 직접 만들어야 한다</a:t>
            </a:r>
            <a:r>
              <a:rPr lang="en-US" altLang="ko-KR" dirty="0"/>
              <a:t>.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CBDA1F6-50AF-402F-8A9F-C71F12E82DC8}"/>
              </a:ext>
            </a:extLst>
          </p:cNvPr>
          <p:cNvGrpSpPr/>
          <p:nvPr/>
        </p:nvGrpSpPr>
        <p:grpSpPr>
          <a:xfrm>
            <a:off x="332415" y="2355855"/>
            <a:ext cx="11527171" cy="4440362"/>
            <a:chOff x="512617" y="2355855"/>
            <a:chExt cx="11527171" cy="4440362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7AC0EA6B-3243-4907-9BBA-12C9EBDBD7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2617" y="2355855"/>
              <a:ext cx="5020962" cy="4440362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4A3AEAFA-C9C4-4FFF-9FB1-07076D5B6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57147" y="3713903"/>
              <a:ext cx="6382641" cy="17242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702253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변수 선택 기준 </a:t>
            </a:r>
            <a:r>
              <a:rPr lang="en-US" altLang="ko-KR" dirty="0"/>
              <a:t>– </a:t>
            </a:r>
            <a:r>
              <a:rPr lang="ko-KR" altLang="en-US" dirty="0"/>
              <a:t>전진선택법 </a:t>
            </a:r>
            <a:r>
              <a:rPr lang="en-US" altLang="ko-KR" dirty="0"/>
              <a:t>AIC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8" y="1825625"/>
            <a:ext cx="10278762" cy="34754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ko-KR" altLang="en-US" dirty="0" err="1"/>
              <a:t>파이썬에서는</a:t>
            </a:r>
            <a:r>
              <a:rPr lang="ko-KR" altLang="en-US" dirty="0"/>
              <a:t> </a:t>
            </a:r>
            <a:r>
              <a:rPr lang="en-US" altLang="ko-KR" dirty="0"/>
              <a:t>forward selection</a:t>
            </a:r>
            <a:r>
              <a:rPr lang="ko-KR" altLang="en-US" dirty="0"/>
              <a:t> 함수를 직접 만들어야 한다</a:t>
            </a:r>
            <a:r>
              <a:rPr lang="en-US" altLang="ko-KR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AC0EA6B-3243-4907-9BBA-12C9EBDBD7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7664"/>
          <a:stretch/>
        </p:blipFill>
        <p:spPr>
          <a:xfrm>
            <a:off x="2052845" y="2400250"/>
            <a:ext cx="8086309" cy="44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22931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변수 선택 기준 </a:t>
            </a:r>
            <a:r>
              <a:rPr lang="en-US" altLang="ko-KR" dirty="0"/>
              <a:t>– </a:t>
            </a:r>
            <a:r>
              <a:rPr lang="ko-KR" altLang="en-US" dirty="0"/>
              <a:t>후진선택법 </a:t>
            </a:r>
            <a:r>
              <a:rPr lang="en-US" altLang="ko-KR" dirty="0"/>
              <a:t>AIC, BIC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8" y="1825625"/>
            <a:ext cx="10278762" cy="34754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backward selection</a:t>
            </a:r>
            <a:r>
              <a:rPr lang="ko-KR" altLang="en-US" dirty="0"/>
              <a:t> 함수도 직접 만들어야 한다</a:t>
            </a:r>
            <a:r>
              <a:rPr lang="en-US" altLang="ko-KR" dirty="0"/>
              <a:t>.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4D6E5CE-54CD-449B-8C63-44D7D0F59027}"/>
              </a:ext>
            </a:extLst>
          </p:cNvPr>
          <p:cNvGrpSpPr/>
          <p:nvPr/>
        </p:nvGrpSpPr>
        <p:grpSpPr>
          <a:xfrm>
            <a:off x="504428" y="2320648"/>
            <a:ext cx="11183144" cy="4427383"/>
            <a:chOff x="838200" y="2394789"/>
            <a:chExt cx="11183144" cy="4427383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7ADED50E-33F5-4087-8BD0-FAA795F902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2394789"/>
              <a:ext cx="5094746" cy="4427383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423309BE-6A1F-4ED3-B3EC-E900893D2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32946" y="3070231"/>
              <a:ext cx="6088398" cy="30764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155071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변수 선택 기준 </a:t>
            </a:r>
            <a:r>
              <a:rPr lang="en-US" altLang="ko-KR" dirty="0"/>
              <a:t>– best subset selection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8" y="1825625"/>
            <a:ext cx="10278762" cy="34754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en-US" altLang="ko-KR" dirty="0" err="1"/>
              <a:t>C_p</a:t>
            </a:r>
            <a:r>
              <a:rPr lang="en-US" altLang="ko-KR" dirty="0"/>
              <a:t>, adjusted R^2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ko-KR" altLang="en-US" dirty="0"/>
              <a:t>가능한 모든 변수 조합에서 </a:t>
            </a:r>
            <a:r>
              <a:rPr lang="en-US" altLang="ko-KR" dirty="0"/>
              <a:t>Cp</a:t>
            </a:r>
            <a:r>
              <a:rPr lang="ko-KR" altLang="en-US" dirty="0"/>
              <a:t>와</a:t>
            </a:r>
            <a:r>
              <a:rPr lang="en-US" altLang="ko-KR" dirty="0"/>
              <a:t> adjusted R^2</a:t>
            </a:r>
            <a:r>
              <a:rPr lang="ko-KR" altLang="en-US" dirty="0"/>
              <a:t>를 계산한다</a:t>
            </a:r>
            <a:r>
              <a:rPr lang="en-US" altLang="ko-KR" dirty="0"/>
              <a:t>.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ko-KR" altLang="en-US" dirty="0"/>
              <a:t>어떤 부분집합에서 가장 최적인지 확인한다</a:t>
            </a:r>
            <a:r>
              <a:rPr lang="en-US" altLang="ko-KR" dirty="0"/>
              <a:t>.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1A12484-FCDA-4389-8B87-150C422216E8}"/>
              </a:ext>
            </a:extLst>
          </p:cNvPr>
          <p:cNvGrpSpPr/>
          <p:nvPr/>
        </p:nvGrpSpPr>
        <p:grpSpPr>
          <a:xfrm>
            <a:off x="633142" y="3712605"/>
            <a:ext cx="10925717" cy="2780270"/>
            <a:chOff x="1087986" y="3910914"/>
            <a:chExt cx="10925717" cy="2780270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7954A2FC-2AC9-4D55-AB93-B253FBD2E99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61015" b="-1"/>
            <a:stretch/>
          </p:blipFill>
          <p:spPr>
            <a:xfrm>
              <a:off x="6676767" y="4083239"/>
              <a:ext cx="5336936" cy="2435620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3AB85BA8-38C8-4126-85A5-BFCB59EEAE9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16513" b="38985"/>
            <a:stretch/>
          </p:blipFill>
          <p:spPr>
            <a:xfrm>
              <a:off x="1087986" y="3910914"/>
              <a:ext cx="5336936" cy="27802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845759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최적부분집합 선택 </a:t>
            </a:r>
            <a:r>
              <a:rPr lang="en-US" altLang="ko-KR" dirty="0"/>
              <a:t>– Validation</a:t>
            </a:r>
            <a:r>
              <a:rPr lang="ko-KR" altLang="en-US" dirty="0"/>
              <a:t> </a:t>
            </a:r>
            <a:r>
              <a:rPr lang="en-US" altLang="ko-KR" dirty="0"/>
              <a:t>set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8" y="1825625"/>
            <a:ext cx="10278762" cy="34754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random</a:t>
            </a:r>
            <a:r>
              <a:rPr lang="ko-KR" altLang="en-US" dirty="0"/>
              <a:t>으로 선택된 </a:t>
            </a:r>
            <a:r>
              <a:rPr lang="en-US" altLang="ko-KR" dirty="0"/>
              <a:t>validation set</a:t>
            </a:r>
            <a:r>
              <a:rPr lang="ko-KR" altLang="en-US" dirty="0"/>
              <a:t>으로  변수 선택을 해보자</a:t>
            </a:r>
            <a:r>
              <a:rPr lang="en-US" altLang="ko-KR" dirty="0"/>
              <a:t>.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0735102-4F0B-4F5C-8F87-BE66E2309216}"/>
              </a:ext>
            </a:extLst>
          </p:cNvPr>
          <p:cNvGrpSpPr/>
          <p:nvPr/>
        </p:nvGrpSpPr>
        <p:grpSpPr>
          <a:xfrm>
            <a:off x="257319" y="2311287"/>
            <a:ext cx="11444446" cy="4476739"/>
            <a:chOff x="327147" y="1681934"/>
            <a:chExt cx="11444446" cy="4476739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5770F895-B6F2-462B-A775-FD89D4EDD8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7147" y="2186511"/>
              <a:ext cx="5887272" cy="3467584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12AD530C-7002-4297-8CC5-D61001CAD1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18969" y="1681934"/>
              <a:ext cx="5152624" cy="44767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887993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최적부분집합 선택 </a:t>
            </a:r>
            <a:r>
              <a:rPr lang="en-US" altLang="ko-KR" dirty="0"/>
              <a:t>– Validation</a:t>
            </a:r>
            <a:r>
              <a:rPr lang="ko-KR" altLang="en-US" dirty="0"/>
              <a:t> </a:t>
            </a:r>
            <a:r>
              <a:rPr lang="en-US" altLang="ko-KR" dirty="0"/>
              <a:t>set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8" y="1825625"/>
            <a:ext cx="10278762" cy="34754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validation set</a:t>
            </a:r>
            <a:r>
              <a:rPr lang="ko-KR" altLang="en-US" dirty="0"/>
              <a:t>으로 선택한 최적 부분집합 변수들과 계수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4079F6C-8248-4AAD-A7D7-480221EA2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6292" y="2388538"/>
            <a:ext cx="5739416" cy="434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83667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최적부분집합 선택 </a:t>
            </a:r>
            <a:r>
              <a:rPr lang="en-US" altLang="ko-KR" dirty="0"/>
              <a:t>– Cross-validation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8" y="1825625"/>
            <a:ext cx="10278762" cy="34754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validation set</a:t>
            </a:r>
            <a:r>
              <a:rPr lang="ko-KR" altLang="en-US" dirty="0"/>
              <a:t>을 </a:t>
            </a:r>
            <a:r>
              <a:rPr lang="en-US" altLang="ko-KR" dirty="0"/>
              <a:t>n</a:t>
            </a:r>
            <a:r>
              <a:rPr lang="ko-KR" altLang="en-US" dirty="0"/>
              <a:t>번 나누어 실험하고 </a:t>
            </a:r>
            <a:r>
              <a:rPr lang="en-US" altLang="ko-KR" dirty="0"/>
              <a:t>MSE </a:t>
            </a:r>
            <a:r>
              <a:rPr lang="ko-KR" altLang="en-US" dirty="0"/>
              <a:t>평균이 낮은 변수 개수를 선택한다</a:t>
            </a:r>
            <a:r>
              <a:rPr lang="en-US" altLang="ko-KR" dirty="0"/>
              <a:t>.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555FE91B-9313-48A7-8ED7-1CA57ED5A1B3}"/>
              </a:ext>
            </a:extLst>
          </p:cNvPr>
          <p:cNvGrpSpPr/>
          <p:nvPr/>
        </p:nvGrpSpPr>
        <p:grpSpPr>
          <a:xfrm>
            <a:off x="1044815" y="2783660"/>
            <a:ext cx="10102370" cy="3857330"/>
            <a:chOff x="1080689" y="2415141"/>
            <a:chExt cx="10102370" cy="3857330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9624903-AE08-427A-8F12-2EB28BB4BF5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12494"/>
            <a:stretch/>
          </p:blipFill>
          <p:spPr>
            <a:xfrm>
              <a:off x="1080689" y="2415141"/>
              <a:ext cx="4849767" cy="3857330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2530D897-0B06-44BD-BB26-ED981F8089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43684" y="3091975"/>
              <a:ext cx="4839375" cy="19528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8055031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변수선택 방법들의 비교</a:t>
            </a:r>
            <a:endParaRPr lang="en-US" altLang="ko-KR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그룹 5">
            <a:extLst>
              <a:ext uri="{FF2B5EF4-FFF2-40B4-BE49-F238E27FC236}">
                <a16:creationId xmlns:a16="http://schemas.microsoft.com/office/drawing/2014/main" id="{929D174E-0799-4E5E-A05E-91D5154584F7}"/>
              </a:ext>
            </a:extLst>
          </p:cNvPr>
          <p:cNvGrpSpPr/>
          <p:nvPr/>
        </p:nvGrpSpPr>
        <p:grpSpPr>
          <a:xfrm>
            <a:off x="590827" y="1690688"/>
            <a:ext cx="11010346" cy="5048250"/>
            <a:chOff x="838200" y="1690688"/>
            <a:chExt cx="11010346" cy="5048250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E106C970-D903-480F-970A-02BD8C769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1690688"/>
              <a:ext cx="5524500" cy="5048250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3472CC47-BD4F-49A3-8B69-85209AA5A3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99538" y="2642969"/>
              <a:ext cx="5249008" cy="31436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246745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ea"/>
              </a:rPr>
              <a:t>실습</a:t>
            </a:r>
            <a:r>
              <a:rPr lang="en-US" altLang="ko-KR" dirty="0">
                <a:latin typeface="+mj-ea"/>
              </a:rPr>
              <a:t>1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4B5206E2-DC4D-484B-B762-4B9F7A5ECD80}"/>
              </a:ext>
            </a:extLst>
          </p:cNvPr>
          <p:cNvSpPr txBox="1">
            <a:spLocks/>
          </p:cNvSpPr>
          <p:nvPr/>
        </p:nvSpPr>
        <p:spPr>
          <a:xfrm>
            <a:off x="1075037" y="1825625"/>
            <a:ext cx="10515601" cy="3475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ko-KR" altLang="en-US" dirty="0"/>
              <a:t>다음의 세 가지 데이터세트에서 변수 선택법 중 하나를 골라 변수를 </a:t>
            </a:r>
            <a:r>
              <a:rPr lang="ko-KR" altLang="en-US" dirty="0" err="1"/>
              <a:t>선택하시오</a:t>
            </a:r>
            <a:r>
              <a:rPr lang="en-US" altLang="ko-KR" dirty="0"/>
              <a:t>.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ko-KR" altLang="en-US" dirty="0"/>
              <a:t>선택한 변수를 사용하여 반응변수를 예측하고 성능을 </a:t>
            </a:r>
            <a:r>
              <a:rPr lang="ko-KR" altLang="en-US" dirty="0" err="1"/>
              <a:t>평가하시오</a:t>
            </a:r>
            <a:r>
              <a:rPr lang="en-US" altLang="ko-KR" dirty="0"/>
              <a:t>.(accuracy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ko-KR" altLang="en-US" dirty="0"/>
              <a:t>범주형 변수는 </a:t>
            </a:r>
            <a:r>
              <a:rPr lang="ko-KR" altLang="en-US" dirty="0" err="1"/>
              <a:t>원핫인코딩으로</a:t>
            </a:r>
            <a:r>
              <a:rPr lang="ko-KR" altLang="en-US" dirty="0"/>
              <a:t> </a:t>
            </a:r>
            <a:r>
              <a:rPr lang="ko-KR" altLang="en-US" dirty="0" err="1"/>
              <a:t>처리하시오</a:t>
            </a:r>
            <a:r>
              <a:rPr lang="en-US" altLang="ko-KR" dirty="0"/>
              <a:t>.(</a:t>
            </a:r>
            <a:r>
              <a:rPr lang="en-US" altLang="ko-KR" dirty="0" err="1"/>
              <a:t>pd.dummies</a:t>
            </a:r>
            <a:r>
              <a:rPr lang="en-US" altLang="ko-KR" dirty="0"/>
              <a:t>())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0D3844C7-379C-4E4A-9A54-DB290E95F65A}"/>
              </a:ext>
            </a:extLst>
          </p:cNvPr>
          <p:cNvGrpSpPr>
            <a:grpSpLocks noChangeAspect="1"/>
          </p:cNvGrpSpPr>
          <p:nvPr/>
        </p:nvGrpSpPr>
        <p:grpSpPr>
          <a:xfrm>
            <a:off x="322902" y="4279133"/>
            <a:ext cx="11546196" cy="2043831"/>
            <a:chOff x="382535" y="3725920"/>
            <a:chExt cx="12700815" cy="2248214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5B6C0155-FC1B-40E0-B914-4E2D9D2380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2535" y="3725920"/>
              <a:ext cx="3829584" cy="2248214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E96C8F27-2F82-4924-8D4C-C88C996986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75201" y="3725920"/>
              <a:ext cx="3715269" cy="1876687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5ECF85E9-16E5-43B7-9F54-53962B7C00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53554" y="3725920"/>
              <a:ext cx="4629796" cy="21720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426997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로지스틱 회귀모형</a:t>
            </a:r>
            <a:endParaRPr lang="en-US" altLang="ko-KR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31AD806C-A8CA-4359-86CD-5B2D41636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38" y="1690688"/>
            <a:ext cx="7871746" cy="305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11473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로지스틱 회귀모형 </a:t>
            </a:r>
            <a:r>
              <a:rPr lang="en-US" altLang="ko-KR" dirty="0"/>
              <a:t>– </a:t>
            </a:r>
            <a:r>
              <a:rPr lang="en-US" altLang="ko-KR" dirty="0" err="1"/>
              <a:t>german</a:t>
            </a:r>
            <a:r>
              <a:rPr lang="ko-KR" altLang="en-US" dirty="0"/>
              <a:t> </a:t>
            </a:r>
            <a:r>
              <a:rPr lang="en-US" altLang="ko-KR" dirty="0"/>
              <a:t>dataset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BC5B7BB8-6BBC-4A62-B20A-F87BDF985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38" y="1690688"/>
            <a:ext cx="7849790" cy="253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68910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로지스틱 회귀모형 </a:t>
            </a:r>
            <a:r>
              <a:rPr lang="en-US" altLang="ko-KR" dirty="0"/>
              <a:t>– </a:t>
            </a:r>
            <a:r>
              <a:rPr lang="en-US" altLang="ko-KR" dirty="0" err="1"/>
              <a:t>german</a:t>
            </a:r>
            <a:r>
              <a:rPr lang="ko-KR" altLang="en-US" dirty="0"/>
              <a:t> </a:t>
            </a:r>
            <a:r>
              <a:rPr lang="en-US" altLang="ko-KR" dirty="0"/>
              <a:t>dataset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8" y="1825625"/>
            <a:ext cx="10278762" cy="34754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ko-KR" altLang="en-US" dirty="0"/>
              <a:t>로지스틱 회귀모형의 반응변수는 </a:t>
            </a:r>
            <a:r>
              <a:rPr lang="en-US" altLang="ko-KR" dirty="0"/>
              <a:t>0</a:t>
            </a:r>
            <a:r>
              <a:rPr lang="ko-KR" altLang="en-US" dirty="0"/>
              <a:t>과 </a:t>
            </a:r>
            <a:r>
              <a:rPr lang="en-US" altLang="ko-KR" dirty="0"/>
              <a:t>1</a:t>
            </a:r>
            <a:r>
              <a:rPr lang="ko-KR" altLang="en-US" dirty="0"/>
              <a:t>사이의 값이므로 이진분류 문제에 적합하다</a:t>
            </a:r>
            <a:r>
              <a:rPr lang="en-US" altLang="ko-KR" dirty="0"/>
              <a:t>.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ko-KR" altLang="en-US" dirty="0"/>
              <a:t>이 데이터세트로는 대출이 적합한지 아닌지 여부를 예측할 수 있다</a:t>
            </a:r>
            <a:r>
              <a:rPr lang="en-US" altLang="ko-KR" dirty="0"/>
              <a:t>.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E63BF39-F960-47DC-A303-463523879235}"/>
              </a:ext>
            </a:extLst>
          </p:cNvPr>
          <p:cNvGrpSpPr/>
          <p:nvPr/>
        </p:nvGrpSpPr>
        <p:grpSpPr>
          <a:xfrm>
            <a:off x="371553" y="3269314"/>
            <a:ext cx="10571564" cy="3475416"/>
            <a:chOff x="489972" y="3269314"/>
            <a:chExt cx="10571564" cy="3475416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41BF9A15-9122-475D-9975-D8A495EEA80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49323"/>
            <a:stretch/>
          </p:blipFill>
          <p:spPr>
            <a:xfrm>
              <a:off x="489972" y="3269314"/>
              <a:ext cx="5724447" cy="3475416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CCBD4A8-397B-4C32-A25E-0A546E4023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50751"/>
            <a:stretch/>
          </p:blipFill>
          <p:spPr>
            <a:xfrm>
              <a:off x="5337089" y="3317754"/>
              <a:ext cx="5724447" cy="3377514"/>
            </a:xfrm>
            <a:prstGeom prst="rect">
              <a:avLst/>
            </a:prstGeom>
          </p:spPr>
        </p:pic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2DC6F95E-BA81-4E29-B9D3-ACDA1DED0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6470" y="3801941"/>
            <a:ext cx="1414659" cy="2410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52930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로지스틱 회귀모형 </a:t>
            </a:r>
            <a:r>
              <a:rPr lang="en-US" altLang="ko-KR" dirty="0"/>
              <a:t>– </a:t>
            </a:r>
            <a:r>
              <a:rPr lang="en-US" altLang="ko-KR" dirty="0" err="1"/>
              <a:t>german</a:t>
            </a:r>
            <a:r>
              <a:rPr lang="ko-KR" altLang="en-US" dirty="0"/>
              <a:t> </a:t>
            </a:r>
            <a:r>
              <a:rPr lang="en-US" altLang="ko-KR" dirty="0"/>
              <a:t>dataset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8" y="1825625"/>
            <a:ext cx="10278762" cy="34754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logistic regression </a:t>
            </a:r>
            <a:r>
              <a:rPr lang="ko-KR" altLang="en-US" dirty="0"/>
              <a:t>함수 사용하기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en-US" altLang="ko-KR" dirty="0" err="1"/>
              <a:t>pd.get_dummies</a:t>
            </a:r>
            <a:r>
              <a:rPr lang="en-US" altLang="ko-KR" dirty="0"/>
              <a:t>: </a:t>
            </a:r>
            <a:r>
              <a:rPr lang="ko-KR" altLang="en-US" dirty="0"/>
              <a:t>범주형 변수 인코딩하기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en-US" altLang="ko-KR" dirty="0" err="1"/>
              <a:t>StandardScaler</a:t>
            </a:r>
            <a:r>
              <a:rPr lang="en-US" altLang="ko-KR" dirty="0"/>
              <a:t>(): </a:t>
            </a:r>
            <a:r>
              <a:rPr lang="ko-KR" altLang="en-US" dirty="0"/>
              <a:t>연속형 변수 표준화하기</a:t>
            </a:r>
            <a:r>
              <a:rPr lang="en-US" altLang="ko-KR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E3D4795-3052-4832-93BD-A458DF793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178" y="3429000"/>
            <a:ext cx="8735644" cy="327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45625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로지스틱 회귀모형 </a:t>
            </a:r>
            <a:r>
              <a:rPr lang="en-US" altLang="ko-KR" dirty="0"/>
              <a:t>– </a:t>
            </a:r>
            <a:r>
              <a:rPr lang="en-US" altLang="ko-KR" dirty="0" err="1"/>
              <a:t>german</a:t>
            </a:r>
            <a:r>
              <a:rPr lang="ko-KR" altLang="en-US" dirty="0"/>
              <a:t> </a:t>
            </a:r>
            <a:r>
              <a:rPr lang="en-US" altLang="ko-KR" dirty="0"/>
              <a:t>dataset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8" y="1825625"/>
            <a:ext cx="10278762" cy="34754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ko-KR" dirty="0">
                <a:latin typeface="+mn-ea"/>
              </a:rPr>
              <a:t> Confusion Matrix: </a:t>
            </a:r>
            <a:r>
              <a:rPr lang="ko-KR" altLang="en-US" dirty="0">
                <a:latin typeface="+mn-ea"/>
              </a:rPr>
              <a:t>행렬 형태로 실제 클래스와 예측 클래스의 분포를 나타내는 표입니다</a:t>
            </a:r>
            <a:endParaRPr lang="en-US" altLang="ko-KR" dirty="0">
              <a:latin typeface="+mn-ea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9097EC1-2FE4-463E-B53A-14DEFE132F91}"/>
              </a:ext>
            </a:extLst>
          </p:cNvPr>
          <p:cNvGrpSpPr/>
          <p:nvPr/>
        </p:nvGrpSpPr>
        <p:grpSpPr>
          <a:xfrm>
            <a:off x="1472198" y="3563337"/>
            <a:ext cx="9247603" cy="3095625"/>
            <a:chOff x="1780660" y="3429000"/>
            <a:chExt cx="9247603" cy="3095625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FC98CA9-10C0-49EC-8192-4165B0F1DE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80660" y="3429000"/>
              <a:ext cx="4552950" cy="3095625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6BBF852B-F1C6-4787-A007-B2CD543B11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59145" y="3546633"/>
              <a:ext cx="4369118" cy="2860358"/>
            </a:xfrm>
            <a:prstGeom prst="rect">
              <a:avLst/>
            </a:prstGeom>
          </p:spPr>
        </p:pic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C412E971-36EA-48D7-B8FE-7CF16759F9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2551" y="2299897"/>
            <a:ext cx="2818141" cy="252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70581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로지스틱 회귀모형 </a:t>
            </a:r>
            <a:r>
              <a:rPr lang="en-US" altLang="ko-KR" dirty="0"/>
              <a:t>– </a:t>
            </a:r>
            <a:r>
              <a:rPr lang="en-US" altLang="ko-KR" dirty="0" err="1"/>
              <a:t>german</a:t>
            </a:r>
            <a:r>
              <a:rPr lang="ko-KR" altLang="en-US" dirty="0"/>
              <a:t> </a:t>
            </a:r>
            <a:r>
              <a:rPr lang="en-US" altLang="ko-KR" dirty="0"/>
              <a:t>dataset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8" y="1825624"/>
            <a:ext cx="10278762" cy="427861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ko-KR" dirty="0">
                <a:latin typeface="+mn-ea"/>
              </a:rPr>
              <a:t> Confusion Matrix: </a:t>
            </a:r>
            <a:r>
              <a:rPr lang="ko-KR" altLang="en-US" dirty="0">
                <a:latin typeface="+mn-ea"/>
              </a:rPr>
              <a:t>행렬 형태로 실제 클래스와 예측 클래스의 분포를 나타내는 표</a:t>
            </a:r>
            <a:endParaRPr lang="en-US" altLang="ko-KR" dirty="0">
              <a:latin typeface="+mn-ea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>
                <a:latin typeface="+mn-ea"/>
              </a:rPr>
              <a:t> Precision: </a:t>
            </a:r>
            <a:r>
              <a:rPr lang="ko-KR" altLang="en-US" dirty="0">
                <a:latin typeface="+mn-ea"/>
              </a:rPr>
              <a:t>양성으로 예측한 사례 중 실제로 양성인 비율</a:t>
            </a:r>
            <a:endParaRPr lang="en-US" altLang="ko-KR" dirty="0">
              <a:latin typeface="+mn-ea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>
                <a:latin typeface="+mn-ea"/>
              </a:rPr>
              <a:t> Recall: </a:t>
            </a:r>
            <a:r>
              <a:rPr lang="ko-KR" altLang="en-US" dirty="0">
                <a:latin typeface="+mn-ea"/>
              </a:rPr>
              <a:t>실제 양성 사례 중 모형이 양성으로 올바르게 예측한 비율</a:t>
            </a:r>
            <a:endParaRPr lang="en-US" altLang="ko-KR" dirty="0">
              <a:latin typeface="+mn-ea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>
                <a:latin typeface="+mn-ea"/>
              </a:rPr>
              <a:t> F1-Score: Precision</a:t>
            </a:r>
            <a:r>
              <a:rPr lang="ko-KR" altLang="en-US" dirty="0">
                <a:latin typeface="+mn-ea"/>
              </a:rPr>
              <a:t>과 </a:t>
            </a:r>
            <a:r>
              <a:rPr lang="en-US" altLang="ko-KR" dirty="0">
                <a:latin typeface="+mn-ea"/>
              </a:rPr>
              <a:t>Recall</a:t>
            </a:r>
            <a:r>
              <a:rPr lang="ko-KR" altLang="en-US" dirty="0">
                <a:latin typeface="+mn-ea"/>
              </a:rPr>
              <a:t>의 조화평균으로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두 지표 간의 </a:t>
            </a:r>
            <a:r>
              <a:rPr lang="en-US" altLang="ko-KR" dirty="0">
                <a:latin typeface="+mn-ea"/>
              </a:rPr>
              <a:t>trade-off</a:t>
            </a:r>
            <a:r>
              <a:rPr lang="ko-KR" altLang="en-US" dirty="0">
                <a:latin typeface="+mn-ea"/>
              </a:rPr>
              <a:t>를 고려한 성능지표</a:t>
            </a:r>
            <a:endParaRPr lang="en-US" altLang="ko-KR" dirty="0">
              <a:latin typeface="+mn-ea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>
                <a:latin typeface="+mn-ea"/>
              </a:rPr>
              <a:t> Support: </a:t>
            </a:r>
            <a:r>
              <a:rPr lang="ko-KR" altLang="en-US" dirty="0">
                <a:latin typeface="+mn-ea"/>
              </a:rPr>
              <a:t>각 클래스에 속하는 실제 샘플의 수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7283225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로지스틱 회귀모형 </a:t>
            </a:r>
            <a:r>
              <a:rPr lang="en-US" altLang="ko-KR" dirty="0"/>
              <a:t>– </a:t>
            </a:r>
            <a:r>
              <a:rPr lang="en-US" altLang="ko-KR" dirty="0" err="1"/>
              <a:t>german</a:t>
            </a:r>
            <a:r>
              <a:rPr lang="ko-KR" altLang="en-US" dirty="0"/>
              <a:t> </a:t>
            </a:r>
            <a:r>
              <a:rPr lang="en-US" altLang="ko-KR" dirty="0"/>
              <a:t>dataset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8" y="1825625"/>
            <a:ext cx="10278762" cy="34754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GLM</a:t>
            </a:r>
            <a:r>
              <a:rPr lang="ko-KR" altLang="en-US" dirty="0"/>
              <a:t> 모형에서 </a:t>
            </a:r>
            <a:r>
              <a:rPr lang="en-US" altLang="ko-KR" dirty="0"/>
              <a:t>family</a:t>
            </a:r>
            <a:r>
              <a:rPr lang="ko-KR" altLang="en-US" dirty="0"/>
              <a:t>로 </a:t>
            </a:r>
            <a:r>
              <a:rPr lang="en-US" altLang="ko-KR" dirty="0"/>
              <a:t>binomial </a:t>
            </a:r>
            <a:r>
              <a:rPr lang="ko-KR" altLang="en-US" dirty="0"/>
              <a:t>사용하기</a:t>
            </a: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F371A9C-F3CB-47AB-817D-E17FF9413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488" y="2415146"/>
            <a:ext cx="5863023" cy="418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35613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로지스틱 회귀모형 </a:t>
            </a:r>
            <a:r>
              <a:rPr lang="en-US" altLang="ko-KR" dirty="0"/>
              <a:t>– </a:t>
            </a:r>
            <a:r>
              <a:rPr lang="en-US" altLang="ko-KR" dirty="0" err="1"/>
              <a:t>german</a:t>
            </a:r>
            <a:r>
              <a:rPr lang="ko-KR" altLang="en-US" dirty="0"/>
              <a:t> </a:t>
            </a:r>
            <a:r>
              <a:rPr lang="en-US" altLang="ko-KR" dirty="0"/>
              <a:t>dataset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A5DA5046-8BD7-4358-B758-18C145377D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5585"/>
          <a:stretch/>
        </p:blipFill>
        <p:spPr>
          <a:xfrm>
            <a:off x="2165609" y="1690688"/>
            <a:ext cx="7860781" cy="5103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62883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로지스틱 회귀모형 </a:t>
            </a:r>
            <a:r>
              <a:rPr lang="en-US" altLang="ko-KR" dirty="0"/>
              <a:t>– </a:t>
            </a:r>
            <a:r>
              <a:rPr lang="en-US" altLang="ko-KR" dirty="0" err="1"/>
              <a:t>german</a:t>
            </a:r>
            <a:r>
              <a:rPr lang="ko-KR" altLang="en-US" dirty="0"/>
              <a:t> </a:t>
            </a:r>
            <a:r>
              <a:rPr lang="en-US" altLang="ko-KR" dirty="0"/>
              <a:t>dataset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A5DA5046-8BD7-4358-B758-18C145377D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131" r="26945" b="25585"/>
          <a:stretch/>
        </p:blipFill>
        <p:spPr>
          <a:xfrm>
            <a:off x="2274222" y="1690688"/>
            <a:ext cx="7643555" cy="5046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52638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로지스틱 회귀모형 </a:t>
            </a:r>
            <a:r>
              <a:rPr lang="en-US" altLang="ko-KR" dirty="0"/>
              <a:t>– </a:t>
            </a:r>
            <a:r>
              <a:rPr lang="en-US" altLang="ko-KR" dirty="0" err="1"/>
              <a:t>german</a:t>
            </a:r>
            <a:r>
              <a:rPr lang="ko-KR" altLang="en-US" dirty="0"/>
              <a:t> </a:t>
            </a:r>
            <a:r>
              <a:rPr lang="en-US" altLang="ko-KR" dirty="0"/>
              <a:t>dataset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8" y="1825625"/>
            <a:ext cx="10278762" cy="503237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ko-KR" dirty="0">
                <a:latin typeface="+mn-ea"/>
              </a:rPr>
              <a:t> Dep. Variable: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['class_[0]', 'class_[1]’] </a:t>
            </a:r>
            <a:r>
              <a:rPr lang="ko-KR" altLang="en-US" dirty="0">
                <a:latin typeface="+mn-ea"/>
              </a:rPr>
              <a:t>이진분류</a:t>
            </a:r>
            <a:endParaRPr lang="en-US" altLang="ko-KR" dirty="0">
              <a:latin typeface="+mn-ea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모형 </a:t>
            </a:r>
            <a:r>
              <a:rPr lang="en-US" altLang="ko-KR" dirty="0">
                <a:latin typeface="+mn-ea"/>
              </a:rPr>
              <a:t>Family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-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Binomial, Link Function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-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Logit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>
                <a:latin typeface="+mn-ea"/>
              </a:rPr>
              <a:t> IRLS </a:t>
            </a:r>
            <a:r>
              <a:rPr lang="ko-KR" altLang="en-US" dirty="0">
                <a:latin typeface="+mn-ea"/>
              </a:rPr>
              <a:t>방법을 사용해 </a:t>
            </a:r>
            <a:r>
              <a:rPr lang="en-US" altLang="ko-KR" dirty="0">
                <a:latin typeface="+mn-ea"/>
              </a:rPr>
              <a:t>25</a:t>
            </a:r>
            <a:r>
              <a:rPr lang="ko-KR" altLang="en-US" dirty="0">
                <a:latin typeface="+mn-ea"/>
              </a:rPr>
              <a:t>회의 반복 후 수렴한 결과</a:t>
            </a:r>
            <a:endParaRPr lang="en-US" altLang="ko-KR" dirty="0">
              <a:latin typeface="+mn-ea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>
                <a:latin typeface="+mn-ea"/>
              </a:rPr>
              <a:t> Intercept</a:t>
            </a:r>
            <a:r>
              <a:rPr lang="ko-KR" altLang="en-US" dirty="0">
                <a:latin typeface="+mn-ea"/>
              </a:rPr>
              <a:t>의 계수</a:t>
            </a:r>
            <a:r>
              <a:rPr lang="en-US" altLang="ko-KR" dirty="0">
                <a:latin typeface="+mn-ea"/>
              </a:rPr>
              <a:t>:</a:t>
            </a:r>
            <a:r>
              <a:rPr lang="ko-KR" altLang="en-US" dirty="0">
                <a:latin typeface="+mn-ea"/>
              </a:rPr>
              <a:t> 모든 설명변수가 </a:t>
            </a:r>
            <a:r>
              <a:rPr lang="en-US" altLang="ko-KR" dirty="0">
                <a:latin typeface="+mn-ea"/>
              </a:rPr>
              <a:t>0</a:t>
            </a:r>
            <a:r>
              <a:rPr lang="ko-KR" altLang="en-US" dirty="0">
                <a:latin typeface="+mn-ea"/>
              </a:rPr>
              <a:t>일 때의 로그 </a:t>
            </a:r>
            <a:endParaRPr lang="en-US" altLang="ko-KR" dirty="0">
              <a:latin typeface="+mn-ea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각 설명변수의 계수</a:t>
            </a:r>
            <a:r>
              <a:rPr lang="en-US" altLang="ko-KR" dirty="0">
                <a:latin typeface="+mn-ea"/>
              </a:rPr>
              <a:t>:</a:t>
            </a:r>
            <a:r>
              <a:rPr lang="ko-KR" altLang="en-US" dirty="0">
                <a:latin typeface="+mn-ea"/>
              </a:rPr>
              <a:t> 기준 범주에 비해 해당 범주의 로그 오즈 변화량</a:t>
            </a:r>
            <a:endParaRPr lang="en-US" altLang="ko-KR" dirty="0">
              <a:latin typeface="+mn-ea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>
                <a:latin typeface="+mn-ea"/>
              </a:rPr>
              <a:t> Pseudo R-</a:t>
            </a:r>
            <a:r>
              <a:rPr lang="en-US" altLang="ko-KR" dirty="0" err="1">
                <a:latin typeface="+mn-ea"/>
              </a:rPr>
              <a:t>squ</a:t>
            </a:r>
            <a:r>
              <a:rPr lang="en-US" altLang="ko-KR" dirty="0">
                <a:latin typeface="+mn-ea"/>
              </a:rPr>
              <a:t>. (CS): </a:t>
            </a:r>
            <a:r>
              <a:rPr lang="ko-KR" altLang="en-US" dirty="0">
                <a:latin typeface="+mn-ea"/>
              </a:rPr>
              <a:t>모형의 설명력</a:t>
            </a:r>
            <a:endParaRPr lang="en-US" altLang="ko-KR" dirty="0">
              <a:latin typeface="+mn-ea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en-US" altLang="ko-KR" dirty="0">
                <a:latin typeface="+mn-ea"/>
              </a:rPr>
              <a:t> Log-Likelihood, Deviance, Pearson chi2: </a:t>
            </a:r>
            <a:r>
              <a:rPr lang="ko-KR" altLang="en-US" dirty="0">
                <a:latin typeface="+mn-ea"/>
              </a:rPr>
              <a:t>모형의 적합도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1481764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94454-2708-42D8-8705-0156B592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ea"/>
              </a:rPr>
              <a:t>실습</a:t>
            </a:r>
            <a:r>
              <a:rPr lang="en-US" altLang="ko-KR" dirty="0">
                <a:latin typeface="+mj-ea"/>
              </a:rPr>
              <a:t>2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B7E91-BB51-4A8A-9718-142BDA70AC5C}"/>
              </a:ext>
            </a:extLst>
          </p:cNvPr>
          <p:cNvCxnSpPr/>
          <p:nvPr/>
        </p:nvCxnSpPr>
        <p:spPr>
          <a:xfrm>
            <a:off x="838200" y="1458097"/>
            <a:ext cx="291825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319FF0-5B2D-4260-86AC-6177CD7AE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38" y="1825625"/>
            <a:ext cx="10278762" cy="347542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ko-KR" dirty="0"/>
              <a:t> </a:t>
            </a:r>
            <a:r>
              <a:rPr lang="ko-KR" altLang="en-US" dirty="0"/>
              <a:t>다음의 유방암 데이터세트를 활용하여 두 가지 방식으로 로지스틱 회귀 모형에 </a:t>
            </a:r>
            <a:r>
              <a:rPr lang="ko-KR" altLang="en-US" dirty="0" err="1"/>
              <a:t>적합하시오</a:t>
            </a:r>
            <a:r>
              <a:rPr lang="en-US" altLang="ko-KR" dirty="0"/>
              <a:t>.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ko-KR" altLang="en-US" dirty="0"/>
              <a:t> 성능을 평가하고 모형의 적합성을 </a:t>
            </a:r>
            <a:r>
              <a:rPr lang="ko-KR" altLang="en-US" dirty="0" err="1"/>
              <a:t>평가하시오</a:t>
            </a:r>
            <a:r>
              <a:rPr lang="en-US" altLang="ko-KR" dirty="0"/>
              <a:t>.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665FDA0-50D1-4D2F-9053-7F6907259475}"/>
              </a:ext>
            </a:extLst>
          </p:cNvPr>
          <p:cNvGrpSpPr/>
          <p:nvPr/>
        </p:nvGrpSpPr>
        <p:grpSpPr>
          <a:xfrm>
            <a:off x="2362052" y="3555614"/>
            <a:ext cx="7467896" cy="2937261"/>
            <a:chOff x="1309817" y="4058595"/>
            <a:chExt cx="7467896" cy="2937261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30134D4A-2E98-47B5-A354-53E1C08E23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53342" y="4058595"/>
              <a:ext cx="2124371" cy="924054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64D0BEAF-7BA0-4274-A4D9-57F94C3B20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60470"/>
            <a:stretch/>
          </p:blipFill>
          <p:spPr>
            <a:xfrm>
              <a:off x="1309817" y="4058595"/>
              <a:ext cx="5343525" cy="1637871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CCB49040-15BC-49AF-8536-EA85B5FF01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68639"/>
            <a:stretch/>
          </p:blipFill>
          <p:spPr>
            <a:xfrm>
              <a:off x="1309817" y="5696466"/>
              <a:ext cx="5343525" cy="12993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11456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4">
      <a:majorFont>
        <a:latin typeface="나눔스퀘어OTF ExtraBold"/>
        <a:ea typeface="나눔스퀘어OTF_ac ExtraBold"/>
        <a:cs typeface=""/>
      </a:majorFont>
      <a:minorFont>
        <a:latin typeface="나눔스퀘어OTF"/>
        <a:ea typeface="나눔스퀘어OTF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2624</TotalTime>
  <Words>1656</Words>
  <Application>Microsoft Office PowerPoint</Application>
  <PresentationFormat>와이드스크린</PresentationFormat>
  <Paragraphs>243</Paragraphs>
  <Slides>67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67</vt:i4>
      </vt:variant>
    </vt:vector>
  </HeadingPairs>
  <TitlesOfParts>
    <vt:vector size="73" baseType="lpstr">
      <vt:lpstr>Arial</vt:lpstr>
      <vt:lpstr>나눔스퀘어OTF ExtraBold</vt:lpstr>
      <vt:lpstr>Wingdings</vt:lpstr>
      <vt:lpstr>나눔스퀘어OTF</vt:lpstr>
      <vt:lpstr>Cambria Math</vt:lpstr>
      <vt:lpstr>Office 테마</vt:lpstr>
      <vt:lpstr>우리금융 실습 1주차</vt:lpstr>
      <vt:lpstr>목차</vt:lpstr>
      <vt:lpstr>패키지 설치</vt:lpstr>
      <vt:lpstr>패키지 설치</vt:lpstr>
      <vt:lpstr>분포</vt:lpstr>
      <vt:lpstr>분포</vt:lpstr>
      <vt:lpstr>분포</vt:lpstr>
      <vt:lpstr>분포 – 자료의 특성</vt:lpstr>
      <vt:lpstr>분포 – 자료의 특성</vt:lpstr>
      <vt:lpstr>분포 – 자료의 특성</vt:lpstr>
      <vt:lpstr>분포 – 그래프를 이용한 분석</vt:lpstr>
      <vt:lpstr>분포 – 그래프를 이용한 분석</vt:lpstr>
      <vt:lpstr>분포 – 그래프를 이용한 분석</vt:lpstr>
      <vt:lpstr>제어구문</vt:lpstr>
      <vt:lpstr>제어구문 - 반복실행</vt:lpstr>
      <vt:lpstr>사용자 정의 함수</vt:lpstr>
      <vt:lpstr>사용자 정의 함수</vt:lpstr>
      <vt:lpstr>사용자 정의 함수</vt:lpstr>
      <vt:lpstr>실습</vt:lpstr>
      <vt:lpstr>두 표본 t-검정</vt:lpstr>
      <vt:lpstr>두 표본 t-검정</vt:lpstr>
      <vt:lpstr>실습</vt:lpstr>
      <vt:lpstr>단순선형회귀모형</vt:lpstr>
      <vt:lpstr>단순선형회귀모형의 가정</vt:lpstr>
      <vt:lpstr>단순선형회귀모형 - macrodata</vt:lpstr>
      <vt:lpstr>단순선형회귀모형 - macrodata</vt:lpstr>
      <vt:lpstr>단순선형회귀모형</vt:lpstr>
      <vt:lpstr>단순선형회귀모형</vt:lpstr>
      <vt:lpstr>단순선형회귀모형 </vt:lpstr>
      <vt:lpstr>단순선형회귀모형 </vt:lpstr>
      <vt:lpstr>단순선형회귀모형 </vt:lpstr>
      <vt:lpstr>단순선형회귀모형 - 잔차분석 </vt:lpstr>
      <vt:lpstr>단순선형회귀모형 - 잔차분석 </vt:lpstr>
      <vt:lpstr>단순선형회귀모형 – 이상점과 영향점 </vt:lpstr>
      <vt:lpstr>단순선형회귀모형 – 이상점과 영향점 </vt:lpstr>
      <vt:lpstr>단순선형회귀모형 – 이상점과 영향점 </vt:lpstr>
      <vt:lpstr>단순선형회귀모형 – 이상점과 영향점 </vt:lpstr>
      <vt:lpstr>단순선형회귀모형 – 잔차의 정규성</vt:lpstr>
      <vt:lpstr>단순선형회귀모형 – 유의성 검정</vt:lpstr>
      <vt:lpstr>단순선형회귀모형 – 유의성 검정</vt:lpstr>
      <vt:lpstr>단순선형회귀모형 – 회귀계수의 신뢰구간</vt:lpstr>
      <vt:lpstr>단순선형회귀모형 – 평균반응</vt:lpstr>
      <vt:lpstr>단순선형회귀모형 – 실습</vt:lpstr>
      <vt:lpstr>선형회귀모형의 변수 선택</vt:lpstr>
      <vt:lpstr>변수 선택 기준</vt:lpstr>
      <vt:lpstr>macrodata</vt:lpstr>
      <vt:lpstr>변수 선택 기준</vt:lpstr>
      <vt:lpstr>변수 선택 기준 – 전진선택법 AIC</vt:lpstr>
      <vt:lpstr>변수 선택 기준 – 전진선택법 AIC</vt:lpstr>
      <vt:lpstr>변수 선택 기준 – 후진선택법 AIC, BIC</vt:lpstr>
      <vt:lpstr>변수 선택 기준 – best subset selection</vt:lpstr>
      <vt:lpstr>최적부분집합 선택 – Validation set</vt:lpstr>
      <vt:lpstr>최적부분집합 선택 – Validation set</vt:lpstr>
      <vt:lpstr>최적부분집합 선택 – Cross-validation</vt:lpstr>
      <vt:lpstr>변수선택 방법들의 비교</vt:lpstr>
      <vt:lpstr>실습1</vt:lpstr>
      <vt:lpstr>로지스틱 회귀모형</vt:lpstr>
      <vt:lpstr>로지스틱 회귀모형 – german dataset</vt:lpstr>
      <vt:lpstr>로지스틱 회귀모형 – german dataset</vt:lpstr>
      <vt:lpstr>로지스틱 회귀모형 – german dataset</vt:lpstr>
      <vt:lpstr>로지스틱 회귀모형 – german dataset</vt:lpstr>
      <vt:lpstr>로지스틱 회귀모형 – german dataset</vt:lpstr>
      <vt:lpstr>로지스틱 회귀모형 – german dataset</vt:lpstr>
      <vt:lpstr>로지스틱 회귀모형 – german dataset</vt:lpstr>
      <vt:lpstr>로지스틱 회귀모형 – german dataset</vt:lpstr>
      <vt:lpstr>로지스틱 회귀모형 – german dataset</vt:lpstr>
      <vt:lpstr>실습2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데이터마이닝 실습  1주차</dc:title>
  <dc:creator>Kyungseon</dc:creator>
  <cp:lastModifiedBy>Sehyun</cp:lastModifiedBy>
  <cp:revision>63</cp:revision>
  <dcterms:created xsi:type="dcterms:W3CDTF">2025-03-11T08:13:46Z</dcterms:created>
  <dcterms:modified xsi:type="dcterms:W3CDTF">2026-08-20T06:34:30Z</dcterms:modified>
</cp:coreProperties>
</file>