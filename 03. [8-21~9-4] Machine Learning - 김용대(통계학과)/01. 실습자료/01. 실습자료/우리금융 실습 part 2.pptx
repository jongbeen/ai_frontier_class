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265" r:id="rId4"/>
    <p:sldId id="368" r:id="rId5"/>
    <p:sldId id="369" r:id="rId6"/>
    <p:sldId id="334" r:id="rId7"/>
    <p:sldId id="370" r:id="rId8"/>
    <p:sldId id="525" r:id="rId9"/>
    <p:sldId id="371" r:id="rId10"/>
    <p:sldId id="373" r:id="rId11"/>
    <p:sldId id="372" r:id="rId12"/>
    <p:sldId id="374" r:id="rId13"/>
    <p:sldId id="335" r:id="rId14"/>
    <p:sldId id="375" r:id="rId15"/>
    <p:sldId id="295" r:id="rId16"/>
    <p:sldId id="376" r:id="rId17"/>
    <p:sldId id="336" r:id="rId18"/>
    <p:sldId id="377" r:id="rId19"/>
    <p:sldId id="337" r:id="rId20"/>
    <p:sldId id="364" r:id="rId21"/>
    <p:sldId id="378" r:id="rId22"/>
    <p:sldId id="379" r:id="rId23"/>
    <p:sldId id="380" r:id="rId24"/>
    <p:sldId id="381" r:id="rId25"/>
    <p:sldId id="382" r:id="rId26"/>
    <p:sldId id="383" r:id="rId27"/>
    <p:sldId id="384" r:id="rId28"/>
    <p:sldId id="385" r:id="rId29"/>
    <p:sldId id="386" r:id="rId30"/>
    <p:sldId id="387" r:id="rId31"/>
    <p:sldId id="388" r:id="rId32"/>
    <p:sldId id="404" r:id="rId33"/>
    <p:sldId id="405" r:id="rId34"/>
    <p:sldId id="406" r:id="rId35"/>
    <p:sldId id="391" r:id="rId36"/>
    <p:sldId id="402" r:id="rId37"/>
    <p:sldId id="393" r:id="rId38"/>
    <p:sldId id="399" r:id="rId39"/>
    <p:sldId id="395" r:id="rId40"/>
    <p:sldId id="392" r:id="rId41"/>
    <p:sldId id="394" r:id="rId42"/>
    <p:sldId id="396" r:id="rId43"/>
    <p:sldId id="400" r:id="rId44"/>
    <p:sldId id="403" r:id="rId45"/>
    <p:sldId id="401" r:id="rId46"/>
    <p:sldId id="441" r:id="rId47"/>
    <p:sldId id="506" r:id="rId48"/>
    <p:sldId id="410" r:id="rId49"/>
    <p:sldId id="507" r:id="rId50"/>
    <p:sldId id="509" r:id="rId51"/>
    <p:sldId id="510" r:id="rId52"/>
    <p:sldId id="411" r:id="rId53"/>
    <p:sldId id="511" r:id="rId54"/>
    <p:sldId id="512" r:id="rId55"/>
    <p:sldId id="418" r:id="rId56"/>
    <p:sldId id="514" r:id="rId57"/>
    <p:sldId id="513" r:id="rId58"/>
    <p:sldId id="515" r:id="rId59"/>
    <p:sldId id="516" r:id="rId60"/>
    <p:sldId id="419" r:id="rId61"/>
    <p:sldId id="517" r:id="rId62"/>
    <p:sldId id="518" r:id="rId63"/>
    <p:sldId id="519" r:id="rId64"/>
    <p:sldId id="521" r:id="rId65"/>
    <p:sldId id="420" r:id="rId66"/>
    <p:sldId id="522" r:id="rId67"/>
    <p:sldId id="523" r:id="rId68"/>
    <p:sldId id="524" r:id="rId69"/>
    <p:sldId id="464" r:id="rId70"/>
  </p:sldIdLst>
  <p:sldSz cx="12192000" cy="6858000"/>
  <p:notesSz cx="6858000" cy="9144000"/>
  <p:embeddedFontLst>
    <p:embeddedFont>
      <p:font typeface="나눔스퀘어OTF Bold" panose="020B0600000101010101" pitchFamily="34" charset="-127"/>
      <p:bold r:id="rId72"/>
    </p:embeddedFont>
    <p:embeddedFont>
      <p:font typeface="나눔스퀘어OTF ExtraBold" panose="020B0600000101010101" pitchFamily="34" charset="-127"/>
      <p:bold r:id="rId73"/>
    </p:embeddedFont>
    <p:embeddedFont>
      <p:font typeface="맑은 고딕" panose="020B0503020000020004" pitchFamily="50" charset="-127"/>
      <p:regular r:id="rId74"/>
      <p:bold r:id="rId75"/>
    </p:embeddedFont>
    <p:embeddedFont>
      <p:font typeface="Consolas" panose="020B0609020204030204" pitchFamily="49" charset="0"/>
      <p:regular r:id="rId76"/>
      <p:bold r:id="rId77"/>
      <p:italic r:id="rId78"/>
      <p:boldItalic r:id="rId79"/>
    </p:embeddedFont>
    <p:embeddedFont>
      <p:font typeface="맑은 고딕" panose="020B0503020000020004" pitchFamily="50" charset="-127"/>
      <p:regular r:id="rId74"/>
      <p:bold r:id="rId75"/>
    </p:embeddedFont>
    <p:embeddedFont>
      <p:font typeface="나눔스퀘어OTF" panose="020B0600000101010101" pitchFamily="34" charset="-127"/>
      <p:regular r:id="rId80"/>
    </p:embeddedFont>
    <p:embeddedFont>
      <p:font typeface="Cambria Math" panose="02040503050406030204" pitchFamily="18" charset="0"/>
      <p:regular r:id="rId8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127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3.fntdata"/><Relationship Id="rId79" Type="http://schemas.openxmlformats.org/officeDocument/2006/relationships/font" Target="fonts/font8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.fntdata"/><Relationship Id="rId80" Type="http://schemas.openxmlformats.org/officeDocument/2006/relationships/font" Target="fonts/font9.fntdata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4.fntdata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2.fntdata"/><Relationship Id="rId78" Type="http://schemas.openxmlformats.org/officeDocument/2006/relationships/font" Target="fonts/font7.fntdata"/><Relationship Id="rId8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5.fntdata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50E4B6-AAC2-42E4-9EEB-7E985BFD1D3E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C5F136-8D87-454F-8102-46B7B3B660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7385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41820-B93E-4BD1-9A45-FB2586DF7A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300FF20-CD9F-4AFF-8F90-DC92AA5F5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361B00-D5BE-4F58-B130-9EADD1FA6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FB9C45-B895-4712-9458-01843B0A2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BC6F7E-8F79-4D55-BBEE-505394EC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925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5EFAE5-B006-425B-8778-FAC71E95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FADBAF-CFCC-405F-8532-2B55C9BB5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5EBF6C-638B-484A-99E1-F85ABB37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39FC65-0257-4F6F-916E-F284EE2E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AEDEFA-2EE8-4DCF-A464-14C6552B6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384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BB2DCB-7969-43AA-8BB2-7C5DDDE36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8C9B35-6CF4-41CB-8877-483E6C933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B45DAB-F08E-46B0-AA46-B08A890E1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21FF68-A1EC-4859-8187-8EA6C5146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E02601-40B6-41F6-86BA-9F630BB5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57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F5B84A-E9B7-4440-8424-7839BF776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06B6F1-DE2F-4DF0-8C40-32982EA43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3C75F4-9251-49F4-8565-612A5462D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F06E91-A87C-4A09-B8E4-F42B71373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5C94C7-28F2-4716-8A43-83A3D8FFE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0A544E-E686-4FA7-9ED8-D7D6DF2A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246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78D96-4828-495F-BE8E-74BFC2B04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6D5E08-3119-4E57-B7C7-D6B40929B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70CFAF-BE6B-4316-BFDB-263029984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83650D3-4F0B-458A-BC88-3F0179E752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C74E43-ECEE-48A5-B52C-AF8DFEEE6C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8D68631-25C3-422D-9356-A4EA2FB42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13D1474-3A38-417C-93ED-88100D6B2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CFCAD0D-82D2-4F9F-85DA-6F0788825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03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37C51-DF11-4851-B6FF-13FDBA3E0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59584B-C1F5-471B-BA97-7030EFA73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10916A8-D4BB-4EE7-986D-FD3B091B0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C496833-1563-45D0-9F9D-A4E8B392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563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0D7DF54-32F4-4D74-924F-1F7028430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F5D32FA-5368-4E2D-9AE8-1F99D92BF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F9BC50-4558-4521-AF3B-32CCA50B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831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616229-EE88-4AF3-AF80-128D1BC26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35487A-4A89-4221-BCB8-D95A3FA1D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879F24-D5D2-48DD-9FF3-BFC4DF5C4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284DDE-C71E-4D6C-AA0E-0809FAE13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627055-AD37-4E5A-B735-BAD8B4E74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187225-F055-4BBD-9F83-D3A2DD5B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048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8604E1-0E9C-4282-A0F4-0E995EC8D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AFEE94F-570E-4C5A-82F8-148E4DEB9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50FC1E-B25C-4590-B86F-42072749C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040AF1-E7A2-4FCF-AD1E-8892DCFB6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B34AEA-E26C-4219-9C4A-D1AC1164B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B62DA4-C7D4-4813-A870-9596AC6C8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708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6EAA4C-6BAD-409E-814C-8E7356772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AFFABCD-3AD1-4139-B43E-EE0972DFB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A4989F-456A-46B2-969E-686B17D19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C008F5-1BA2-4FD7-837D-579B62D3B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77A758-4CC5-40E1-A593-BA0D99CCA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320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50273E5-CA10-45D1-AE1C-E40B8C46B0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150514-1DDB-41D5-AE2D-B72484F89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FF823C-A86A-4557-B345-9CD385627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E26626-56C9-4A65-A9BE-80A971D8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AF38CF-83F9-4FAC-AC4C-41DFC6688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587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FAF3EC9-674B-4DE7-9DB8-3E1FFAEA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06981D-268B-4C5A-9733-0298D4184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B0A6F6-BB7A-4662-B32F-3533FFA57C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32099-8D81-41B5-ACC9-A719EB423CB0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C5F66-6E80-4E25-A499-0BA5BCA2C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4B61F3-D4DF-492F-8F54-415868737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355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lib.stat.cmu.edu/datasets/boston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1F882-F7A4-4AE6-90E1-1ED74DCCEF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우리금융 </a:t>
            </a:r>
            <a:r>
              <a:rPr lang="ko-KR" altLang="en-US"/>
              <a:t>실습 </a:t>
            </a:r>
            <a:r>
              <a:rPr lang="en-US" altLang="ko-KR"/>
              <a:t> </a:t>
            </a:r>
            <a:r>
              <a:rPr lang="en-US" altLang="ko-KR" smtClean="0"/>
              <a:t>2</a:t>
            </a:r>
            <a:r>
              <a:rPr lang="ko-KR" altLang="en-US" smtClean="0"/>
              <a:t>주차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8EA9D65-841B-4C71-8F89-F121B4ABF8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Ridge and</a:t>
            </a:r>
            <a:r>
              <a:rPr lang="ko-KR" altLang="en-US" dirty="0"/>
              <a:t> </a:t>
            </a:r>
            <a:r>
              <a:rPr lang="en-US" altLang="ko-KR" dirty="0"/>
              <a:t>Lasso, Elastic Net, Fused Lasso,</a:t>
            </a:r>
            <a:r>
              <a:rPr lang="ko-KR" altLang="en-US" dirty="0"/>
              <a:t> 의사결정나무</a:t>
            </a:r>
            <a:r>
              <a:rPr lang="en-US" altLang="ko-KR" dirty="0"/>
              <a:t>, </a:t>
            </a:r>
            <a:r>
              <a:rPr lang="ko-KR" altLang="en-US" dirty="0"/>
              <a:t>앙상블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박세현</a:t>
            </a:r>
            <a:r>
              <a:rPr lang="en-US" altLang="ko-KR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김초은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814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1061BB-F176-4316-BB3D-71356B201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744" y="1825625"/>
            <a:ext cx="5698741" cy="46672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/>
              <a:t> </a:t>
            </a:r>
            <a:r>
              <a:rPr lang="en-US" altLang="ko-KR" dirty="0"/>
              <a:t>Ridge and Lasso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/>
              <a:t> </a:t>
            </a:r>
            <a:r>
              <a:rPr lang="en-US" altLang="ko-KR" dirty="0"/>
              <a:t>Elastic net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/>
              <a:t> </a:t>
            </a:r>
            <a:r>
              <a:rPr lang="en-US" altLang="ko-KR" dirty="0"/>
              <a:t>Fused lasso for Image denoising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/>
              <a:t> 직접해보기 </a:t>
            </a:r>
            <a:r>
              <a:rPr lang="en-US" altLang="ko-KR" dirty="0"/>
              <a:t>- Boston dataset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의사결정나무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F070880-8780-4B4D-B83F-0EFB98A4491C}"/>
              </a:ext>
            </a:extLst>
          </p:cNvPr>
          <p:cNvSpPr txBox="1">
            <a:spLocks/>
          </p:cNvSpPr>
          <p:nvPr/>
        </p:nvSpPr>
        <p:spPr>
          <a:xfrm>
            <a:off x="6280485" y="1825625"/>
            <a:ext cx="5698741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/>
              <a:t> </a:t>
            </a:r>
            <a:r>
              <a:rPr lang="en-US" altLang="ko-KR" dirty="0"/>
              <a:t>Ensemble Methods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en-US" altLang="ko-KR" dirty="0" err="1"/>
              <a:t>Boostrapping</a:t>
            </a:r>
            <a:r>
              <a:rPr lang="en-US" altLang="ko-KR" dirty="0"/>
              <a:t> 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/>
              <a:t> Bagging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en-US" altLang="ko-KR" dirty="0" err="1"/>
              <a:t>RandomForest</a:t>
            </a:r>
            <a:r>
              <a:rPr lang="en-US" altLang="ko-KR" dirty="0"/>
              <a:t>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/>
              <a:t> AdaBoost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/>
              <a:t> Boosting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57413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Ridge and Lasso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741216"/>
            <a:ext cx="10278762" cy="45243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400" dirty="0"/>
              <a:t> </a:t>
            </a:r>
            <a:r>
              <a:rPr lang="ko-KR" altLang="en-US" sz="2400" dirty="0"/>
              <a:t>실습에 사용하는 패키지</a:t>
            </a:r>
            <a:r>
              <a:rPr lang="en-US" altLang="ko-KR" sz="2400" dirty="0"/>
              <a:t>/</a:t>
            </a:r>
            <a:r>
              <a:rPr lang="ko-KR" altLang="en-US" sz="2400" dirty="0"/>
              <a:t>라이브러리</a:t>
            </a:r>
            <a:endParaRPr lang="en-US" altLang="ko-KR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ko-KR" altLang="en-US" sz="2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3A5DCB-3FA0-3236-E54A-A9607FA0E52A}"/>
              </a:ext>
            </a:extLst>
          </p:cNvPr>
          <p:cNvSpPr txBox="1"/>
          <p:nvPr/>
        </p:nvSpPr>
        <p:spPr>
          <a:xfrm>
            <a:off x="1327052" y="2485070"/>
            <a:ext cx="9312811" cy="3780522"/>
          </a:xfrm>
          <a:prstGeom prst="rect">
            <a:avLst/>
          </a:prstGeom>
          <a:solidFill>
            <a:schemeClr val="bg1">
              <a:lumMod val="95000"/>
              <a:alpha val="46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import</a:t>
            </a:r>
            <a:r>
              <a:rPr lang="en-US" altLang="ko-KR" dirty="0"/>
              <a:t> </a:t>
            </a:r>
            <a:r>
              <a:rPr lang="en-US" altLang="ko-KR" dirty="0" err="1"/>
              <a:t>numpy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as</a:t>
            </a:r>
            <a:r>
              <a:rPr lang="en-US" altLang="ko-KR" dirty="0"/>
              <a:t> np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import</a:t>
            </a:r>
            <a:r>
              <a:rPr lang="en-US" altLang="ko-KR" dirty="0"/>
              <a:t> pandas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as</a:t>
            </a:r>
            <a:r>
              <a:rPr lang="en-US" altLang="ko-KR" dirty="0"/>
              <a:t> pd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import</a:t>
            </a:r>
            <a:r>
              <a:rPr lang="en-US" altLang="ko-KR" dirty="0"/>
              <a:t> </a:t>
            </a:r>
            <a:r>
              <a:rPr lang="en-US" altLang="ko-KR" dirty="0" err="1"/>
              <a:t>matplotlib.pyplot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as</a:t>
            </a:r>
            <a:r>
              <a:rPr lang="en-US" altLang="ko-KR" dirty="0"/>
              <a:t> </a:t>
            </a:r>
            <a:r>
              <a:rPr lang="en-US" altLang="ko-KR" dirty="0" err="1"/>
              <a:t>plt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from</a:t>
            </a:r>
            <a:r>
              <a:rPr lang="en-US" altLang="ko-KR" dirty="0"/>
              <a:t> </a:t>
            </a:r>
            <a:r>
              <a:rPr lang="en-US" altLang="ko-KR" dirty="0" err="1"/>
              <a:t>sklearn.datasets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import</a:t>
            </a:r>
            <a:r>
              <a:rPr lang="en-US" altLang="ko-KR" dirty="0"/>
              <a:t> </a:t>
            </a:r>
            <a:r>
              <a:rPr lang="en-US" altLang="ko-KR" dirty="0" err="1"/>
              <a:t>load_diabetes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from</a:t>
            </a:r>
            <a:r>
              <a:rPr lang="en-US" altLang="ko-KR" dirty="0"/>
              <a:t> </a:t>
            </a:r>
            <a:r>
              <a:rPr lang="en-US" altLang="ko-KR" dirty="0" err="1"/>
              <a:t>sklearn.model_selection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import</a:t>
            </a:r>
            <a:r>
              <a:rPr lang="en-US" altLang="ko-KR" dirty="0"/>
              <a:t> </a:t>
            </a:r>
            <a:r>
              <a:rPr lang="en-US" altLang="ko-KR" dirty="0" err="1"/>
              <a:t>train_test_split</a:t>
            </a:r>
            <a:r>
              <a:rPr lang="en-US" altLang="ko-KR" dirty="0"/>
              <a:t>, </a:t>
            </a:r>
            <a:r>
              <a:rPr lang="en-US" altLang="ko-KR" dirty="0" err="1"/>
              <a:t>GridSearchCV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from</a:t>
            </a:r>
            <a:r>
              <a:rPr lang="en-US" altLang="ko-KR" dirty="0"/>
              <a:t> </a:t>
            </a:r>
            <a:r>
              <a:rPr lang="en-US" altLang="ko-KR" dirty="0" err="1"/>
              <a:t>sklearn.preprocessing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import</a:t>
            </a:r>
            <a:r>
              <a:rPr lang="en-US" altLang="ko-KR" dirty="0"/>
              <a:t> </a:t>
            </a:r>
            <a:r>
              <a:rPr lang="en-US" altLang="ko-KR" dirty="0" err="1"/>
              <a:t>StandardScaler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from</a:t>
            </a:r>
            <a:r>
              <a:rPr lang="en-US" altLang="ko-KR" dirty="0"/>
              <a:t> </a:t>
            </a:r>
            <a:r>
              <a:rPr lang="en-US" altLang="ko-KR" dirty="0" err="1"/>
              <a:t>sklearn.linear_model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import</a:t>
            </a:r>
            <a:r>
              <a:rPr lang="en-US" altLang="ko-KR" dirty="0"/>
              <a:t> </a:t>
            </a:r>
            <a:r>
              <a:rPr lang="en-US" altLang="ko-KR" dirty="0" err="1"/>
              <a:t>Lasso,Ridge,ElasticNet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from</a:t>
            </a:r>
            <a:r>
              <a:rPr lang="en-US" altLang="ko-KR" dirty="0"/>
              <a:t> </a:t>
            </a:r>
            <a:r>
              <a:rPr lang="en-US" altLang="ko-KR" dirty="0" err="1"/>
              <a:t>sklearn.linear_model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import</a:t>
            </a:r>
            <a:r>
              <a:rPr lang="en-US" altLang="ko-KR" dirty="0"/>
              <a:t> </a:t>
            </a:r>
            <a:r>
              <a:rPr lang="en-US" altLang="ko-KR" dirty="0" err="1"/>
              <a:t>LassoCV,RidgeCV,ElasticNetCV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from</a:t>
            </a:r>
            <a:r>
              <a:rPr lang="en-US" altLang="ko-KR" dirty="0"/>
              <a:t> </a:t>
            </a:r>
            <a:r>
              <a:rPr lang="en-US" altLang="ko-KR" dirty="0" err="1"/>
              <a:t>sklearn.metrics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import</a:t>
            </a:r>
            <a:r>
              <a:rPr lang="en-US" altLang="ko-KR" dirty="0"/>
              <a:t> </a:t>
            </a:r>
            <a:r>
              <a:rPr lang="en-US" altLang="ko-KR" dirty="0" err="1"/>
              <a:t>mean_squared_error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4919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F31C2-767A-AA12-544C-8BDAA537E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246610-05B0-FCB3-FF25-359BF275D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Ridge and Lasso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6683CCE-4A35-6216-578B-EC032B403229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406868EF-C017-1644-19BC-428814D34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619" y="1572405"/>
            <a:ext cx="10278762" cy="45243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400" dirty="0"/>
              <a:t> </a:t>
            </a:r>
            <a:r>
              <a:rPr lang="ko-KR" altLang="en-US" sz="2400" dirty="0"/>
              <a:t>선형회귀모형에서 설명변수의 수사 많은 경우 다중 공선성 </a:t>
            </a:r>
            <a:r>
              <a:rPr lang="en-US" altLang="ko-KR" sz="2400" dirty="0"/>
              <a:t>(Multicollinearity)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</a:t>
            </a:r>
            <a:r>
              <a:rPr lang="ko-KR" altLang="en-US" sz="2400" dirty="0"/>
              <a:t>과 과대적합 </a:t>
            </a:r>
            <a:r>
              <a:rPr lang="en-US" altLang="ko-KR" sz="2400" dirty="0"/>
              <a:t>(Overfitting)</a:t>
            </a:r>
            <a:r>
              <a:rPr lang="ko-KR" altLang="en-US" sz="2400" dirty="0"/>
              <a:t> 문제가 발생할 수 있다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400" dirty="0"/>
              <a:t> 이를 해결하기 위한 방법으로 </a:t>
            </a:r>
            <a:r>
              <a:rPr lang="en-US" altLang="ko-KR" sz="2400" dirty="0"/>
              <a:t>Regularization </a:t>
            </a:r>
            <a:r>
              <a:rPr lang="ko-KR" altLang="en-US" sz="2400" dirty="0"/>
              <a:t>방법들로 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 Ridge, Lasso, Elastic Net </a:t>
            </a:r>
            <a:r>
              <a:rPr lang="ko-KR" altLang="en-US" sz="2400" dirty="0"/>
              <a:t>있다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400" dirty="0"/>
              <a:t> 목적함수 </a:t>
            </a:r>
            <a:r>
              <a:rPr lang="en-US" altLang="ko-KR" sz="2400" dirty="0"/>
              <a:t>: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ko-KR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A654FF-4640-3507-8AB5-48C7E920DACD}"/>
                  </a:ext>
                </a:extLst>
              </p:cNvPr>
              <p:cNvSpPr txBox="1"/>
              <p:nvPr/>
            </p:nvSpPr>
            <p:spPr>
              <a:xfrm>
                <a:off x="2979870" y="4927778"/>
                <a:ext cx="5292037" cy="4378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∑{</m:t>
                          </m:r>
                          <m:sSup>
                            <m:s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  <m:sSubSup>
                            <m:sSub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A654FF-4640-3507-8AB5-48C7E920D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9870" y="4927778"/>
                <a:ext cx="5292037" cy="4378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그룹 25">
            <a:extLst>
              <a:ext uri="{FF2B5EF4-FFF2-40B4-BE49-F238E27FC236}">
                <a16:creationId xmlns:a16="http://schemas.microsoft.com/office/drawing/2014/main" id="{FE78531B-E246-5407-2D88-7FD000531D46}"/>
              </a:ext>
            </a:extLst>
          </p:cNvPr>
          <p:cNvGrpSpPr/>
          <p:nvPr/>
        </p:nvGrpSpPr>
        <p:grpSpPr>
          <a:xfrm>
            <a:off x="5032978" y="4333523"/>
            <a:ext cx="3776253" cy="1731913"/>
            <a:chOff x="5503089" y="4586742"/>
            <a:chExt cx="3776253" cy="1731913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70E64B3F-90E5-5BD0-0DB3-14CA165ECE1C}"/>
                </a:ext>
              </a:extLst>
            </p:cNvPr>
            <p:cNvSpPr/>
            <p:nvPr/>
          </p:nvSpPr>
          <p:spPr>
            <a:xfrm>
              <a:off x="6217918" y="4995406"/>
              <a:ext cx="2495964" cy="808994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A7D95AE-D6D2-DC17-8734-3F0DA1461E34}"/>
                </a:ext>
              </a:extLst>
            </p:cNvPr>
            <p:cNvSpPr txBox="1"/>
            <p:nvPr/>
          </p:nvSpPr>
          <p:spPr>
            <a:xfrm>
              <a:off x="7528868" y="4586742"/>
              <a:ext cx="12875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Elastic</a:t>
              </a:r>
              <a:r>
                <a:rPr lang="ko-KR" altLang="en-US" dirty="0"/>
                <a:t> </a:t>
              </a:r>
              <a:r>
                <a:rPr lang="en-US" altLang="ko-KR" dirty="0"/>
                <a:t>Net</a:t>
              </a:r>
              <a:endParaRPr lang="ko-KR" altLang="en-US" dirty="0"/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92655D32-0AF1-B5E6-F94C-387CFB17AA25}"/>
                </a:ext>
              </a:extLst>
            </p:cNvPr>
            <p:cNvSpPr/>
            <p:nvPr/>
          </p:nvSpPr>
          <p:spPr>
            <a:xfrm>
              <a:off x="6274190" y="5088201"/>
              <a:ext cx="1041010" cy="623403"/>
            </a:xfrm>
            <a:prstGeom prst="roundRect">
              <a:avLst/>
            </a:prstGeom>
            <a:noFill/>
            <a:ln w="25400"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45A908A-C058-3232-0211-B1DCB47768DE}"/>
                </a:ext>
              </a:extLst>
            </p:cNvPr>
            <p:cNvSpPr txBox="1"/>
            <p:nvPr/>
          </p:nvSpPr>
          <p:spPr>
            <a:xfrm>
              <a:off x="5503089" y="5920076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00B0F0"/>
                  </a:solidFill>
                </a:rPr>
                <a:t>Lasso</a:t>
              </a:r>
              <a:endParaRPr lang="ko-KR" alt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A3E036DB-E87D-794F-98C0-EF7F1E0499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0118" y="4785476"/>
              <a:ext cx="466886" cy="184666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1C87BD6F-999A-D30A-0757-0C2DD1B872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74190" y="5732020"/>
              <a:ext cx="286599" cy="320528"/>
            </a:xfrm>
            <a:prstGeom prst="straightConnector1">
              <a:avLst/>
            </a:prstGeom>
            <a:ln w="158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B01E10CC-8ACC-EB3F-569C-9D1E530B6331}"/>
                </a:ext>
              </a:extLst>
            </p:cNvPr>
            <p:cNvSpPr/>
            <p:nvPr/>
          </p:nvSpPr>
          <p:spPr>
            <a:xfrm>
              <a:off x="7596552" y="5091010"/>
              <a:ext cx="1041010" cy="606526"/>
            </a:xfrm>
            <a:prstGeom prst="roundRect">
              <a:avLst/>
            </a:prstGeom>
            <a:noFill/>
            <a:ln w="254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B45DEB9D-47C0-2001-D54F-8D4AAA783AFD}"/>
                </a:ext>
              </a:extLst>
            </p:cNvPr>
            <p:cNvCxnSpPr>
              <a:cxnSpLocks/>
            </p:cNvCxnSpPr>
            <p:nvPr/>
          </p:nvCxnSpPr>
          <p:spPr>
            <a:xfrm>
              <a:off x="8257735" y="5711604"/>
              <a:ext cx="286599" cy="36933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7E6DD7D-501B-4CCA-AFA3-7134BBDA84F7}"/>
                </a:ext>
              </a:extLst>
            </p:cNvPr>
            <p:cNvSpPr txBox="1"/>
            <p:nvPr/>
          </p:nvSpPr>
          <p:spPr>
            <a:xfrm>
              <a:off x="8491947" y="5949323"/>
              <a:ext cx="7873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Ridge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EDCF84E-1C5D-6506-72BF-6331CF607762}"/>
              </a:ext>
            </a:extLst>
          </p:cNvPr>
          <p:cNvSpPr txBox="1"/>
          <p:nvPr/>
        </p:nvSpPr>
        <p:spPr>
          <a:xfrm>
            <a:off x="956619" y="6136113"/>
            <a:ext cx="87408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sz="2400" dirty="0"/>
              <a:t> </a:t>
            </a:r>
            <a:r>
              <a:rPr lang="en-US" altLang="ko-KR" sz="2400" dirty="0" err="1"/>
              <a:t>sklearn.linear_model</a:t>
            </a:r>
            <a:r>
              <a:rPr lang="ko-KR" altLang="en-US" sz="2400" dirty="0"/>
              <a:t>의 </a:t>
            </a:r>
            <a:r>
              <a:rPr lang="en-US" altLang="ko-KR" sz="2400" dirty="0" err="1"/>
              <a:t>ElasticNet</a:t>
            </a:r>
            <a:r>
              <a:rPr lang="ko-KR" altLang="en-US" sz="2400" dirty="0"/>
              <a:t>으로도 </a:t>
            </a:r>
            <a:r>
              <a:rPr lang="en-US" altLang="ko-KR" sz="2400" dirty="0"/>
              <a:t>Ridge, Lasso </a:t>
            </a:r>
            <a:r>
              <a:rPr lang="ko-KR" altLang="en-US" sz="2400" dirty="0"/>
              <a:t>가능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451247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552EB-8367-A697-6D40-2CCE05FF1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D3E405-57FB-F3DB-B9B8-4BB1E6C20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Ridge and Lasso – diabetes dataset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08D3CF4-2A6F-83F1-53F9-5E1E132BEE51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2EB8AC75-4108-4B3E-79AC-25E1EE6C8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1677"/>
            <a:ext cx="10795000" cy="452437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sz="2400" dirty="0" err="1"/>
              <a:t>Sklearn.dataset</a:t>
            </a:r>
            <a:r>
              <a:rPr lang="ko-KR" altLang="en-US" sz="2400" dirty="0"/>
              <a:t>에서 불러올 수 있는 </a:t>
            </a:r>
            <a:r>
              <a:rPr lang="en-US" altLang="ko-KR" sz="2400" dirty="0"/>
              <a:t>diabetes dataset</a:t>
            </a:r>
          </a:p>
          <a:p>
            <a:pPr marL="0" indent="0">
              <a:buNone/>
            </a:pPr>
            <a:r>
              <a:rPr lang="en-US" altLang="ko-KR" sz="2400" dirty="0"/>
              <a:t>    - </a:t>
            </a:r>
            <a:r>
              <a:rPr lang="ko-KR" altLang="en-US" sz="2400" dirty="0"/>
              <a:t>반응변수 </a:t>
            </a:r>
            <a:r>
              <a:rPr lang="en-US" altLang="ko-KR" sz="2400" dirty="0"/>
              <a:t>: </a:t>
            </a:r>
            <a:r>
              <a:rPr lang="ko-KR" altLang="en-US" sz="2400" dirty="0"/>
              <a:t>당뇨의 진행도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  - </a:t>
            </a:r>
            <a:r>
              <a:rPr lang="ko-KR" altLang="en-US" sz="2400" dirty="0"/>
              <a:t>설명변수</a:t>
            </a:r>
            <a:r>
              <a:rPr lang="en-US" altLang="ko-KR" sz="2400" dirty="0"/>
              <a:t>: </a:t>
            </a:r>
            <a:r>
              <a:rPr lang="ko-KR" altLang="en-US" sz="2400" dirty="0"/>
              <a:t>나이</a:t>
            </a:r>
            <a:r>
              <a:rPr lang="en-US" altLang="ko-KR" sz="2400" dirty="0"/>
              <a:t>, </a:t>
            </a:r>
            <a:r>
              <a:rPr lang="ko-KR" altLang="en-US" sz="2400" dirty="0"/>
              <a:t>성별</a:t>
            </a:r>
            <a:r>
              <a:rPr lang="en-US" altLang="ko-KR" sz="2400" dirty="0"/>
              <a:t>, </a:t>
            </a:r>
            <a:r>
              <a:rPr lang="ko-KR" altLang="en-US" sz="2400" dirty="0"/>
              <a:t>체질량지수</a:t>
            </a:r>
            <a:r>
              <a:rPr lang="en-US" altLang="ko-KR" sz="2400" dirty="0"/>
              <a:t>(</a:t>
            </a:r>
            <a:r>
              <a:rPr lang="en-US" altLang="ko-KR" sz="2400" dirty="0" err="1"/>
              <a:t>bmi</a:t>
            </a:r>
            <a:r>
              <a:rPr lang="en-US" altLang="ko-KR" sz="2400" dirty="0"/>
              <a:t>), </a:t>
            </a:r>
            <a:r>
              <a:rPr lang="ko-KR" altLang="en-US" sz="2400" dirty="0"/>
              <a:t>평균 혈압 </a:t>
            </a:r>
            <a:r>
              <a:rPr lang="en-US" altLang="ko-KR" sz="2400" dirty="0"/>
              <a:t>(bp), </a:t>
            </a:r>
            <a:r>
              <a:rPr lang="ko-KR" altLang="en-US" sz="2400" dirty="0"/>
              <a:t>혈청 검사 수치 </a:t>
            </a:r>
            <a:r>
              <a:rPr lang="en-US" altLang="ko-KR" sz="2400" dirty="0"/>
              <a:t>(s1~s6)</a:t>
            </a:r>
          </a:p>
          <a:p>
            <a:pPr>
              <a:buFont typeface="Wingdings" panose="05000000000000000000" pitchFamily="2" charset="2"/>
              <a:buChar char="l"/>
            </a:pPr>
            <a:endParaRPr lang="en-US" altLang="ko-KR" sz="2400" dirty="0"/>
          </a:p>
          <a:p>
            <a:pPr>
              <a:buFont typeface="Wingdings" panose="05000000000000000000" pitchFamily="2" charset="2"/>
              <a:buChar char="l"/>
            </a:pP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399208E-E846-6EDC-D47E-67291A8A7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980" y="3429000"/>
            <a:ext cx="7786734" cy="232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373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7EB41-F4CB-11D6-BA78-E63DF08F3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3F2955-F58A-6042-642D-5AC779BB2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Ridge and Lasso – Ridge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97C9915-15A0-8FBD-A6CB-3FAE8EEA8059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2BC26B5F-F6FD-9B9D-F7DA-496AD9A0C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1677"/>
            <a:ext cx="10795000" cy="45243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400" dirty="0"/>
              <a:t> </a:t>
            </a:r>
            <a:r>
              <a:rPr lang="en-US" altLang="ko-KR" sz="2400" dirty="0" err="1"/>
              <a:t>ElasticNet</a:t>
            </a:r>
            <a:r>
              <a:rPr lang="en-US" altLang="ko-KR" sz="2400" dirty="0"/>
              <a:t>()</a:t>
            </a:r>
            <a:r>
              <a:rPr lang="ko-KR" altLang="en-US" sz="2400" dirty="0"/>
              <a:t>을 거의 </a:t>
            </a:r>
            <a:r>
              <a:rPr lang="en-US" altLang="ko-KR" sz="2400" dirty="0"/>
              <a:t>Ridge()</a:t>
            </a:r>
            <a:r>
              <a:rPr lang="ko-KR" altLang="en-US" sz="2400" dirty="0"/>
              <a:t>처럼 사용할 수 있다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400" dirty="0"/>
              <a:t> l1_ratio =0</a:t>
            </a:r>
            <a:r>
              <a:rPr lang="ko-KR" altLang="en-US" sz="2400" dirty="0"/>
              <a:t>인 경우 </a:t>
            </a:r>
            <a:r>
              <a:rPr lang="en-US" altLang="ko-KR" sz="2400" dirty="0"/>
              <a:t>ridge regression</a:t>
            </a:r>
            <a:r>
              <a:rPr lang="ko-KR" altLang="en-US" sz="2400" dirty="0"/>
              <a:t>과 같은 역할</a:t>
            </a:r>
            <a:r>
              <a:rPr lang="en-US" altLang="ko-KR" sz="2400" dirty="0"/>
              <a:t>.</a:t>
            </a:r>
            <a:r>
              <a:rPr lang="ko-KR" altLang="en-US" sz="2400" dirty="0"/>
              <a:t> </a:t>
            </a:r>
            <a:r>
              <a:rPr lang="en-US" altLang="ko-KR" sz="2400" dirty="0"/>
              <a:t>L2 penalty</a:t>
            </a:r>
            <a:r>
              <a:rPr lang="ko-KR" altLang="en-US" sz="2400" dirty="0"/>
              <a:t>만 적용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ko-KR" altLang="en-US" sz="24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0DCBC96-EAC1-965F-EA5F-C542BF138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597" y="3110722"/>
            <a:ext cx="5796806" cy="329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49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0FA2E-15B9-6534-1247-740B0F259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9F58EA-40B5-4EA8-05A9-65CA30035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Ridge and Lasso – Ridge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EEF8A4D-9BF2-D4F7-D99A-C49153D2ACEE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8E6AEC37-3877-754E-474C-2FCB1955A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1677"/>
            <a:ext cx="10795000" cy="45243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400" dirty="0"/>
              <a:t> Ridge()</a:t>
            </a:r>
            <a:r>
              <a:rPr lang="ko-KR" altLang="en-US" sz="2400" dirty="0"/>
              <a:t>와 </a:t>
            </a:r>
            <a:r>
              <a:rPr lang="en-US" altLang="ko-KR" sz="2400" dirty="0" err="1"/>
              <a:t>ElasticNet</a:t>
            </a:r>
            <a:r>
              <a:rPr lang="en-US" altLang="ko-KR" sz="2400" dirty="0"/>
              <a:t>()</a:t>
            </a:r>
            <a:r>
              <a:rPr lang="ko-KR" altLang="en-US" sz="2400" dirty="0"/>
              <a:t>에서의 결과 비슷하지만 조금 다르다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400" dirty="0"/>
              <a:t>이는 </a:t>
            </a:r>
            <a:r>
              <a:rPr lang="en-US" altLang="ko-KR" sz="2400"/>
              <a:t>Ridge</a:t>
            </a:r>
            <a:r>
              <a:rPr lang="en-US" altLang="ko-KR" sz="2400" smtClean="0"/>
              <a:t>()</a:t>
            </a:r>
            <a:r>
              <a:rPr lang="ko-KR" altLang="en-US" sz="2400" smtClean="0"/>
              <a:t>와 </a:t>
            </a:r>
            <a:r>
              <a:rPr lang="en-US" altLang="ko-KR" sz="2400" smtClean="0"/>
              <a:t>ElasticNet</a:t>
            </a:r>
            <a:r>
              <a:rPr lang="en-US" altLang="ko-KR" sz="2400" dirty="0"/>
              <a:t>()</a:t>
            </a:r>
            <a:r>
              <a:rPr lang="ko-KR" altLang="en-US" sz="2400"/>
              <a:t>의 </a:t>
            </a:r>
            <a:r>
              <a:rPr lang="ko-KR" altLang="en-US" sz="2400" smtClean="0"/>
              <a:t>목적 함수가 다르기 때문</a:t>
            </a:r>
            <a:r>
              <a:rPr lang="en-US" altLang="ko-KR" sz="2400" smtClean="0"/>
              <a:t>.</a:t>
            </a: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F92E3E0-6832-3C5D-3BBA-8E06818F9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258" y="3429000"/>
            <a:ext cx="5475483" cy="310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483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0FA2E-15B9-6534-1247-740B0F259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9F58EA-40B5-4EA8-05A9-65CA30035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Ridge and Lasso – Ridge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EEF8A4D-9BF2-D4F7-D99A-C49153D2ACEE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/>
          <p:cNvGrpSpPr/>
          <p:nvPr/>
        </p:nvGrpSpPr>
        <p:grpSpPr>
          <a:xfrm>
            <a:off x="725151" y="1944193"/>
            <a:ext cx="10741698" cy="2887866"/>
            <a:chOff x="408702" y="1944193"/>
            <a:chExt cx="10741698" cy="2887866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 rotWithShape="1">
            <a:blip r:embed="rId2"/>
            <a:srcRect b="-28810"/>
            <a:stretch/>
          </p:blipFill>
          <p:spPr>
            <a:xfrm>
              <a:off x="408702" y="1944193"/>
              <a:ext cx="5052532" cy="288786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1944193"/>
              <a:ext cx="5054400" cy="287343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내용 개체 틀 2">
                <a:extLst>
                  <a:ext uri="{FF2B5EF4-FFF2-40B4-BE49-F238E27FC236}">
                    <a16:creationId xmlns:a16="http://schemas.microsoft.com/office/drawing/2014/main" id="{8E6AEC37-3877-754E-474C-2FCB1955A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964356"/>
                <a:ext cx="10795000" cy="1822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ko-KR" sz="2400" smtClean="0"/>
                  <a:t> </a:t>
                </a:r>
                <a:r>
                  <a:rPr lang="ko-KR" altLang="en-US" sz="2400" smtClean="0"/>
                  <a:t>두 결과를 같게 하려면</a:t>
                </a:r>
                <a:r>
                  <a:rPr lang="en-US" altLang="ko-KR" sz="2400" smtClean="0"/>
                  <a:t>, ElasticNet()</a:t>
                </a:r>
                <a:r>
                  <a:rPr lang="ko-KR" altLang="en-US" sz="2400" smtClean="0"/>
                  <a:t>에 </a:t>
                </a:r>
                <a:r>
                  <a:rPr lang="en-US" altLang="ko-KR" sz="2400"/>
                  <a:t>alpha</a:t>
                </a:r>
                <a:r>
                  <a:rPr lang="ko-KR" altLang="en-US" sz="2400"/>
                  <a:t>를 </a:t>
                </a:r>
                <a:r>
                  <a:rPr lang="en-US" altLang="ko-KR" sz="2400"/>
                  <a:t>Ridge()</a:t>
                </a:r>
                <a:r>
                  <a:rPr lang="ko-KR" altLang="en-US" sz="2400"/>
                  <a:t>의 </a:t>
                </a:r>
                <a:r>
                  <a:rPr lang="en-US" altLang="ko-KR" sz="2400" smtClean="0"/>
                  <a:t>alpha </a:t>
                </a:r>
                <a:r>
                  <a:rPr lang="ko-KR" altLang="en-US" sz="2400" smtClean="0"/>
                  <a:t>보다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𝑠𝑎𝑚𝑝𝑙𝑒</m:t>
                        </m:r>
                      </m:sub>
                    </m:sSub>
                  </m:oMath>
                </a14:m>
                <a:r>
                  <a:rPr lang="ko-KR" altLang="en-US" sz="2400" dirty="0" smtClean="0"/>
                  <a:t> </a:t>
                </a:r>
                <a:r>
                  <a:rPr lang="ko-KR" altLang="en-US" sz="2400"/>
                  <a:t>배 작게 설정하면 됨</a:t>
                </a:r>
                <a:r>
                  <a:rPr lang="en-US" altLang="ko-KR" sz="2400"/>
                  <a:t>.</a:t>
                </a:r>
                <a:endParaRPr lang="ko-KR" altLang="en-US" sz="2400" dirty="0"/>
              </a:p>
            </p:txBody>
          </p:sp>
        </mc:Choice>
        <mc:Fallback>
          <p:sp>
            <p:nvSpPr>
              <p:cNvPr id="10" name="내용 개체 틀 2">
                <a:extLst>
                  <a:ext uri="{FF2B5EF4-FFF2-40B4-BE49-F238E27FC236}">
                    <a16:creationId xmlns:a16="http://schemas.microsoft.com/office/drawing/2014/main" id="{8E6AEC37-3877-754E-474C-2FCB1955A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964356"/>
                <a:ext cx="10795000" cy="1822338"/>
              </a:xfrm>
              <a:blipFill>
                <a:blip r:embed="rId4"/>
                <a:stretch>
                  <a:fillRect l="-7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9838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6FB45-573E-8901-5715-B8326AF33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55E324-7585-ACEA-BEBE-CEB1DD04F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Ridge and Lasso – Ridge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340BB0B-58A7-AA74-8721-F60B5347C190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FD1B881-19F3-4367-45BC-0C339881D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1677"/>
            <a:ext cx="10795000" cy="45243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400" dirty="0"/>
              <a:t> </a:t>
            </a:r>
            <a:r>
              <a:rPr lang="en-US" altLang="ko-KR" sz="2400" dirty="0" err="1"/>
              <a:t>ElasticNetCV</a:t>
            </a:r>
            <a:r>
              <a:rPr lang="en-US" altLang="ko-KR" sz="2400" dirty="0"/>
              <a:t>()</a:t>
            </a:r>
            <a:r>
              <a:rPr lang="ko-KR" altLang="en-US" sz="2400" dirty="0"/>
              <a:t>와 </a:t>
            </a:r>
            <a:r>
              <a:rPr lang="en-US" altLang="ko-KR" sz="2400" dirty="0" err="1"/>
              <a:t>RidgeCV</a:t>
            </a:r>
            <a:r>
              <a:rPr lang="en-US" altLang="ko-KR" sz="2400" dirty="0"/>
              <a:t>()</a:t>
            </a:r>
            <a:r>
              <a:rPr lang="ko-KR" altLang="en-US" sz="2400" dirty="0"/>
              <a:t>를 이용하여 </a:t>
            </a:r>
            <a:r>
              <a:rPr lang="en-US" altLang="ko-KR" sz="2400" dirty="0"/>
              <a:t>parameter cross-validation </a:t>
            </a:r>
            <a:r>
              <a:rPr lang="ko-KR" altLang="en-US" sz="2400" dirty="0"/>
              <a:t>실행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725B776-B75C-89C6-AE2A-C10780F49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376" y="2462205"/>
            <a:ext cx="5939248" cy="394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23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C0BFD-1CDB-0305-18BC-75FAA584F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8D4C9C-1F18-CBE9-2298-A4272BB1C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Ridge and Lasso – Lasso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C270053-69FC-E400-CB77-6494687E101A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5C9BDC7-BC74-1C51-FF07-83E1270C1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1677"/>
            <a:ext cx="10795000" cy="45243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400" dirty="0"/>
              <a:t> </a:t>
            </a:r>
            <a:r>
              <a:rPr lang="en-US" altLang="ko-KR" sz="2400" dirty="0" err="1"/>
              <a:t>ElasticNet</a:t>
            </a:r>
            <a:r>
              <a:rPr lang="en-US" altLang="ko-KR" sz="2400" dirty="0"/>
              <a:t>()</a:t>
            </a:r>
            <a:r>
              <a:rPr lang="ko-KR" altLang="en-US" sz="2400" dirty="0"/>
              <a:t>을 </a:t>
            </a:r>
            <a:r>
              <a:rPr lang="en-US" altLang="ko-KR" sz="2400" dirty="0"/>
              <a:t>Lasso()</a:t>
            </a:r>
            <a:r>
              <a:rPr lang="ko-KR" altLang="en-US" sz="2400" dirty="0"/>
              <a:t>처럼 사용할 수 있다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400" dirty="0"/>
              <a:t> l1_ratio =1</a:t>
            </a:r>
            <a:r>
              <a:rPr lang="ko-KR" altLang="en-US" sz="2400" dirty="0"/>
              <a:t>인 경우 </a:t>
            </a:r>
            <a:r>
              <a:rPr lang="en-US" altLang="ko-KR" sz="2400" dirty="0"/>
              <a:t>lasso</a:t>
            </a:r>
            <a:r>
              <a:rPr lang="ko-KR" altLang="en-US" sz="2400" dirty="0"/>
              <a:t>와 같은 역할</a:t>
            </a:r>
            <a:r>
              <a:rPr lang="en-US" altLang="ko-KR" sz="2400" dirty="0"/>
              <a:t>.</a:t>
            </a:r>
            <a:r>
              <a:rPr lang="ko-KR" altLang="en-US" sz="2400" dirty="0"/>
              <a:t> </a:t>
            </a:r>
            <a:r>
              <a:rPr lang="en-US" altLang="ko-KR" sz="2400" dirty="0"/>
              <a:t>L1 penalty</a:t>
            </a:r>
            <a:r>
              <a:rPr lang="ko-KR" altLang="en-US" sz="2400" dirty="0"/>
              <a:t>만 적용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6A8B519-0B56-A2CE-0386-6B1012F09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348" y="3132048"/>
            <a:ext cx="5441303" cy="329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87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7238D-2162-A43F-CC4F-F1E4F7304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EDC33C-584B-8A47-58E1-BF3F2E7AA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Ridge and Lasso – Lasso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01048EB-A9EA-9AFD-2F5E-35497D013C40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76D1177-F0C4-AA3A-648F-49A03D356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1677"/>
            <a:ext cx="10795000" cy="45243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400" dirty="0"/>
              <a:t> </a:t>
            </a:r>
            <a:r>
              <a:rPr lang="en-US" altLang="ko-KR" sz="2400" dirty="0" err="1"/>
              <a:t>ElasticNet</a:t>
            </a:r>
            <a:r>
              <a:rPr lang="en-US" altLang="ko-KR" sz="2400" dirty="0"/>
              <a:t>()</a:t>
            </a:r>
            <a:r>
              <a:rPr lang="ko-KR" altLang="en-US" sz="2400" dirty="0"/>
              <a:t>과 </a:t>
            </a:r>
            <a:r>
              <a:rPr lang="en-US" altLang="ko-KR" sz="2400" dirty="0"/>
              <a:t>Lasso()</a:t>
            </a:r>
            <a:r>
              <a:rPr lang="ko-KR" altLang="en-US" sz="2400" dirty="0"/>
              <a:t>의 결과가 같다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400" dirty="0"/>
              <a:t> 이는 둘 다 </a:t>
            </a:r>
            <a:r>
              <a:rPr lang="ko-KR" altLang="en-US" sz="2400" dirty="0" err="1"/>
              <a:t>좌표하강법을</a:t>
            </a:r>
            <a:r>
              <a:rPr lang="ko-KR" altLang="en-US" sz="2400" dirty="0"/>
              <a:t> 사용하여 최적화하기 때문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B8BBF9E-FA91-8822-27BD-6D4F76184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064" y="3073773"/>
            <a:ext cx="5451871" cy="321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587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3771E-CBC5-4891-34EE-E4994342E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0C772-F57E-4F1B-F702-CA68F86FC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Ridge and Lasso – Lasso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E91003C-9F88-DE6E-0453-C921F05AA3E1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D790862-0F5B-897B-1594-83202B8BC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1677"/>
            <a:ext cx="10795000" cy="45243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400" dirty="0"/>
              <a:t> </a:t>
            </a:r>
            <a:r>
              <a:rPr lang="en-US" altLang="ko-KR" sz="2400" dirty="0" err="1"/>
              <a:t>ElasticNetCV</a:t>
            </a:r>
            <a:r>
              <a:rPr lang="en-US" altLang="ko-KR" sz="2400" dirty="0"/>
              <a:t>()</a:t>
            </a:r>
            <a:r>
              <a:rPr lang="ko-KR" altLang="en-US" sz="2400" dirty="0"/>
              <a:t>와 </a:t>
            </a:r>
            <a:r>
              <a:rPr lang="en-US" altLang="ko-KR" sz="2400" dirty="0" err="1"/>
              <a:t>LassoCV</a:t>
            </a:r>
            <a:r>
              <a:rPr lang="en-US" altLang="ko-KR" sz="2400" dirty="0"/>
              <a:t>()</a:t>
            </a:r>
            <a:r>
              <a:rPr lang="ko-KR" altLang="en-US" sz="2400" dirty="0"/>
              <a:t>를 이용하여 </a:t>
            </a:r>
            <a:r>
              <a:rPr lang="en-US" altLang="ko-KR" sz="2400" dirty="0"/>
              <a:t>parameter cross-validation </a:t>
            </a:r>
            <a:r>
              <a:rPr lang="ko-KR" altLang="en-US" sz="2400" dirty="0"/>
              <a:t>실행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AE1C92-AAAA-50AE-346B-C00138874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042" y="2329869"/>
            <a:ext cx="6268325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339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86F59-9D8C-5B47-F295-95C255A6C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BCCDA-311E-6BF5-B849-632EF6C02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Elastic Net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D8840C8-7E38-36E8-AFA8-F7E65B459942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0CEFE87D-582F-03A5-583C-CEB54A51A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366" y="1536478"/>
            <a:ext cx="9381067" cy="452437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ko-KR" sz="2400" dirty="0"/>
              <a:t> Ridge</a:t>
            </a:r>
            <a:r>
              <a:rPr lang="ko-KR" altLang="en-US" sz="2400" dirty="0"/>
              <a:t>와</a:t>
            </a:r>
            <a:r>
              <a:rPr lang="en-US" altLang="ko-KR" sz="2400" dirty="0"/>
              <a:t> Lasso</a:t>
            </a:r>
            <a:r>
              <a:rPr lang="ko-KR" altLang="en-US" sz="2400" dirty="0"/>
              <a:t>를 결합한 방식</a:t>
            </a:r>
            <a:endParaRPr lang="en-US" altLang="ko-KR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ko-KR" sz="2400" dirty="0"/>
              <a:t> L1-penalty</a:t>
            </a:r>
            <a:r>
              <a:rPr lang="ko-KR" altLang="en-US" sz="2400" dirty="0"/>
              <a:t>로 특정 변수의 계수를 </a:t>
            </a:r>
            <a:r>
              <a:rPr lang="en-US" altLang="ko-KR" sz="2400" dirty="0"/>
              <a:t>0</a:t>
            </a:r>
            <a:r>
              <a:rPr lang="ko-KR" altLang="en-US" sz="2400" dirty="0"/>
              <a:t>으로 만들어 변수 선택</a:t>
            </a:r>
            <a:r>
              <a:rPr lang="en-US" altLang="ko-KR" sz="2400" dirty="0"/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ko-KR" sz="2400" dirty="0"/>
              <a:t> L2-penalty</a:t>
            </a:r>
            <a:r>
              <a:rPr lang="ko-KR" altLang="en-US" sz="2400" dirty="0"/>
              <a:t>로 계수를 축소하여 </a:t>
            </a:r>
            <a:r>
              <a:rPr lang="ko-KR" altLang="en-US" sz="2400" dirty="0" err="1"/>
              <a:t>다중공선성</a:t>
            </a:r>
            <a:r>
              <a:rPr lang="ko-KR" altLang="en-US" sz="2400" dirty="0"/>
              <a:t> 문제 해결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79C84AA-E47A-5990-FCD9-E02B1554A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502" y="3202667"/>
            <a:ext cx="5591955" cy="29626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EF02D0B-665F-A545-5FFF-B90B403FE1A7}"/>
              </a:ext>
            </a:extLst>
          </p:cNvPr>
          <p:cNvSpPr txBox="1"/>
          <p:nvPr/>
        </p:nvSpPr>
        <p:spPr>
          <a:xfrm>
            <a:off x="7011852" y="3690344"/>
            <a:ext cx="4249782" cy="1296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/>
              <a:t>Alpha : </a:t>
            </a:r>
            <a:r>
              <a:rPr lang="ko-KR" altLang="en-US" dirty="0"/>
              <a:t>전체 </a:t>
            </a:r>
            <a:r>
              <a:rPr lang="en-US" altLang="ko-KR" dirty="0"/>
              <a:t>regularization </a:t>
            </a:r>
            <a:r>
              <a:rPr lang="ko-KR" altLang="en-US" dirty="0"/>
              <a:t>강도 조절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/>
              <a:t>l1_ratio : penalty</a:t>
            </a:r>
            <a:r>
              <a:rPr lang="ko-KR" altLang="en-US" dirty="0"/>
              <a:t> 비율 조절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  (0.5</a:t>
            </a:r>
            <a:r>
              <a:rPr lang="ko-KR" altLang="en-US" dirty="0"/>
              <a:t>이면 </a:t>
            </a:r>
            <a:r>
              <a:rPr lang="en-US" altLang="ko-KR" dirty="0"/>
              <a:t>Lasso</a:t>
            </a:r>
            <a:r>
              <a:rPr lang="ko-KR" altLang="en-US" dirty="0"/>
              <a:t>와 </a:t>
            </a:r>
            <a:r>
              <a:rPr lang="en-US" altLang="ko-KR" dirty="0"/>
              <a:t>Ridge</a:t>
            </a:r>
            <a:r>
              <a:rPr lang="ko-KR" altLang="en-US" dirty="0"/>
              <a:t>를 반반 섞음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3589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49042-3364-3E84-BA99-1653443E5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BEA7B2-8E82-9DA2-4601-BFE2312FF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Elastic Net – Cross-validation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E3E0FA1-3491-5A6D-C12B-1403120BE9A2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86FD826E-F677-60DE-628C-E2D08B663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366" y="1536478"/>
            <a:ext cx="10643325" cy="45243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400" dirty="0"/>
              <a:t> </a:t>
            </a:r>
            <a:r>
              <a:rPr lang="en-US" altLang="ko-KR" sz="2400" dirty="0" err="1"/>
              <a:t>ElasticNetCV</a:t>
            </a:r>
            <a:r>
              <a:rPr lang="en-US" altLang="ko-KR" sz="2400" dirty="0"/>
              <a:t>()</a:t>
            </a:r>
            <a:r>
              <a:rPr lang="ko-KR" altLang="en-US" sz="2400" dirty="0"/>
              <a:t>를 이용하여 </a:t>
            </a:r>
            <a:r>
              <a:rPr lang="en-US" altLang="ko-KR" sz="2400" dirty="0"/>
              <a:t>alpha,</a:t>
            </a:r>
            <a:r>
              <a:rPr lang="ko-KR" altLang="en-US" sz="2400" dirty="0"/>
              <a:t> </a:t>
            </a:r>
            <a:r>
              <a:rPr lang="en-US" altLang="ko-KR" sz="2400" dirty="0"/>
              <a:t>l1_ratio</a:t>
            </a:r>
            <a:r>
              <a:rPr lang="ko-KR" altLang="en-US" sz="2400" dirty="0"/>
              <a:t>를 </a:t>
            </a:r>
            <a:r>
              <a:rPr lang="en-US" altLang="ko-KR" sz="2400" dirty="0"/>
              <a:t>cross-validation</a:t>
            </a:r>
            <a:r>
              <a:rPr lang="ko-KR" altLang="en-US" sz="2400" dirty="0"/>
              <a:t>으로 선택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400" dirty="0"/>
              <a:t> </a:t>
            </a:r>
            <a:r>
              <a:rPr lang="ko-KR" altLang="en-US" sz="2400" dirty="0" err="1"/>
              <a:t>찾고자하는</a:t>
            </a:r>
            <a:r>
              <a:rPr lang="ko-KR" altLang="en-US" sz="2400" dirty="0"/>
              <a:t> </a:t>
            </a:r>
            <a:r>
              <a:rPr lang="en-US" altLang="ko-KR" sz="2400" dirty="0"/>
              <a:t>alpha, l1_ratio </a:t>
            </a:r>
            <a:r>
              <a:rPr lang="ko-KR" altLang="en-US" sz="2400" dirty="0"/>
              <a:t>범위를 정하지 않는다면 자동적으로 최적의 값 탐색</a:t>
            </a:r>
            <a:r>
              <a:rPr lang="en-US" altLang="ko-KR" sz="2400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- alpha : </a:t>
            </a:r>
            <a:r>
              <a:rPr lang="ko-KR" altLang="en-US" sz="2000" dirty="0"/>
              <a:t>데이터에 따라 자동으로 </a:t>
            </a:r>
            <a:r>
              <a:rPr lang="en-US" altLang="ko-KR" sz="2000" dirty="0"/>
              <a:t>100</a:t>
            </a:r>
            <a:r>
              <a:rPr lang="ko-KR" altLang="en-US" sz="2000" dirty="0"/>
              <a:t>개의 값을 로그 스케일에서 생성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- l1_ratio : </a:t>
            </a:r>
            <a:r>
              <a:rPr lang="en-US" altLang="ko-KR" sz="1600" dirty="0"/>
              <a:t>[0.1, 0.5, 0.7, 0.9, 0.95, 0.99, 1.0]</a:t>
            </a:r>
            <a:r>
              <a:rPr lang="ko-KR" altLang="en-US" sz="2000" dirty="0"/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CDCBCC-88B4-D91E-5BD1-1094AABBB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356" y="3877044"/>
            <a:ext cx="5303287" cy="276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626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Fused lasso for Image denoising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ko-KR" sz="2400" dirty="0"/>
              <a:t> </a:t>
            </a:r>
            <a:r>
              <a:rPr lang="ko-KR" altLang="en-US" sz="2400" dirty="0"/>
              <a:t>실습에 사용하는 패키지</a:t>
            </a:r>
            <a:r>
              <a:rPr lang="en-US" altLang="ko-KR" sz="2400" dirty="0"/>
              <a:t>/</a:t>
            </a:r>
            <a:r>
              <a:rPr lang="ko-KR" altLang="en-US" sz="2400" dirty="0"/>
              <a:t>라이브러리</a:t>
            </a:r>
            <a:endParaRPr lang="en-US" altLang="ko-KR" sz="24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A10C5-9D63-B713-9888-C86BFAAF0D36}"/>
              </a:ext>
            </a:extLst>
          </p:cNvPr>
          <p:cNvSpPr txBox="1"/>
          <p:nvPr/>
        </p:nvSpPr>
        <p:spPr>
          <a:xfrm>
            <a:off x="1327052" y="2485070"/>
            <a:ext cx="9312811" cy="1703030"/>
          </a:xfrm>
          <a:prstGeom prst="rect">
            <a:avLst/>
          </a:prstGeom>
          <a:solidFill>
            <a:schemeClr val="bg1">
              <a:lumMod val="95000"/>
              <a:alpha val="46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import</a:t>
            </a:r>
            <a:r>
              <a:rPr lang="en-US" altLang="ko-KR" dirty="0"/>
              <a:t> </a:t>
            </a:r>
            <a:r>
              <a:rPr lang="en-US" altLang="ko-KR" dirty="0" err="1"/>
              <a:t>numpy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as</a:t>
            </a:r>
            <a:r>
              <a:rPr lang="en-US" altLang="ko-KR" dirty="0"/>
              <a:t> np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import</a:t>
            </a:r>
            <a:r>
              <a:rPr lang="en-US" altLang="ko-KR" dirty="0"/>
              <a:t> </a:t>
            </a:r>
            <a:r>
              <a:rPr lang="en-US" altLang="ko-KR" dirty="0" err="1"/>
              <a:t>matplotlib.pyplot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as</a:t>
            </a:r>
            <a:r>
              <a:rPr lang="en-US" altLang="ko-KR" dirty="0"/>
              <a:t> </a:t>
            </a:r>
            <a:r>
              <a:rPr lang="en-US" altLang="ko-KR" dirty="0" err="1"/>
              <a:t>plt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import</a:t>
            </a:r>
            <a:r>
              <a:rPr lang="en-US" altLang="ko-KR" dirty="0"/>
              <a:t> </a:t>
            </a:r>
            <a:r>
              <a:rPr lang="en-US" altLang="ko-KR" dirty="0" err="1"/>
              <a:t>cvxpy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as</a:t>
            </a:r>
            <a:r>
              <a:rPr lang="en-US" altLang="ko-KR" dirty="0"/>
              <a:t> cp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from</a:t>
            </a:r>
            <a:r>
              <a:rPr lang="en-US" altLang="ko-KR" dirty="0"/>
              <a:t> </a:t>
            </a:r>
            <a:r>
              <a:rPr lang="en-US" altLang="ko-KR" dirty="0" err="1"/>
              <a:t>skimage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import</a:t>
            </a:r>
            <a:r>
              <a:rPr lang="en-US" altLang="ko-KR" dirty="0"/>
              <a:t> data, color, util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5888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19EC7-6541-99DD-5371-7650D085D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F7042B-88C8-98A2-2598-B1858260B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Fused lasso for Image denoising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2568A06-4939-DA81-D100-D8C2BC90B29D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DDE7D502-F0B2-C028-261B-E8EEB17619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7758" y="1679705"/>
                <a:ext cx="10278762" cy="466725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en-US" altLang="ko-KR" sz="2400" dirty="0"/>
                  <a:t> </a:t>
                </a:r>
                <a:r>
                  <a:rPr lang="ko-KR" altLang="en-US" sz="2400" dirty="0"/>
                  <a:t>이미지 픽셀에 대한 모형</a:t>
                </a:r>
                <a:r>
                  <a:rPr lang="en-US" altLang="ko-KR" sz="2400" dirty="0">
                    <a:latin typeface="+mn-ea"/>
                  </a:rPr>
                  <a:t> 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=1,…,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=1,…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ko-KR" sz="2400" dirty="0">
                  <a:latin typeface="+mn-ea"/>
                </a:endParaRP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endParaRPr lang="en-US" altLang="ko-KR" sz="24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en-US" altLang="ko-KR" sz="2400" dirty="0"/>
                  <a:t> </a:t>
                </a:r>
                <a:r>
                  <a:rPr lang="ko-KR" altLang="en-US" sz="2400" dirty="0"/>
                  <a:t>목적함수 </a:t>
                </a:r>
                <a:r>
                  <a:rPr lang="en-US" altLang="ko-KR" sz="2400" dirty="0"/>
                  <a:t>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ko-K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ko-K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ko-K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ko-K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ko-K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ko-K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altLang="ko-K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e>
                                  </m:nary>
                                </m:e>
                              </m:nary>
                              <m:nary>
                                <m:naryPr>
                                  <m:chr m:val="∑"/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ko-KR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sz="2400" i="1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sz="2400" i="1"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ko-KR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sz="2400" i="1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sz="2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ko-K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  <m:r>
                                                <a:rPr lang="en-US" altLang="ko-KR" sz="24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ko-K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</m:nary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altLang="ko-KR" sz="2400" b="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endParaRPr lang="en-US" altLang="ko-KR" sz="24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en-US" altLang="ko-KR" sz="2400" b="0" dirty="0"/>
                  <a:t> </a:t>
                </a:r>
                <a:r>
                  <a:rPr lang="ko-KR" altLang="en-US" sz="2400" b="0" dirty="0"/>
                  <a:t>이미지 픽셀 값들이 급격히 변하지 않도록 부드러운 변화를 강제</a:t>
                </a:r>
                <a:r>
                  <a:rPr lang="en-US" altLang="ko-KR" sz="2400" b="0" dirty="0"/>
                  <a:t>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ko-KR" sz="2400" dirty="0"/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DDE7D502-F0B2-C028-261B-E8EEB17619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7758" y="1679705"/>
                <a:ext cx="10278762" cy="4667250"/>
              </a:xfrm>
              <a:blipFill>
                <a:blip r:embed="rId2"/>
                <a:stretch>
                  <a:fillRect l="-771" b="-1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4C42CEC-0522-D886-5D04-9595760DF86B}"/>
              </a:ext>
            </a:extLst>
          </p:cNvPr>
          <p:cNvCxnSpPr>
            <a:cxnSpLocks/>
          </p:cNvCxnSpPr>
          <p:nvPr/>
        </p:nvCxnSpPr>
        <p:spPr>
          <a:xfrm flipH="1">
            <a:off x="3191966" y="2637740"/>
            <a:ext cx="191589" cy="21771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2CA0988-CFCB-A222-B6F5-5345F2BFC85E}"/>
              </a:ext>
            </a:extLst>
          </p:cNvPr>
          <p:cNvSpPr txBox="1"/>
          <p:nvPr/>
        </p:nvSpPr>
        <p:spPr>
          <a:xfrm>
            <a:off x="2267682" y="2855454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픽셀 </a:t>
            </a:r>
            <a:r>
              <a:rPr lang="ko-KR" altLang="en-US" dirty="0" err="1"/>
              <a:t>관측값</a:t>
            </a:r>
            <a:endParaRPr lang="ko-KR" altLang="en-US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4EB3D32-2729-7229-637C-4C356CC881C4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4307839" y="2637740"/>
            <a:ext cx="0" cy="22110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36DBBEA-F276-59F7-BAFB-EF3122A8139A}"/>
              </a:ext>
            </a:extLst>
          </p:cNvPr>
          <p:cNvSpPr txBox="1"/>
          <p:nvPr/>
        </p:nvSpPr>
        <p:spPr>
          <a:xfrm>
            <a:off x="3658462" y="2858840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픽셀 </a:t>
            </a:r>
            <a:r>
              <a:rPr lang="ko-KR" altLang="en-US" dirty="0" err="1"/>
              <a:t>실제값</a:t>
            </a:r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E33D0D4-FB53-40A0-A2DD-0FC47E866387}"/>
              </a:ext>
            </a:extLst>
          </p:cNvPr>
          <p:cNvCxnSpPr>
            <a:cxnSpLocks/>
          </p:cNvCxnSpPr>
          <p:nvPr/>
        </p:nvCxnSpPr>
        <p:spPr>
          <a:xfrm>
            <a:off x="5232124" y="2642923"/>
            <a:ext cx="137541" cy="212531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1D5D959-92A5-67C8-C72E-0188FBE8F206}"/>
              </a:ext>
            </a:extLst>
          </p:cNvPr>
          <p:cNvSpPr txBox="1"/>
          <p:nvPr/>
        </p:nvSpPr>
        <p:spPr>
          <a:xfrm>
            <a:off x="5094320" y="2860318"/>
            <a:ext cx="2124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픽셀에 더해진 </a:t>
            </a:r>
            <a:r>
              <a:rPr lang="en-US" altLang="ko-KR" dirty="0"/>
              <a:t>noise</a:t>
            </a:r>
            <a:endParaRPr lang="ko-KR" altLang="en-US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D4A6226-C835-9495-83EB-21BCB29E967D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6587451" y="4934029"/>
            <a:ext cx="0" cy="22110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D25414F-4B32-FAF1-84DB-ECA73D8ACA79}"/>
              </a:ext>
            </a:extLst>
          </p:cNvPr>
          <p:cNvSpPr txBox="1"/>
          <p:nvPr/>
        </p:nvSpPr>
        <p:spPr>
          <a:xfrm>
            <a:off x="5591024" y="5155129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픽셀</a:t>
            </a:r>
            <a:r>
              <a:rPr lang="en-US" altLang="ko-KR" dirty="0"/>
              <a:t> </a:t>
            </a:r>
            <a:r>
              <a:rPr lang="ko-KR" altLang="en-US" dirty="0"/>
              <a:t>가로방향 차이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86999C2-41E9-77EF-6A28-E0DB3B0DD731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9420199" y="4934029"/>
            <a:ext cx="0" cy="22110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97403C1-95B9-589A-ACB7-639DC7A4A271}"/>
              </a:ext>
            </a:extLst>
          </p:cNvPr>
          <p:cNvSpPr txBox="1"/>
          <p:nvPr/>
        </p:nvSpPr>
        <p:spPr>
          <a:xfrm>
            <a:off x="8423772" y="5155129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픽셀 세로방향 차이</a:t>
            </a:r>
          </a:p>
        </p:txBody>
      </p:sp>
    </p:spTree>
    <p:extLst>
      <p:ext uri="{BB962C8B-B14F-4D97-AF65-F5344CB8AC3E}">
        <p14:creationId xmlns:p14="http://schemas.microsoft.com/office/powerpoint/2010/main" val="2501219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BEAD2-CB6C-41EF-3E41-A8B4F4EC6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17EA2E-9414-DEEA-69B7-E2CFED55B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58728" cy="1325563"/>
          </a:xfrm>
        </p:spPr>
        <p:txBody>
          <a:bodyPr/>
          <a:lstStyle/>
          <a:p>
            <a:r>
              <a:rPr lang="en-US" altLang="ko-KR" dirty="0"/>
              <a:t>Fused lasso for Image denoising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E6AF86B-A1CC-95BA-C8EA-E0866A6C827B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23F4D10F-3829-9375-14AD-549BFF4A0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831" y="1573051"/>
            <a:ext cx="7040338" cy="508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897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04D38-32A9-663C-6FBB-F15413ABE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4E29DC-FD60-992B-F2F1-FC7F86ED9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58728" cy="1325563"/>
          </a:xfrm>
        </p:spPr>
        <p:txBody>
          <a:bodyPr/>
          <a:lstStyle/>
          <a:p>
            <a:r>
              <a:rPr lang="en-US" altLang="ko-KR" dirty="0"/>
              <a:t>Fused lasso for Image denoising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47C6F23-A799-BA2D-87E4-61EF46D2EF39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93223413-7968-FB87-C0F6-9BC6D5E5B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889" y="1780272"/>
            <a:ext cx="6820852" cy="2772162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763AE34-CC27-F077-4538-068D8D08392D}"/>
              </a:ext>
            </a:extLst>
          </p:cNvPr>
          <p:cNvCxnSpPr>
            <a:cxnSpLocks/>
          </p:cNvCxnSpPr>
          <p:nvPr/>
        </p:nvCxnSpPr>
        <p:spPr>
          <a:xfrm flipH="1" flipV="1">
            <a:off x="5453164" y="4143985"/>
            <a:ext cx="791993" cy="768483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A2865D-CDD6-E28B-BB9D-D754EF27D5FC}"/>
                  </a:ext>
                </a:extLst>
              </p:cNvPr>
              <p:cNvSpPr txBox="1"/>
              <p:nvPr/>
            </p:nvSpPr>
            <p:spPr>
              <a:xfrm>
                <a:off x="4870315" y="5175885"/>
                <a:ext cx="7031520" cy="1365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ko-KR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ko-KR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ko-KR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ko-KR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altLang="ko-KR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e>
                                  </m:nary>
                                </m:e>
                              </m:nary>
                              <m:nary>
                                <m:naryPr>
                                  <m:chr m:val="∑"/>
                                  <m:ctrlP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sz="18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ko-KR" sz="1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ko-KR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sz="1800" i="1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sz="1800" i="1"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ko-KR" sz="1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ko-KR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sz="1800" i="1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sz="18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ko-KR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+1</m:t>
                                              </m:r>
                                              <m:r>
                                                <a:rPr lang="en-US" altLang="ko-KR" sz="18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ko-KR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</m:nary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altLang="ko-KR" sz="1800" b="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endParaRPr lang="en-US" altLang="ko-KR" sz="1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6A2865D-CDD6-E28B-BB9D-D754EF27D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0315" y="5175885"/>
                <a:ext cx="7031520" cy="13656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235E3F-14A8-2233-26E6-1752DB1DD017}"/>
                  </a:ext>
                </a:extLst>
              </p:cNvPr>
              <p:cNvSpPr txBox="1"/>
              <p:nvPr/>
            </p:nvSpPr>
            <p:spPr>
              <a:xfrm>
                <a:off x="4954813" y="4991219"/>
                <a:ext cx="30257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목적함수 최적화하는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ko-KR" altLang="en-US" dirty="0"/>
                  <a:t> 찾기 </a:t>
                </a:r>
                <a:r>
                  <a:rPr lang="en-US" altLang="ko-KR" dirty="0"/>
                  <a:t>: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235E3F-14A8-2233-26E6-1752DB1DD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4813" y="4991219"/>
                <a:ext cx="3025765" cy="369332"/>
              </a:xfrm>
              <a:prstGeom prst="rect">
                <a:avLst/>
              </a:prstGeom>
              <a:blipFill>
                <a:blip r:embed="rId4"/>
                <a:stretch>
                  <a:fillRect l="-1815" t="-11667" r="-806" b="-2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2108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45680-943A-589F-A94A-5E830EEB1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2F30C9-198D-7C59-9BDD-9E9C4856E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Fused lasso for Image denoising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AD53172-D72E-1A1D-4974-9B84BA14C7E6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B5483CE4-8C1F-E8D8-D579-6F3255621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74" y="2120073"/>
            <a:ext cx="3105583" cy="362953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C40676D-EE87-5B88-08BF-C700696B3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41" y="2546140"/>
            <a:ext cx="7954485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64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58A0-D71F-6750-0A5A-CC863E2AE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9025A-2552-191F-AC4E-B36600107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직접해보기 </a:t>
            </a:r>
            <a:r>
              <a:rPr lang="en-US" altLang="ko-KR" dirty="0"/>
              <a:t>– </a:t>
            </a:r>
            <a:r>
              <a:rPr lang="en-US" altLang="ko-KR" dirty="0" err="1"/>
              <a:t>boston</a:t>
            </a:r>
            <a:r>
              <a:rPr lang="en-US" altLang="ko-KR" dirty="0"/>
              <a:t> dataset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C587EE2-47DD-9960-05A7-019E511228EB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2707CB-07D0-E46D-08F0-1681A1EC2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723147"/>
            <a:ext cx="10278762" cy="347542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ko-KR" sz="2400" dirty="0"/>
              <a:t> </a:t>
            </a:r>
            <a:r>
              <a:rPr lang="en-US" altLang="ko-KR" sz="2400" dirty="0" err="1"/>
              <a:t>boston</a:t>
            </a:r>
            <a:r>
              <a:rPr lang="ko-KR" altLang="en-US" sz="2400" dirty="0"/>
              <a:t> 보스턴 집 값 데이터</a:t>
            </a:r>
            <a:endParaRPr lang="en-US" altLang="ko-KR" sz="24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데이터 설명 </a:t>
            </a:r>
            <a:r>
              <a:rPr lang="en-US" altLang="ko-KR" sz="2400" dirty="0">
                <a:latin typeface="+mn-ea"/>
              </a:rPr>
              <a:t>(n=506)</a:t>
            </a:r>
          </a:p>
          <a:p>
            <a:pPr lvl="1">
              <a:lnSpc>
                <a:spcPct val="120000"/>
              </a:lnSpc>
            </a:pPr>
            <a:r>
              <a:rPr lang="ko-KR" altLang="en-US" sz="2000" dirty="0">
                <a:latin typeface="+mn-ea"/>
              </a:rPr>
              <a:t>설명변수 </a:t>
            </a:r>
            <a:r>
              <a:rPr lang="en-US" altLang="ko-KR" sz="2000" dirty="0">
                <a:latin typeface="+mn-ea"/>
              </a:rPr>
              <a:t>: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A545EB4-4826-44BD-BB9B-4FD308708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189" y="2901340"/>
            <a:ext cx="4018175" cy="35915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A1EF37-6EA6-F583-4DBE-CD001C8DCD19}"/>
              </a:ext>
            </a:extLst>
          </p:cNvPr>
          <p:cNvSpPr txBox="1"/>
          <p:nvPr/>
        </p:nvSpPr>
        <p:spPr>
          <a:xfrm>
            <a:off x="6881137" y="2786638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반응변수 </a:t>
            </a:r>
            <a:r>
              <a:rPr lang="en-US" altLang="ko-KR" dirty="0"/>
              <a:t>: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2EF8F8D-A754-CC93-BE83-EFECF954C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2557" y="2848294"/>
            <a:ext cx="3008176" cy="20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810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1120E-438D-607C-F7A8-3C420C2F3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5B8793-AB8A-EEAA-E815-00A02310E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직접해보기 </a:t>
            </a:r>
            <a:r>
              <a:rPr lang="en-US" altLang="ko-KR" dirty="0"/>
              <a:t>– </a:t>
            </a:r>
            <a:r>
              <a:rPr lang="en-US" altLang="ko-KR" dirty="0" err="1"/>
              <a:t>boston</a:t>
            </a:r>
            <a:r>
              <a:rPr lang="en-US" altLang="ko-KR" dirty="0"/>
              <a:t> dataset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53760B3-5FFA-B96E-4CF9-B55A9083F76E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58B576-9E11-7D34-8561-6C23E308C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690688"/>
            <a:ext cx="10278762" cy="347542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ko-KR" sz="2400" dirty="0"/>
              <a:t> </a:t>
            </a:r>
            <a:r>
              <a:rPr lang="ko-KR" altLang="en-US" sz="2400" dirty="0"/>
              <a:t>데이터 불러오기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FD3FE6-1A5B-DD42-85BC-9E0D41F1E628}"/>
              </a:ext>
            </a:extLst>
          </p:cNvPr>
          <p:cNvSpPr txBox="1"/>
          <p:nvPr/>
        </p:nvSpPr>
        <p:spPr>
          <a:xfrm>
            <a:off x="1075038" y="2373549"/>
            <a:ext cx="10593421" cy="4031873"/>
          </a:xfrm>
          <a:prstGeom prst="rect">
            <a:avLst/>
          </a:prstGeom>
          <a:solidFill>
            <a:schemeClr val="bg1">
              <a:lumMod val="95000"/>
              <a:alpha val="46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</a:rPr>
              <a:t>import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urllib.request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 err="1"/>
              <a:t>data_url</a:t>
            </a:r>
            <a:r>
              <a:rPr lang="en-US" altLang="ko-KR" sz="1600" dirty="0"/>
              <a:t> = </a:t>
            </a:r>
            <a:r>
              <a:rPr lang="en-US" altLang="ko-KR" sz="1600" dirty="0">
                <a:solidFill>
                  <a:srgbClr val="C00000"/>
                </a:solidFill>
                <a:hlinkClick r:id="rId2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“</a:t>
            </a:r>
            <a:r>
              <a:rPr lang="en-US" altLang="ko-KR" sz="1600" dirty="0">
                <a:solidFill>
                  <a:srgbClr val="C00000"/>
                </a:solidFill>
              </a:rPr>
              <a:t>http://lib.stat.cmu.edu/datasets/</a:t>
            </a:r>
            <a:r>
              <a:rPr lang="en-US" altLang="ko-KR" sz="1600" dirty="0" err="1">
                <a:solidFill>
                  <a:srgbClr val="C00000"/>
                </a:solidFill>
              </a:rPr>
              <a:t>boston</a:t>
            </a:r>
            <a:r>
              <a:rPr lang="en-US" altLang="ko-KR" sz="1600" dirty="0">
                <a:solidFill>
                  <a:srgbClr val="C00000"/>
                </a:solidFill>
              </a:rPr>
              <a:t>”</a:t>
            </a:r>
          </a:p>
          <a:p>
            <a:r>
              <a:rPr lang="en-US" altLang="ko-KR" sz="1600" dirty="0" err="1"/>
              <a:t>raw_data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urllib.</a:t>
            </a:r>
            <a:r>
              <a:rPr lang="en-US" altLang="ko-KR" sz="1600" dirty="0" err="1">
                <a:solidFill>
                  <a:srgbClr val="0070C0"/>
                </a:solidFill>
              </a:rPr>
              <a:t>request</a:t>
            </a:r>
            <a:r>
              <a:rPr lang="en-US" altLang="ko-KR" sz="1600" dirty="0" err="1"/>
              <a:t>.</a:t>
            </a:r>
            <a:r>
              <a:rPr lang="en-US" altLang="ko-KR" sz="1600" dirty="0" err="1">
                <a:solidFill>
                  <a:srgbClr val="0070C0"/>
                </a:solidFill>
              </a:rPr>
              <a:t>urlopen</a:t>
            </a:r>
            <a:r>
              <a:rPr lang="en-US" altLang="ko-KR" sz="1600" dirty="0"/>
              <a:t>(</a:t>
            </a:r>
            <a:r>
              <a:rPr lang="en-US" altLang="ko-KR" sz="1600" dirty="0" err="1"/>
              <a:t>data_url</a:t>
            </a:r>
            <a:r>
              <a:rPr lang="en-US" altLang="ko-KR" sz="1600" dirty="0"/>
              <a:t>)</a:t>
            </a:r>
          </a:p>
          <a:p>
            <a:r>
              <a:rPr lang="en-US" altLang="ko-KR" sz="1600" dirty="0" err="1"/>
              <a:t>data_list</a:t>
            </a:r>
            <a:r>
              <a:rPr lang="en-US" altLang="ko-KR" sz="1600" dirty="0"/>
              <a:t> = [</a:t>
            </a:r>
            <a:r>
              <a:rPr lang="en-US" altLang="ko-KR" sz="1600" dirty="0" err="1"/>
              <a:t>line.</a:t>
            </a:r>
            <a:r>
              <a:rPr lang="en-US" altLang="ko-KR" sz="1600" dirty="0" err="1">
                <a:solidFill>
                  <a:srgbClr val="0070C0"/>
                </a:solidFill>
              </a:rPr>
              <a:t>decode</a:t>
            </a:r>
            <a:r>
              <a:rPr lang="en-US" altLang="ko-KR" sz="1600" dirty="0"/>
              <a:t>(</a:t>
            </a:r>
            <a:r>
              <a:rPr lang="en-US" altLang="ko-KR" sz="1600" dirty="0">
                <a:solidFill>
                  <a:srgbClr val="C00000"/>
                </a:solidFill>
              </a:rPr>
              <a:t>'utf-8'</a:t>
            </a:r>
            <a:r>
              <a:rPr lang="en-US" altLang="ko-KR" sz="1600" dirty="0"/>
              <a:t>).</a:t>
            </a:r>
            <a:r>
              <a:rPr lang="en-US" altLang="ko-KR" sz="1600" dirty="0">
                <a:solidFill>
                  <a:srgbClr val="0070C0"/>
                </a:solidFill>
              </a:rPr>
              <a:t>strip</a:t>
            </a:r>
            <a:r>
              <a:rPr lang="en-US" altLang="ko-KR" sz="1600" dirty="0"/>
              <a:t>() </a:t>
            </a:r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</a:rPr>
              <a:t>for</a:t>
            </a:r>
            <a:r>
              <a:rPr lang="en-US" altLang="ko-KR" sz="1600" dirty="0"/>
              <a:t> line </a:t>
            </a:r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</a:rPr>
              <a:t>in</a:t>
            </a:r>
            <a:r>
              <a:rPr lang="en-US" altLang="ko-KR" sz="1600" dirty="0"/>
              <a:t> </a:t>
            </a:r>
            <a:r>
              <a:rPr lang="en-US" altLang="ko-KR" sz="1600" dirty="0" err="1"/>
              <a:t>raw_data.</a:t>
            </a:r>
            <a:r>
              <a:rPr lang="en-US" altLang="ko-KR" sz="1600" dirty="0" err="1">
                <a:solidFill>
                  <a:srgbClr val="0070C0"/>
                </a:solidFill>
              </a:rPr>
              <a:t>readlines</a:t>
            </a:r>
            <a:r>
              <a:rPr lang="en-US" altLang="ko-KR" sz="1600" dirty="0"/>
              <a:t>()]</a:t>
            </a:r>
          </a:p>
          <a:p>
            <a:r>
              <a:rPr lang="en-US" altLang="ko-KR" sz="1600" dirty="0" err="1"/>
              <a:t>data_list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data_list</a:t>
            </a:r>
            <a:r>
              <a:rPr lang="en-US" altLang="ko-KR" sz="1600" dirty="0"/>
              <a:t>[</a:t>
            </a:r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</a:rPr>
              <a:t>22</a:t>
            </a:r>
            <a:r>
              <a:rPr lang="en-US" altLang="ko-KR" sz="1600" dirty="0"/>
              <a:t>:]  </a:t>
            </a:r>
          </a:p>
          <a:p>
            <a:endParaRPr lang="en-US" altLang="ko-KR" sz="1600" dirty="0"/>
          </a:p>
          <a:p>
            <a:r>
              <a:rPr lang="en-US" altLang="ko-KR" sz="1600" dirty="0" err="1"/>
              <a:t>data_values</a:t>
            </a:r>
            <a:r>
              <a:rPr lang="en-US" altLang="ko-KR" sz="1600" dirty="0"/>
              <a:t> = []</a:t>
            </a:r>
          </a:p>
          <a:p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</a:rPr>
              <a:t>for</a:t>
            </a:r>
            <a:r>
              <a:rPr lang="en-US" altLang="ko-KR" sz="1600" dirty="0"/>
              <a:t>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 </a:t>
            </a:r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</a:rPr>
              <a:t>in range</a:t>
            </a:r>
            <a:r>
              <a:rPr lang="en-US" altLang="ko-KR" sz="1600" dirty="0"/>
              <a:t>(</a:t>
            </a:r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</a:rPr>
              <a:t>0</a:t>
            </a:r>
            <a:r>
              <a:rPr lang="en-US" altLang="ko-KR" sz="1600" dirty="0"/>
              <a:t>, </a:t>
            </a:r>
            <a:r>
              <a:rPr lang="en-US" altLang="ko-KR" sz="1600" dirty="0" err="1">
                <a:solidFill>
                  <a:schemeClr val="accent6">
                    <a:lumMod val="75000"/>
                  </a:schemeClr>
                </a:solidFill>
              </a:rPr>
              <a:t>len</a:t>
            </a:r>
            <a:r>
              <a:rPr lang="en-US" altLang="ko-KR" sz="1600" dirty="0"/>
              <a:t>(</a:t>
            </a:r>
            <a:r>
              <a:rPr lang="en-US" altLang="ko-KR" sz="1600" dirty="0" err="1"/>
              <a:t>data_list</a:t>
            </a:r>
            <a:r>
              <a:rPr lang="en-US" altLang="ko-KR" sz="1600" dirty="0"/>
              <a:t>), 2):    </a:t>
            </a:r>
          </a:p>
          <a:p>
            <a:r>
              <a:rPr lang="en-US" altLang="ko-KR" sz="1600" dirty="0"/>
              <a:t>	row1 = </a:t>
            </a:r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</a:rPr>
              <a:t>list</a:t>
            </a:r>
            <a:r>
              <a:rPr lang="en-US" altLang="ko-KR" sz="1600" dirty="0"/>
              <a:t>(</a:t>
            </a:r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</a:rPr>
              <a:t>map</a:t>
            </a:r>
            <a:r>
              <a:rPr lang="en-US" altLang="ko-KR" sz="1600" dirty="0"/>
              <a:t>(</a:t>
            </a:r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</a:rPr>
              <a:t>float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data_list</a:t>
            </a:r>
            <a:r>
              <a:rPr lang="en-US" altLang="ko-KR" sz="1600" dirty="0"/>
              <a:t>[</a:t>
            </a:r>
            <a:r>
              <a:rPr lang="en-US" altLang="ko-KR" sz="1600" dirty="0" err="1"/>
              <a:t>i</a:t>
            </a:r>
            <a:r>
              <a:rPr lang="en-US" altLang="ko-KR" sz="1600" dirty="0"/>
              <a:t>].</a:t>
            </a:r>
            <a:r>
              <a:rPr lang="en-US" altLang="ko-KR" sz="1600" dirty="0">
                <a:solidFill>
                  <a:srgbClr val="0070C0"/>
                </a:solidFill>
              </a:rPr>
              <a:t>split</a:t>
            </a:r>
            <a:r>
              <a:rPr lang="en-US" altLang="ko-KR" sz="1600" dirty="0"/>
              <a:t>()))    </a:t>
            </a:r>
          </a:p>
          <a:p>
            <a:r>
              <a:rPr lang="en-US" altLang="ko-KR" sz="1600" dirty="0"/>
              <a:t>	row2 = </a:t>
            </a:r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</a:rPr>
              <a:t>list</a:t>
            </a:r>
            <a:r>
              <a:rPr lang="en-US" altLang="ko-KR" sz="1600" dirty="0"/>
              <a:t>(</a:t>
            </a:r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</a:rPr>
              <a:t>map</a:t>
            </a:r>
            <a:r>
              <a:rPr lang="en-US" altLang="ko-KR" sz="1600" dirty="0"/>
              <a:t>(</a:t>
            </a:r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</a:rPr>
              <a:t>float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data_list</a:t>
            </a:r>
            <a:r>
              <a:rPr lang="en-US" altLang="ko-KR" sz="1600" dirty="0"/>
              <a:t>[</a:t>
            </a:r>
            <a:r>
              <a:rPr lang="en-US" altLang="ko-KR" sz="1600" dirty="0" err="1"/>
              <a:t>i</a:t>
            </a:r>
            <a:r>
              <a:rPr lang="en-US" altLang="ko-KR" sz="1600" dirty="0"/>
              <a:t> + </a:t>
            </a:r>
            <a:r>
              <a:rPr lang="en-US" altLang="ko-KR" sz="16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altLang="ko-KR" sz="1600" dirty="0"/>
              <a:t>].</a:t>
            </a:r>
            <a:r>
              <a:rPr lang="en-US" altLang="ko-KR" sz="1600" dirty="0">
                <a:solidFill>
                  <a:srgbClr val="0070C0"/>
                </a:solidFill>
              </a:rPr>
              <a:t>split</a:t>
            </a:r>
            <a:r>
              <a:rPr lang="en-US" altLang="ko-KR" sz="1600" dirty="0"/>
              <a:t>()))    </a:t>
            </a:r>
          </a:p>
          <a:p>
            <a:r>
              <a:rPr lang="en-US" altLang="ko-KR" sz="1600" dirty="0"/>
              <a:t>	</a:t>
            </a:r>
            <a:r>
              <a:rPr lang="en-US" altLang="ko-KR" sz="1600" dirty="0" err="1"/>
              <a:t>data_values.</a:t>
            </a:r>
            <a:r>
              <a:rPr lang="en-US" altLang="ko-KR" sz="1600" dirty="0" err="1">
                <a:solidFill>
                  <a:srgbClr val="0070C0"/>
                </a:solidFill>
              </a:rPr>
              <a:t>append</a:t>
            </a:r>
            <a:r>
              <a:rPr lang="en-US" altLang="ko-KR" sz="1600" dirty="0"/>
              <a:t>(row1 + row2)</a:t>
            </a:r>
          </a:p>
          <a:p>
            <a:endParaRPr lang="en-US" altLang="ko-KR" sz="1600" dirty="0"/>
          </a:p>
          <a:p>
            <a:r>
              <a:rPr lang="en-US" altLang="ko-KR" sz="1600" dirty="0" err="1"/>
              <a:t>column_names</a:t>
            </a:r>
            <a:r>
              <a:rPr lang="en-US" altLang="ko-KR" sz="1600" dirty="0"/>
              <a:t> = [  </a:t>
            </a:r>
            <a:r>
              <a:rPr lang="en-US" altLang="ko-KR" sz="1600" dirty="0">
                <a:solidFill>
                  <a:srgbClr val="C00000"/>
                </a:solidFill>
              </a:rPr>
              <a:t>"CRIM", "ZN", "INDUS", "CHAS", "NOX", "RM", "AGE", "DIS", "RAD", "TAX",  "PTRATIO", "B", 		"LSTAT", "target"</a:t>
            </a:r>
            <a:r>
              <a:rPr lang="en-US" altLang="ko-KR" sz="1600" dirty="0"/>
              <a:t>]</a:t>
            </a:r>
          </a:p>
          <a:p>
            <a:r>
              <a:rPr lang="en-US" altLang="ko-KR" sz="1600" dirty="0" err="1"/>
              <a:t>boston_df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pd.</a:t>
            </a:r>
            <a:r>
              <a:rPr lang="en-US" altLang="ko-KR" sz="1600" dirty="0" err="1">
                <a:solidFill>
                  <a:srgbClr val="0070C0"/>
                </a:solidFill>
              </a:rPr>
              <a:t>DataFrame</a:t>
            </a:r>
            <a:r>
              <a:rPr lang="en-US" altLang="ko-KR" sz="1600" dirty="0"/>
              <a:t>(</a:t>
            </a:r>
            <a:r>
              <a:rPr lang="en-US" altLang="ko-KR" sz="1600" dirty="0" err="1"/>
              <a:t>data_values</a:t>
            </a:r>
            <a:r>
              <a:rPr lang="en-US" altLang="ko-KR" sz="1600" dirty="0"/>
              <a:t>, columns=</a:t>
            </a:r>
            <a:r>
              <a:rPr lang="en-US" altLang="ko-KR" sz="1600" dirty="0" err="1"/>
              <a:t>column_names</a:t>
            </a:r>
            <a:r>
              <a:rPr lang="en-US" altLang="ko-KR" sz="1600" dirty="0"/>
              <a:t>)		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69293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4BD83-325E-06E2-4041-84AAC0858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3B876F-A363-CD9B-6AF8-6F0C97CAC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직접해보기 </a:t>
            </a:r>
            <a:r>
              <a:rPr lang="en-US" altLang="ko-KR" dirty="0"/>
              <a:t>– </a:t>
            </a:r>
            <a:r>
              <a:rPr lang="en-US" altLang="ko-KR" dirty="0" err="1"/>
              <a:t>boston</a:t>
            </a:r>
            <a:r>
              <a:rPr lang="en-US" altLang="ko-KR" dirty="0"/>
              <a:t> dataset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309AFE9-3AB5-58DD-8AD1-DCD6E8CAADA3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8D32F0-48A6-AFD8-E94D-A07B5FEAC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dirty="0">
                <a:latin typeface="+mn-ea"/>
              </a:rPr>
              <a:t>각 변수의 </a:t>
            </a:r>
            <a:r>
              <a:rPr lang="ko-KR" altLang="en-US" sz="2400" dirty="0" err="1">
                <a:latin typeface="+mn-ea"/>
              </a:rPr>
              <a:t>기초통계량을</a:t>
            </a:r>
            <a:r>
              <a:rPr lang="ko-KR" altLang="en-US" sz="2400" dirty="0">
                <a:latin typeface="+mn-ea"/>
              </a:rPr>
              <a:t> 살펴본다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+mn-ea"/>
              </a:rPr>
              <a:t>Training</a:t>
            </a:r>
            <a:r>
              <a:rPr lang="ko-KR" altLang="en-US" sz="2400" dirty="0">
                <a:latin typeface="+mn-ea"/>
              </a:rPr>
              <a:t> </a:t>
            </a:r>
            <a:r>
              <a:rPr lang="en-US" altLang="ko-KR" sz="2400" dirty="0">
                <a:latin typeface="+mn-ea"/>
              </a:rPr>
              <a:t>set</a:t>
            </a:r>
            <a:r>
              <a:rPr lang="ko-KR" altLang="en-US" sz="2400" dirty="0">
                <a:latin typeface="+mn-ea"/>
              </a:rPr>
              <a:t>과 </a:t>
            </a:r>
            <a:r>
              <a:rPr lang="en-US" altLang="ko-KR" sz="2400" dirty="0">
                <a:latin typeface="+mn-ea"/>
              </a:rPr>
              <a:t>Test set</a:t>
            </a:r>
            <a:r>
              <a:rPr lang="ko-KR" altLang="en-US" sz="2400" dirty="0">
                <a:latin typeface="+mn-ea"/>
              </a:rPr>
              <a:t>으로 분할하고 설명변수들을 </a:t>
            </a:r>
            <a:r>
              <a:rPr lang="ko-KR" altLang="en-US" sz="2400" dirty="0" err="1">
                <a:latin typeface="+mn-ea"/>
              </a:rPr>
              <a:t>표준화한다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+mn-ea"/>
              </a:rPr>
              <a:t>Ridge, Lasso, Elastic Net</a:t>
            </a:r>
            <a:r>
              <a:rPr lang="ko-KR" altLang="en-US" sz="2400" dirty="0">
                <a:latin typeface="+mn-ea"/>
              </a:rPr>
              <a:t>을 적용한다</a:t>
            </a:r>
            <a:r>
              <a:rPr lang="en-US" altLang="ko-KR" sz="2400" dirty="0">
                <a:latin typeface="+mn-ea"/>
              </a:rPr>
              <a:t>. </a:t>
            </a:r>
            <a:endParaRPr lang="en-US" altLang="ko-KR" sz="16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dirty="0">
                <a:latin typeface="+mn-ea"/>
              </a:rPr>
              <a:t>각 모형을 평가하여 어떤 모형이 가장 </a:t>
            </a:r>
            <a:r>
              <a:rPr lang="ko-KR" altLang="en-US" sz="2400" dirty="0" err="1">
                <a:latin typeface="+mn-ea"/>
              </a:rPr>
              <a:t>좋은지</a:t>
            </a:r>
            <a:r>
              <a:rPr lang="ko-KR" altLang="en-US" sz="2400" dirty="0">
                <a:latin typeface="+mn-ea"/>
              </a:rPr>
              <a:t> 판단한다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sz="2400" dirty="0">
                <a:latin typeface="+mn-ea"/>
              </a:rPr>
              <a:t>Lasso</a:t>
            </a:r>
            <a:r>
              <a:rPr lang="ko-KR" altLang="en-US" sz="2400" dirty="0">
                <a:latin typeface="+mn-ea"/>
              </a:rPr>
              <a:t>와 </a:t>
            </a:r>
            <a:r>
              <a:rPr lang="en-US" altLang="ko-KR" sz="2400" dirty="0">
                <a:latin typeface="+mn-ea"/>
              </a:rPr>
              <a:t>Elastic Net</a:t>
            </a:r>
            <a:r>
              <a:rPr lang="ko-KR" altLang="en-US" sz="2400" dirty="0">
                <a:latin typeface="+mn-ea"/>
              </a:rPr>
              <a:t>을 통해 선택된 변수들은 무엇인가</a:t>
            </a:r>
            <a:r>
              <a:rPr lang="en-US" altLang="ko-KR" sz="2400" dirty="0">
                <a:latin typeface="+mn-ea"/>
              </a:rPr>
              <a:t>?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5645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7442A-7527-9AA6-08BA-7062BA329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F40625-C3D7-D313-D00B-D20E381E3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직접해보기 </a:t>
            </a:r>
            <a:r>
              <a:rPr lang="en-US" altLang="ko-KR" dirty="0"/>
              <a:t>– </a:t>
            </a:r>
            <a:r>
              <a:rPr lang="en-US" altLang="ko-KR" dirty="0" err="1"/>
              <a:t>boston</a:t>
            </a:r>
            <a:r>
              <a:rPr lang="en-US" altLang="ko-KR" dirty="0"/>
              <a:t> dataset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35EEC96-E9D2-50E1-FD9B-82F6E1E7F199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B1168616-0519-AAF7-1BC7-AECF124AB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421804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3252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312E9-6D52-8B64-C167-F5AA45EA6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230781-AD74-67B5-EFCF-563F6481F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직접해보기 </a:t>
            </a:r>
            <a:r>
              <a:rPr lang="en-US" altLang="ko-KR" dirty="0"/>
              <a:t>– </a:t>
            </a:r>
            <a:r>
              <a:rPr lang="en-US" altLang="ko-KR" dirty="0" err="1"/>
              <a:t>boston</a:t>
            </a:r>
            <a:r>
              <a:rPr lang="en-US" altLang="ko-KR" dirty="0"/>
              <a:t> dataset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CCE5FB0-D66F-4FD2-F3C6-CA49DCCDFEF5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00661FE1-A72E-4945-DA0D-0F35CD423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074" y="1942225"/>
            <a:ext cx="7001852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225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378CA-4862-1036-BD2D-612605EBE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6B6C61-4D0A-679F-AA4F-1EA60E291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직접해보기 </a:t>
            </a:r>
            <a:r>
              <a:rPr lang="en-US" altLang="ko-KR" dirty="0"/>
              <a:t>– </a:t>
            </a:r>
            <a:r>
              <a:rPr lang="en-US" altLang="ko-KR" dirty="0" err="1"/>
              <a:t>boston</a:t>
            </a:r>
            <a:r>
              <a:rPr lang="en-US" altLang="ko-KR" dirty="0"/>
              <a:t> dataset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94DE3C5-A887-5B6E-1B61-D3EC60F9B91F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B0AADF17-A0AD-14D9-5C17-233500617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941" y="2551070"/>
            <a:ext cx="8726118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9965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>
              <a:buFontTx/>
              <a:buNone/>
            </a:pPr>
            <a:r>
              <a:rPr lang="ko-KR" altLang="ko-KR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의사결정나무</a:t>
            </a:r>
            <a:endParaRPr lang="ko-KR" altLang="en-US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7960"/>
            <a:ext cx="29184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내용 개체 틀 4"/>
          <p:cNvSpPr txBox="1">
            <a:spLocks noGrp="1"/>
          </p:cNvSpPr>
          <p:nvPr>
            <p:ph idx="2"/>
          </p:nvPr>
        </p:nvSpPr>
        <p:spPr>
          <a:xfrm>
            <a:off x="838200" y="1825625"/>
            <a:ext cx="10516870" cy="85725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66700" indent="-2540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/>
              <a:buChar char="l"/>
              <a:tabLst>
                <a:tab pos="122555" algn="l"/>
              </a:tabLst>
            </a:pPr>
            <a:r>
              <a:rPr lang="ko-KR" spc="-10" dirty="0">
                <a:latin typeface="+mn-ea"/>
              </a:rPr>
              <a:t> </a:t>
            </a:r>
            <a:r>
              <a:rPr lang="ko-KR" spc="-10" dirty="0" err="1">
                <a:latin typeface="+mn-ea"/>
              </a:rPr>
              <a:t>Import</a:t>
            </a:r>
            <a:r>
              <a:rPr lang="ko-KR" spc="-10" dirty="0">
                <a:latin typeface="+mn-ea"/>
              </a:rPr>
              <a:t> </a:t>
            </a:r>
            <a:r>
              <a:rPr lang="ko-KR" spc="-10" dirty="0" err="1">
                <a:latin typeface="+mn-ea"/>
              </a:rPr>
              <a:t>library</a:t>
            </a:r>
            <a:endParaRPr lang="ko-KR" altLang="en-US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A6CE63-3D39-4D6D-8EB7-C5C4E5E24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23439"/>
            <a:ext cx="6401693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9641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7EB41-F4CB-11D6-BA78-E63DF08F3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b="0" i="0" spc="130" dirty="0">
                <a:latin typeface="나눔스퀘어OTF Bold" panose="020B0600000101010101" pitchFamily="34" charset="-127"/>
                <a:ea typeface="나눔스퀘어OTF Bold" panose="020B0600000101010101" pitchFamily="34" charset="-127"/>
                <a:sym typeface="맑은 고딕" charset="0"/>
              </a:rPr>
              <a:t>Hitters</a:t>
            </a:r>
            <a:r>
              <a:rPr lang="en-US" altLang="ko-KR" sz="4400" b="0" i="0" spc="140" dirty="0">
                <a:latin typeface="나눔스퀘어OTF Bold" panose="020B0600000101010101" pitchFamily="34" charset="-127"/>
                <a:ea typeface="나눔스퀘어OTF Bold" panose="020B0600000101010101" pitchFamily="34" charset="-127"/>
                <a:sym typeface="맑은 고딕" charset="0"/>
              </a:rPr>
              <a:t> </a:t>
            </a:r>
            <a:r>
              <a:rPr lang="en-US" altLang="ko-KR" sz="4400" b="0" i="0" spc="-30" dirty="0">
                <a:latin typeface="나눔스퀘어OTF Bold" panose="020B0600000101010101" pitchFamily="34" charset="-127"/>
                <a:ea typeface="나눔스퀘어OTF Bold" panose="020B0600000101010101" pitchFamily="34" charset="-127"/>
                <a:sym typeface="맑은 고딕" charset="0"/>
              </a:rPr>
              <a:t>dataset</a:t>
            </a:r>
            <a:endParaRPr lang="ko-KR" altLang="en-US" sz="4400" b="0" i="0" dirty="0">
              <a:latin typeface="+mn-ea"/>
              <a:ea typeface="+mn-ea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97C9915-15A0-8FBD-A6CB-3FAE8EEA8059}"/>
              </a:ext>
            </a:extLst>
          </p:cNvPr>
          <p:cNvCxnSpPr/>
          <p:nvPr/>
        </p:nvCxnSpPr>
        <p:spPr>
          <a:xfrm>
            <a:off x="838200" y="1457960"/>
            <a:ext cx="29184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66700" indent="-254000">
              <a:buFont typeface="Wingdings"/>
              <a:buChar char="l"/>
              <a:tabLst>
                <a:tab pos="122555" algn="l"/>
              </a:tabLst>
            </a:pPr>
            <a:r>
              <a:rPr sz="2000" spc="-30" dirty="0">
                <a:latin typeface="+mn-ea"/>
                <a:sym typeface="맑은 고딕" charset="0"/>
              </a:rPr>
              <a:t>1986년도부터</a:t>
            </a:r>
            <a:r>
              <a:rPr sz="2000" spc="20" dirty="0">
                <a:latin typeface="+mn-ea"/>
                <a:sym typeface="맑은 고딕" charset="0"/>
              </a:rPr>
              <a:t> </a:t>
            </a:r>
            <a:r>
              <a:rPr sz="2000" spc="-10" dirty="0">
                <a:latin typeface="+mn-ea"/>
                <a:sym typeface="맑은 고딕" charset="0"/>
              </a:rPr>
              <a:t>1987년도까지의</a:t>
            </a:r>
            <a:r>
              <a:rPr sz="2000" spc="2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MLB</a:t>
            </a:r>
            <a:r>
              <a:rPr sz="2000" spc="120" dirty="0">
                <a:latin typeface="+mn-ea"/>
                <a:sym typeface="맑은 고딕" charset="0"/>
              </a:rPr>
              <a:t> </a:t>
            </a:r>
            <a:r>
              <a:rPr sz="2000" spc="-20" dirty="0" err="1">
                <a:latin typeface="+mn-ea"/>
                <a:sym typeface="맑은 고딕" charset="0"/>
              </a:rPr>
              <a:t>자료</a:t>
            </a:r>
            <a:r>
              <a:rPr sz="2000" spc="-20" dirty="0">
                <a:latin typeface="+mn-ea"/>
                <a:sym typeface="맑은 고딕" charset="0"/>
              </a:rPr>
              <a:t>.</a:t>
            </a:r>
            <a:endParaRPr lang="ko-KR" altLang="en-US" sz="2000" dirty="0">
              <a:latin typeface="+mn-ea"/>
              <a:sym typeface="맑은 고딕" charset="0"/>
            </a:endParaRPr>
          </a:p>
          <a:p>
            <a:pPr marL="266700" indent="-254000">
              <a:buFont typeface="Wingdings"/>
              <a:buChar char="l"/>
              <a:tabLst>
                <a:tab pos="122555" algn="l"/>
              </a:tabLst>
            </a:pPr>
            <a:r>
              <a:rPr sz="2000" spc="-30" dirty="0">
                <a:latin typeface="+mn-ea"/>
                <a:sym typeface="맑은 고딕" charset="0"/>
              </a:rPr>
              <a:t>20개의 </a:t>
            </a:r>
            <a:r>
              <a:rPr sz="2000" spc="-10" dirty="0" err="1">
                <a:latin typeface="+mn-ea"/>
                <a:sym typeface="맑은 고딕" charset="0"/>
              </a:rPr>
              <a:t>변수와</a:t>
            </a:r>
            <a:r>
              <a:rPr sz="2000" spc="-30" dirty="0">
                <a:latin typeface="+mn-ea"/>
                <a:sym typeface="맑은 고딕" charset="0"/>
              </a:rPr>
              <a:t> </a:t>
            </a:r>
            <a:r>
              <a:rPr sz="2000" spc="-10" dirty="0">
                <a:latin typeface="+mn-ea"/>
                <a:sym typeface="맑은 고딕" charset="0"/>
              </a:rPr>
              <a:t>322개의</a:t>
            </a:r>
            <a:r>
              <a:rPr sz="2000" spc="-30" dirty="0">
                <a:latin typeface="+mn-ea"/>
                <a:sym typeface="맑은 고딕" charset="0"/>
              </a:rPr>
              <a:t> </a:t>
            </a:r>
            <a:r>
              <a:rPr sz="2000" spc="-20" dirty="0" err="1">
                <a:latin typeface="+mn-ea"/>
                <a:sym typeface="맑은 고딕" charset="0"/>
              </a:rPr>
              <a:t>관측값으로</a:t>
            </a:r>
            <a:r>
              <a:rPr sz="2000" spc="-3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구성되어있다</a:t>
            </a:r>
            <a:r>
              <a:rPr sz="2000" dirty="0">
                <a:latin typeface="+mn-ea"/>
                <a:sym typeface="맑은 고딕" charset="0"/>
              </a:rPr>
              <a:t>.</a:t>
            </a:r>
            <a:endParaRPr lang="ko-KR" altLang="en-US" sz="2000" dirty="0">
              <a:latin typeface="+mn-ea"/>
              <a:sym typeface="맑은 고딕" charset="0"/>
            </a:endParaRPr>
          </a:p>
          <a:p>
            <a:pPr marL="266700" indent="-254000">
              <a:buFont typeface="Wingdings"/>
              <a:buChar char="l"/>
              <a:tabLst>
                <a:tab pos="122555" algn="l"/>
              </a:tabLst>
            </a:pPr>
            <a:r>
              <a:rPr sz="2000" spc="-10" dirty="0" err="1">
                <a:latin typeface="+mn-ea"/>
                <a:sym typeface="맑은 고딕" charset="0"/>
              </a:rPr>
              <a:t>변수설명</a:t>
            </a:r>
            <a:endParaRPr lang="ko-KR" altLang="en-US" sz="2000" dirty="0">
              <a:latin typeface="+mn-ea"/>
              <a:sym typeface="맑은 고딕" charset="0"/>
            </a:endParaRPr>
          </a:p>
          <a:p>
            <a:pPr marL="497840" marR="5080" lvl="1" indent="-254000">
              <a:buFont typeface="Wingdings"/>
              <a:buChar char="l"/>
              <a:tabLst>
                <a:tab pos="351155" algn="l"/>
              </a:tabLst>
            </a:pPr>
            <a:r>
              <a:rPr sz="2000" dirty="0" err="1">
                <a:latin typeface="+mn-ea"/>
                <a:sym typeface="맑은 고딕" charset="0"/>
              </a:rPr>
              <a:t>AtBat</a:t>
            </a:r>
            <a:r>
              <a:rPr sz="2000" dirty="0">
                <a:latin typeface="+mn-ea"/>
                <a:sym typeface="맑은 고딕" charset="0"/>
              </a:rPr>
              <a:t>,</a:t>
            </a:r>
            <a:r>
              <a:rPr sz="2000" spc="11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Hits,</a:t>
            </a:r>
            <a:r>
              <a:rPr sz="2000" spc="11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HmRun</a:t>
            </a:r>
            <a:r>
              <a:rPr sz="2000" dirty="0">
                <a:latin typeface="+mn-ea"/>
                <a:sym typeface="맑은 고딕" charset="0"/>
              </a:rPr>
              <a:t>,</a:t>
            </a:r>
            <a:r>
              <a:rPr sz="2000" spc="11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Runs,</a:t>
            </a:r>
            <a:r>
              <a:rPr sz="2000" spc="11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RBI,</a:t>
            </a:r>
            <a:r>
              <a:rPr sz="2000" spc="12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Walks</a:t>
            </a:r>
            <a:r>
              <a:rPr sz="2000" spc="11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:</a:t>
            </a:r>
            <a:r>
              <a:rPr sz="2000" spc="11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1986년도</a:t>
            </a:r>
            <a:r>
              <a:rPr sz="2000" spc="3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타격</a:t>
            </a:r>
            <a:r>
              <a:rPr sz="2000" dirty="0">
                <a:latin typeface="+mn-ea"/>
                <a:sym typeface="맑은 고딕" charset="0"/>
              </a:rPr>
              <a:t>,</a:t>
            </a:r>
            <a:r>
              <a:rPr sz="2000" spc="3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안타</a:t>
            </a:r>
            <a:r>
              <a:rPr sz="2000" dirty="0">
                <a:latin typeface="+mn-ea"/>
                <a:sym typeface="맑은 고딕" charset="0"/>
              </a:rPr>
              <a:t>,</a:t>
            </a:r>
            <a:r>
              <a:rPr sz="2000" spc="3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홈런</a:t>
            </a:r>
            <a:r>
              <a:rPr sz="2000" dirty="0">
                <a:latin typeface="+mn-ea"/>
                <a:sym typeface="맑은 고딕" charset="0"/>
              </a:rPr>
              <a:t>,</a:t>
            </a:r>
            <a:r>
              <a:rPr sz="2000" spc="30" dirty="0">
                <a:latin typeface="+mn-ea"/>
                <a:sym typeface="맑은 고딕" charset="0"/>
              </a:rPr>
              <a:t> </a:t>
            </a:r>
            <a:r>
              <a:rPr sz="2000" spc="-20" dirty="0" err="1">
                <a:latin typeface="+mn-ea"/>
                <a:sym typeface="맑은 고딕" charset="0"/>
              </a:rPr>
              <a:t>득점</a:t>
            </a:r>
            <a:r>
              <a:rPr sz="2000" spc="-20" dirty="0">
                <a:latin typeface="+mn-ea"/>
                <a:sym typeface="맑은 고딕" charset="0"/>
              </a:rPr>
              <a:t>, </a:t>
            </a:r>
            <a:r>
              <a:rPr sz="2000" dirty="0" err="1">
                <a:latin typeface="+mn-ea"/>
                <a:sym typeface="맑은 고딕" charset="0"/>
              </a:rPr>
              <a:t>타점</a:t>
            </a:r>
            <a:r>
              <a:rPr sz="2000" dirty="0">
                <a:latin typeface="+mn-ea"/>
                <a:sym typeface="맑은 고딕" charset="0"/>
              </a:rPr>
              <a:t>,</a:t>
            </a:r>
            <a:r>
              <a:rPr sz="2000" spc="-4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볼넷</a:t>
            </a:r>
            <a:r>
              <a:rPr sz="2000" spc="-40" dirty="0">
                <a:latin typeface="+mn-ea"/>
                <a:sym typeface="맑은 고딕" charset="0"/>
              </a:rPr>
              <a:t> </a:t>
            </a:r>
            <a:r>
              <a:rPr sz="2000" spc="-20" dirty="0">
                <a:latin typeface="+mn-ea"/>
                <a:sym typeface="맑은 고딕" charset="0"/>
              </a:rPr>
              <a:t>수.</a:t>
            </a:r>
            <a:endParaRPr lang="ko-KR" altLang="en-US" sz="2000" dirty="0">
              <a:latin typeface="+mn-ea"/>
              <a:sym typeface="맑은 고딕" charset="0"/>
            </a:endParaRPr>
          </a:p>
          <a:p>
            <a:pPr marL="497840" lvl="1" indent="-254000">
              <a:buFont typeface="Wingdings"/>
              <a:buChar char="l"/>
              <a:tabLst>
                <a:tab pos="350520" algn="l"/>
              </a:tabLst>
            </a:pPr>
            <a:r>
              <a:rPr sz="2000" dirty="0">
                <a:latin typeface="+mn-ea"/>
                <a:sym typeface="맑은 고딕" charset="0"/>
              </a:rPr>
              <a:t>Years</a:t>
            </a:r>
            <a:r>
              <a:rPr sz="2000" spc="10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:</a:t>
            </a:r>
            <a:r>
              <a:rPr sz="2000" spc="11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Major</a:t>
            </a:r>
            <a:r>
              <a:rPr sz="2000" spc="10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leagues에</a:t>
            </a:r>
            <a:r>
              <a:rPr sz="2000" spc="2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있던</a:t>
            </a:r>
            <a:r>
              <a:rPr sz="2000" spc="20" dirty="0">
                <a:latin typeface="+mn-ea"/>
                <a:sym typeface="맑은 고딕" charset="0"/>
              </a:rPr>
              <a:t> </a:t>
            </a:r>
            <a:r>
              <a:rPr sz="2000" spc="-20" dirty="0" err="1">
                <a:latin typeface="+mn-ea"/>
                <a:sym typeface="맑은 고딕" charset="0"/>
              </a:rPr>
              <a:t>연수</a:t>
            </a:r>
            <a:r>
              <a:rPr sz="2000" spc="-20" dirty="0">
                <a:latin typeface="+mn-ea"/>
                <a:sym typeface="맑은 고딕" charset="0"/>
              </a:rPr>
              <a:t>.</a:t>
            </a:r>
            <a:endParaRPr lang="ko-KR" altLang="en-US" sz="2000" dirty="0">
              <a:latin typeface="+mn-ea"/>
              <a:sym typeface="맑은 고딕" charset="0"/>
            </a:endParaRPr>
          </a:p>
          <a:p>
            <a:pPr marL="497840" marR="313055" lvl="1" indent="-254000">
              <a:buFont typeface="Wingdings"/>
              <a:buChar char="l"/>
              <a:tabLst>
                <a:tab pos="351155" algn="l"/>
              </a:tabLst>
            </a:pPr>
            <a:r>
              <a:rPr sz="2000" spc="50" dirty="0" err="1">
                <a:latin typeface="+mn-ea"/>
                <a:sym typeface="맑은 고딕" charset="0"/>
              </a:rPr>
              <a:t>CAtBat</a:t>
            </a:r>
            <a:r>
              <a:rPr sz="2000" spc="50" dirty="0">
                <a:latin typeface="+mn-ea"/>
                <a:sym typeface="맑은 고딕" charset="0"/>
              </a:rPr>
              <a:t>,</a:t>
            </a:r>
            <a:r>
              <a:rPr sz="2000" spc="16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CHits</a:t>
            </a:r>
            <a:r>
              <a:rPr sz="2000" dirty="0">
                <a:latin typeface="+mn-ea"/>
                <a:sym typeface="맑은 고딕" charset="0"/>
              </a:rPr>
              <a:t>,</a:t>
            </a:r>
            <a:r>
              <a:rPr sz="2000" spc="16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CHmRun</a:t>
            </a:r>
            <a:r>
              <a:rPr sz="2000" dirty="0">
                <a:latin typeface="+mn-ea"/>
                <a:sym typeface="맑은 고딕" charset="0"/>
              </a:rPr>
              <a:t>,</a:t>
            </a:r>
            <a:r>
              <a:rPr sz="2000" spc="17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CRuns</a:t>
            </a:r>
            <a:r>
              <a:rPr sz="2000" dirty="0">
                <a:latin typeface="+mn-ea"/>
                <a:sym typeface="맑은 고딕" charset="0"/>
              </a:rPr>
              <a:t>,</a:t>
            </a:r>
            <a:r>
              <a:rPr sz="2000" spc="16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CRBI,</a:t>
            </a:r>
            <a:r>
              <a:rPr sz="2000" spc="17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CWalks</a:t>
            </a:r>
            <a:r>
              <a:rPr sz="2000" spc="16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:</a:t>
            </a:r>
            <a:r>
              <a:rPr sz="2000" spc="16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해당</a:t>
            </a:r>
            <a:r>
              <a:rPr sz="2000" spc="90" dirty="0">
                <a:latin typeface="+mn-ea"/>
                <a:sym typeface="맑은 고딕" charset="0"/>
              </a:rPr>
              <a:t> </a:t>
            </a:r>
            <a:r>
              <a:rPr sz="2000" spc="-10" dirty="0" err="1">
                <a:latin typeface="+mn-ea"/>
                <a:sym typeface="맑은 고딕" charset="0"/>
              </a:rPr>
              <a:t>선수의</a:t>
            </a:r>
            <a:r>
              <a:rPr sz="2000" spc="80" dirty="0">
                <a:latin typeface="+mn-ea"/>
                <a:sym typeface="맑은 고딕" charset="0"/>
              </a:rPr>
              <a:t> </a:t>
            </a:r>
            <a:r>
              <a:rPr sz="2000" spc="-40" dirty="0">
                <a:latin typeface="+mn-ea"/>
                <a:sym typeface="맑은 고딕" charset="0"/>
              </a:rPr>
              <a:t>총 </a:t>
            </a:r>
            <a:r>
              <a:rPr sz="2000" spc="-10" dirty="0" err="1">
                <a:latin typeface="+mn-ea"/>
                <a:sym typeface="맑은 고딕" charset="0"/>
              </a:rPr>
              <a:t>경력기간</a:t>
            </a:r>
            <a:r>
              <a:rPr sz="2000" spc="-40" dirty="0">
                <a:latin typeface="+mn-ea"/>
                <a:sym typeface="맑은 고딕" charset="0"/>
              </a:rPr>
              <a:t> </a:t>
            </a:r>
            <a:r>
              <a:rPr sz="2000" spc="-10" dirty="0" err="1">
                <a:latin typeface="+mn-ea"/>
                <a:sym typeface="맑은 고딕" charset="0"/>
              </a:rPr>
              <a:t>동안의</a:t>
            </a:r>
            <a:r>
              <a:rPr sz="2000" spc="-3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타격</a:t>
            </a:r>
            <a:r>
              <a:rPr sz="2000" dirty="0">
                <a:latin typeface="+mn-ea"/>
                <a:sym typeface="맑은 고딕" charset="0"/>
              </a:rPr>
              <a:t>,</a:t>
            </a:r>
            <a:r>
              <a:rPr sz="2000" spc="-3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안타</a:t>
            </a:r>
            <a:r>
              <a:rPr sz="2000" dirty="0">
                <a:latin typeface="+mn-ea"/>
                <a:sym typeface="맑은 고딕" charset="0"/>
              </a:rPr>
              <a:t>,</a:t>
            </a:r>
            <a:r>
              <a:rPr sz="2000" spc="-3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홈런</a:t>
            </a:r>
            <a:r>
              <a:rPr sz="2000" dirty="0">
                <a:latin typeface="+mn-ea"/>
                <a:sym typeface="맑은 고딕" charset="0"/>
              </a:rPr>
              <a:t>,</a:t>
            </a:r>
            <a:r>
              <a:rPr sz="2000" spc="-3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득점</a:t>
            </a:r>
            <a:r>
              <a:rPr sz="2000" dirty="0">
                <a:latin typeface="+mn-ea"/>
                <a:sym typeface="맑은 고딕" charset="0"/>
              </a:rPr>
              <a:t>,</a:t>
            </a:r>
            <a:r>
              <a:rPr sz="2000" spc="-3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타점</a:t>
            </a:r>
            <a:r>
              <a:rPr sz="2000" dirty="0">
                <a:latin typeface="+mn-ea"/>
                <a:sym typeface="맑은 고딕" charset="0"/>
              </a:rPr>
              <a:t>,</a:t>
            </a:r>
            <a:r>
              <a:rPr sz="2000" spc="-3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볼넷</a:t>
            </a:r>
            <a:r>
              <a:rPr sz="2000" spc="-40" dirty="0">
                <a:latin typeface="+mn-ea"/>
                <a:sym typeface="맑은 고딕" charset="0"/>
              </a:rPr>
              <a:t> </a:t>
            </a:r>
            <a:r>
              <a:rPr sz="2000" spc="-20" dirty="0">
                <a:latin typeface="+mn-ea"/>
                <a:sym typeface="맑은 고딕" charset="0"/>
              </a:rPr>
              <a:t>수.</a:t>
            </a:r>
            <a:endParaRPr lang="ko-KR" altLang="en-US" sz="2000" dirty="0">
              <a:latin typeface="+mn-ea"/>
              <a:sym typeface="맑은 고딕" charset="0"/>
            </a:endParaRPr>
          </a:p>
          <a:p>
            <a:pPr marL="497840" lvl="1" indent="-254000">
              <a:buFont typeface="Wingdings"/>
              <a:buChar char="l"/>
              <a:tabLst>
                <a:tab pos="350520" algn="l"/>
              </a:tabLst>
            </a:pPr>
            <a:r>
              <a:rPr sz="2000" dirty="0">
                <a:latin typeface="+mn-ea"/>
                <a:sym typeface="맑은 고딕" charset="0"/>
              </a:rPr>
              <a:t>League</a:t>
            </a:r>
            <a:r>
              <a:rPr sz="2000" spc="10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:</a:t>
            </a:r>
            <a:r>
              <a:rPr sz="2000" spc="100" dirty="0">
                <a:latin typeface="+mn-ea"/>
                <a:sym typeface="맑은 고딕" charset="0"/>
              </a:rPr>
              <a:t> A </a:t>
            </a:r>
            <a:r>
              <a:rPr sz="2000" dirty="0">
                <a:latin typeface="+mn-ea"/>
                <a:sym typeface="맑은 고딕" charset="0"/>
              </a:rPr>
              <a:t>or</a:t>
            </a:r>
            <a:r>
              <a:rPr sz="2000" spc="10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N,</a:t>
            </a:r>
            <a:r>
              <a:rPr sz="2000" spc="10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1986년도</a:t>
            </a:r>
            <a:r>
              <a:rPr sz="2000" spc="1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말</a:t>
            </a:r>
            <a:r>
              <a:rPr sz="2000" spc="2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American</a:t>
            </a:r>
            <a:r>
              <a:rPr sz="2000" spc="10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또는</a:t>
            </a:r>
            <a:r>
              <a:rPr sz="2000" spc="1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National</a:t>
            </a:r>
            <a:r>
              <a:rPr sz="2000" spc="100" dirty="0">
                <a:latin typeface="+mn-ea"/>
                <a:sym typeface="맑은 고딕" charset="0"/>
              </a:rPr>
              <a:t> </a:t>
            </a:r>
            <a:r>
              <a:rPr sz="2000" spc="-20" dirty="0" err="1">
                <a:latin typeface="+mn-ea"/>
                <a:sym typeface="맑은 고딕" charset="0"/>
              </a:rPr>
              <a:t>리그</a:t>
            </a:r>
            <a:r>
              <a:rPr sz="2000" spc="-20" dirty="0">
                <a:latin typeface="+mn-ea"/>
                <a:sym typeface="맑은 고딕" charset="0"/>
              </a:rPr>
              <a:t>.</a:t>
            </a:r>
            <a:endParaRPr lang="ko-KR" altLang="en-US" sz="2000" dirty="0">
              <a:latin typeface="+mn-ea"/>
              <a:sym typeface="맑은 고딕" charset="0"/>
            </a:endParaRPr>
          </a:p>
          <a:p>
            <a:pPr marL="497840" lvl="1" indent="-254000">
              <a:buFont typeface="Wingdings"/>
              <a:buChar char="l"/>
              <a:tabLst>
                <a:tab pos="350520" algn="l"/>
              </a:tabLst>
            </a:pPr>
            <a:r>
              <a:rPr sz="2000" dirty="0">
                <a:latin typeface="+mn-ea"/>
                <a:sym typeface="맑은 고딕" charset="0"/>
              </a:rPr>
              <a:t>Division</a:t>
            </a:r>
            <a:r>
              <a:rPr sz="2000" spc="6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:</a:t>
            </a:r>
            <a:r>
              <a:rPr sz="2000" spc="7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E</a:t>
            </a:r>
            <a:r>
              <a:rPr sz="2000" spc="7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or</a:t>
            </a:r>
            <a:r>
              <a:rPr sz="2000" spc="70" dirty="0">
                <a:latin typeface="+mn-ea"/>
                <a:sym typeface="맑은 고딕" charset="0"/>
              </a:rPr>
              <a:t> </a:t>
            </a:r>
            <a:r>
              <a:rPr sz="2000" spc="50" dirty="0">
                <a:latin typeface="+mn-ea"/>
                <a:sym typeface="맑은 고딕" charset="0"/>
              </a:rPr>
              <a:t>W,</a:t>
            </a:r>
            <a:r>
              <a:rPr sz="2000" spc="7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1986년도</a:t>
            </a:r>
            <a:r>
              <a:rPr sz="2000" spc="-1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동부</a:t>
            </a:r>
            <a:r>
              <a:rPr sz="2000" spc="-2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또는</a:t>
            </a:r>
            <a:r>
              <a:rPr sz="2000" spc="-1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서부</a:t>
            </a:r>
            <a:r>
              <a:rPr sz="2000" spc="-20" dirty="0">
                <a:latin typeface="+mn-ea"/>
                <a:sym typeface="맑은 고딕" charset="0"/>
              </a:rPr>
              <a:t> </a:t>
            </a:r>
            <a:r>
              <a:rPr sz="2000" spc="-20" dirty="0" err="1">
                <a:latin typeface="+mn-ea"/>
                <a:sym typeface="맑은 고딕" charset="0"/>
              </a:rPr>
              <a:t>리그</a:t>
            </a:r>
            <a:r>
              <a:rPr sz="2000" spc="-20" dirty="0">
                <a:latin typeface="+mn-ea"/>
                <a:sym typeface="맑은 고딕" charset="0"/>
              </a:rPr>
              <a:t>.</a:t>
            </a:r>
            <a:endParaRPr lang="ko-KR" altLang="en-US" sz="2000" dirty="0">
              <a:latin typeface="+mn-ea"/>
              <a:sym typeface="맑은 고딕" charset="0"/>
            </a:endParaRPr>
          </a:p>
          <a:p>
            <a:pPr marL="497840" lvl="1" indent="-254000">
              <a:buFont typeface="Wingdings"/>
              <a:buChar char="l"/>
              <a:tabLst>
                <a:tab pos="350520" algn="l"/>
              </a:tabLst>
            </a:pPr>
            <a:r>
              <a:rPr sz="2000" dirty="0" err="1">
                <a:latin typeface="+mn-ea"/>
                <a:sym typeface="맑은 고딕" charset="0"/>
              </a:rPr>
              <a:t>PutOuts</a:t>
            </a:r>
            <a:r>
              <a:rPr sz="2000" dirty="0">
                <a:latin typeface="+mn-ea"/>
                <a:sym typeface="맑은 고딕" charset="0"/>
              </a:rPr>
              <a:t>,</a:t>
            </a:r>
            <a:r>
              <a:rPr sz="2000" spc="9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Assists,</a:t>
            </a:r>
            <a:r>
              <a:rPr sz="2000" spc="10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Errors</a:t>
            </a:r>
            <a:r>
              <a:rPr sz="2000" spc="10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:</a:t>
            </a:r>
            <a:r>
              <a:rPr sz="2000" spc="9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1986년도</a:t>
            </a:r>
            <a:r>
              <a:rPr sz="2000" spc="1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아웃</a:t>
            </a:r>
            <a:r>
              <a:rPr sz="2000" spc="1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카운트</a:t>
            </a:r>
            <a:r>
              <a:rPr sz="2000" dirty="0">
                <a:latin typeface="+mn-ea"/>
                <a:sym typeface="맑은 고딕" charset="0"/>
              </a:rPr>
              <a:t>,</a:t>
            </a:r>
            <a:r>
              <a:rPr sz="2000" spc="1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어시스트</a:t>
            </a:r>
            <a:r>
              <a:rPr sz="2000" dirty="0">
                <a:latin typeface="+mn-ea"/>
                <a:sym typeface="맑은 고딕" charset="0"/>
              </a:rPr>
              <a:t>,</a:t>
            </a:r>
            <a:r>
              <a:rPr sz="2000" spc="1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실책</a:t>
            </a:r>
            <a:r>
              <a:rPr sz="2000" spc="10" dirty="0">
                <a:latin typeface="+mn-ea"/>
                <a:sym typeface="맑은 고딕" charset="0"/>
              </a:rPr>
              <a:t> </a:t>
            </a:r>
            <a:r>
              <a:rPr sz="2000" spc="-40" dirty="0">
                <a:latin typeface="+mn-ea"/>
                <a:sym typeface="맑은 고딕" charset="0"/>
              </a:rPr>
              <a:t>수</a:t>
            </a:r>
            <a:endParaRPr lang="ko-KR" altLang="en-US" sz="2000" dirty="0">
              <a:latin typeface="+mn-ea"/>
              <a:sym typeface="맑은 고딕" charset="0"/>
            </a:endParaRPr>
          </a:p>
          <a:p>
            <a:pPr marL="497840" lvl="1" indent="-254000">
              <a:buFont typeface="Wingdings"/>
              <a:buChar char="l"/>
              <a:tabLst>
                <a:tab pos="350520" algn="l"/>
              </a:tabLst>
            </a:pPr>
            <a:r>
              <a:rPr sz="2000" dirty="0">
                <a:solidFill>
                  <a:srgbClr val="0070C0"/>
                </a:solidFill>
                <a:latin typeface="+mn-ea"/>
                <a:sym typeface="맑은 고딕" charset="0"/>
              </a:rPr>
              <a:t>Salary</a:t>
            </a:r>
            <a:r>
              <a:rPr sz="2000" spc="110" dirty="0">
                <a:solidFill>
                  <a:srgbClr val="0070C0"/>
                </a:solidFill>
                <a:latin typeface="+mn-ea"/>
                <a:sym typeface="맑은 고딕" charset="0"/>
              </a:rPr>
              <a:t> </a:t>
            </a:r>
            <a:r>
              <a:rPr sz="2000" dirty="0">
                <a:solidFill>
                  <a:srgbClr val="0070C0"/>
                </a:solidFill>
                <a:latin typeface="+mn-ea"/>
                <a:sym typeface="맑은 고딕" charset="0"/>
              </a:rPr>
              <a:t>:</a:t>
            </a:r>
            <a:r>
              <a:rPr sz="2000" spc="110" dirty="0">
                <a:solidFill>
                  <a:srgbClr val="0070C0"/>
                </a:solidFill>
                <a:latin typeface="+mn-ea"/>
                <a:sym typeface="맑은 고딕" charset="0"/>
              </a:rPr>
              <a:t> </a:t>
            </a:r>
            <a:r>
              <a:rPr sz="2000" dirty="0">
                <a:solidFill>
                  <a:srgbClr val="0070C0"/>
                </a:solidFill>
                <a:latin typeface="+mn-ea"/>
                <a:sym typeface="맑은 고딕" charset="0"/>
              </a:rPr>
              <a:t>1987년도</a:t>
            </a:r>
            <a:r>
              <a:rPr sz="2000" spc="30" dirty="0">
                <a:solidFill>
                  <a:srgbClr val="0070C0"/>
                </a:solidFill>
                <a:latin typeface="+mn-ea"/>
                <a:sym typeface="맑은 고딕" charset="0"/>
              </a:rPr>
              <a:t> </a:t>
            </a:r>
            <a:r>
              <a:rPr sz="2000" spc="-20" dirty="0" err="1">
                <a:solidFill>
                  <a:srgbClr val="0070C0"/>
                </a:solidFill>
                <a:latin typeface="+mn-ea"/>
                <a:sym typeface="맑은 고딕" charset="0"/>
              </a:rPr>
              <a:t>연봉</a:t>
            </a:r>
            <a:endParaRPr lang="ko-KR" altLang="en-US" sz="2000" dirty="0">
              <a:solidFill>
                <a:srgbClr val="0070C0"/>
              </a:solidFill>
              <a:latin typeface="+mn-ea"/>
              <a:sym typeface="맑은 고딕" charset="0"/>
            </a:endParaRPr>
          </a:p>
          <a:p>
            <a:pPr marL="497840" lvl="1" indent="-254000">
              <a:buFont typeface="Wingdings"/>
              <a:buChar char="l"/>
              <a:tabLst>
                <a:tab pos="350520" algn="l"/>
              </a:tabLst>
            </a:pPr>
            <a:r>
              <a:rPr sz="2000" dirty="0" err="1">
                <a:latin typeface="+mn-ea"/>
                <a:sym typeface="맑은 고딕" charset="0"/>
              </a:rPr>
              <a:t>NewLeague</a:t>
            </a:r>
            <a:r>
              <a:rPr sz="2000" spc="11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:</a:t>
            </a:r>
            <a:r>
              <a:rPr sz="2000" spc="11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1987년도</a:t>
            </a:r>
            <a:r>
              <a:rPr sz="2000" spc="2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초</a:t>
            </a:r>
            <a:r>
              <a:rPr sz="2000" spc="3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American</a:t>
            </a:r>
            <a:r>
              <a:rPr sz="2000" spc="110" dirty="0">
                <a:latin typeface="+mn-ea"/>
                <a:sym typeface="맑은 고딕" charset="0"/>
              </a:rPr>
              <a:t> </a:t>
            </a:r>
            <a:r>
              <a:rPr sz="2000" dirty="0" err="1">
                <a:latin typeface="+mn-ea"/>
                <a:sym typeface="맑은 고딕" charset="0"/>
              </a:rPr>
              <a:t>또는</a:t>
            </a:r>
            <a:r>
              <a:rPr sz="2000" spc="30" dirty="0">
                <a:latin typeface="+mn-ea"/>
                <a:sym typeface="맑은 고딕" charset="0"/>
              </a:rPr>
              <a:t> </a:t>
            </a:r>
            <a:r>
              <a:rPr sz="2000" dirty="0">
                <a:latin typeface="+mn-ea"/>
                <a:sym typeface="맑은 고딕" charset="0"/>
              </a:rPr>
              <a:t>National</a:t>
            </a:r>
            <a:r>
              <a:rPr sz="2000" spc="110" dirty="0">
                <a:latin typeface="+mn-ea"/>
                <a:sym typeface="맑은 고딕" charset="0"/>
              </a:rPr>
              <a:t> </a:t>
            </a:r>
            <a:r>
              <a:rPr sz="2000" spc="-20" dirty="0" err="1">
                <a:latin typeface="+mn-ea"/>
                <a:sym typeface="맑은 고딕" charset="0"/>
              </a:rPr>
              <a:t>리그</a:t>
            </a:r>
            <a:r>
              <a:rPr sz="2000" spc="-20" dirty="0">
                <a:latin typeface="+mn-ea"/>
                <a:sym typeface="맑은 고딕" charset="0"/>
              </a:rPr>
              <a:t>.</a:t>
            </a:r>
            <a:endParaRPr lang="ko-KR" altLang="en-US" sz="2000" dirty="0">
              <a:latin typeface="+mn-ea"/>
              <a:sym typeface="맑은 고딕" charset="0"/>
            </a:endParaRPr>
          </a:p>
          <a:p>
            <a:pPr marL="350520" lvl="1" indent="-106680">
              <a:buClr>
                <a:srgbClr val="3333B2"/>
              </a:buClr>
              <a:buSzPct val="87500"/>
              <a:buFont typeface="Times New Roman"/>
              <a:buChar char="•"/>
              <a:tabLst>
                <a:tab pos="350520" algn="l"/>
              </a:tabLst>
            </a:pPr>
            <a:endParaRPr lang="ko-KR" altLang="en-US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43060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4400" b="0" i="0" spc="130" dirty="0">
                <a:latin typeface="나눔스퀘어OTF Bold" panose="020B0600000101010101" pitchFamily="34" charset="-127"/>
                <a:ea typeface="나눔스퀘어OTF Bold" panose="020B0600000101010101" pitchFamily="34" charset="-127"/>
                <a:sym typeface="맑은 고딕" charset="0"/>
              </a:rPr>
              <a:t>Hitters</a:t>
            </a:r>
            <a:r>
              <a:rPr sz="4400" b="0" i="0" spc="140" dirty="0">
                <a:latin typeface="나눔스퀘어OTF Bold" panose="020B0600000101010101" pitchFamily="34" charset="-127"/>
                <a:ea typeface="나눔스퀘어OTF Bold" panose="020B0600000101010101" pitchFamily="34" charset="-127"/>
                <a:sym typeface="맑은 고딕" charset="0"/>
              </a:rPr>
              <a:t> </a:t>
            </a:r>
            <a:r>
              <a:rPr sz="4400" b="0" i="0" spc="-30" dirty="0">
                <a:latin typeface="나눔스퀘어OTF Bold" panose="020B0600000101010101" pitchFamily="34" charset="-127"/>
                <a:ea typeface="나눔스퀘어OTF Bold" panose="020B0600000101010101" pitchFamily="34" charset="-127"/>
                <a:sym typeface="맑은 고딕" charset="0"/>
              </a:rPr>
              <a:t>dataset</a:t>
            </a:r>
            <a:endParaRPr lang="ko-KR" altLang="en-US" sz="4400" b="0" i="0" dirty="0">
              <a:latin typeface="나눔스퀘어OTF Bold" panose="020B0600000101010101" pitchFamily="34" charset="-127"/>
              <a:ea typeface="나눔스퀘어OTF Bold" panose="020B0600000101010101" pitchFamily="34" charset="-127"/>
              <a:sym typeface="맑은 고딕" charset="0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2" descr="C:/Users/Administrator/AppData/Roaming/PolarisOffice/ETemp/12352_19657152/fImage61826100846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790" y="1657350"/>
            <a:ext cx="6017895" cy="3922395"/>
          </a:xfrm>
          <a:prstGeom prst="rect">
            <a:avLst/>
          </a:prstGeom>
          <a:noFill/>
        </p:spPr>
      </p:pic>
      <p:pic>
        <p:nvPicPr>
          <p:cNvPr id="15" name="그림 8" descr="C:/Users/Administrator/AppData/Roaming/PolarisOffice/ETemp/12352_19657152/fImage97301066500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55" y="4457700"/>
            <a:ext cx="3010535" cy="1991360"/>
          </a:xfrm>
          <a:prstGeom prst="rect">
            <a:avLst/>
          </a:prstGeom>
          <a:noFill/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565A921-EB82-4C85-A8BB-0F9FA7976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701165"/>
            <a:ext cx="3896269" cy="259116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4400" b="0" i="0" dirty="0">
                <a:latin typeface="나눔스퀘어OTF Bold" panose="020B0600000101010101" pitchFamily="34" charset="-127"/>
                <a:ea typeface="나눔스퀘어OTF Bold" panose="020B0600000101010101" pitchFamily="34" charset="-127"/>
                <a:sym typeface="맑은 고딕" charset="0"/>
              </a:rPr>
              <a:t>의사결정나무</a:t>
            </a:r>
            <a:r>
              <a:rPr lang="en-US" altLang="ko-KR" sz="4400" b="0" i="0" dirty="0">
                <a:latin typeface="나눔스퀘어OTF Bold" panose="020B0600000101010101" pitchFamily="34" charset="-127"/>
                <a:ea typeface="나눔스퀘어OTF Bold" panose="020B0600000101010101" pitchFamily="34" charset="-127"/>
                <a:sym typeface="맑은 고딕" charset="0"/>
              </a:rPr>
              <a:t>:</a:t>
            </a:r>
            <a:r>
              <a:rPr lang="ko-KR" altLang="en-US" sz="4400" b="0" i="0" spc="-50" dirty="0">
                <a:latin typeface="나눔스퀘어OTF Bold" panose="020B0600000101010101" pitchFamily="34" charset="-127"/>
                <a:ea typeface="나눔스퀘어OTF Bold" panose="020B0600000101010101" pitchFamily="34" charset="-127"/>
                <a:sym typeface="맑은 고딕" charset="0"/>
              </a:rPr>
              <a:t> </a:t>
            </a:r>
            <a:r>
              <a:rPr lang="en-US" altLang="ko-KR" sz="4400" b="0" i="0" dirty="0">
                <a:latin typeface="나눔스퀘어OTF Bold" panose="020B0600000101010101" pitchFamily="34" charset="-127"/>
                <a:ea typeface="나눔스퀘어OTF Bold" panose="020B0600000101010101" pitchFamily="34" charset="-127"/>
                <a:sym typeface="맑은 고딕" charset="0"/>
              </a:rPr>
              <a:t>regression</a:t>
            </a:r>
            <a:endParaRPr lang="ko-KR" altLang="en-US" sz="4400" b="0" i="0" dirty="0">
              <a:ea typeface="나눔스퀘어OTF" panose="020B0600000101010101" pitchFamily="34" charset="-127"/>
              <a:sym typeface="맑은 고딕" charset="0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12" descr="C:/Users/Administrator/AppData/Roaming/PolarisOffice/ETemp/12352_19657152/fImage120188110916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037"/>
          <a:stretch>
            <a:fillRect/>
          </a:stretch>
        </p:blipFill>
        <p:spPr>
          <a:xfrm>
            <a:off x="3325495" y="1961515"/>
            <a:ext cx="5541010" cy="411289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4400" b="0" i="0" dirty="0">
                <a:latin typeface="나눔스퀘어OTF Bold" panose="020B0600000101010101" pitchFamily="34" charset="-127"/>
                <a:ea typeface="나눔스퀘어OTF Bold" panose="020B0600000101010101" pitchFamily="34" charset="-127"/>
                <a:sym typeface="맑은 고딕" charset="0"/>
              </a:rPr>
              <a:t>의사결정나무</a:t>
            </a:r>
            <a:r>
              <a:rPr lang="en-US" altLang="ko-KR" sz="4400" b="0" i="0" dirty="0">
                <a:latin typeface="나눔스퀘어OTF Bold" panose="020B0600000101010101" pitchFamily="34" charset="-127"/>
                <a:ea typeface="나눔스퀘어OTF Bold" panose="020B0600000101010101" pitchFamily="34" charset="-127"/>
                <a:sym typeface="맑은 고딕" charset="0"/>
              </a:rPr>
              <a:t>:</a:t>
            </a:r>
            <a:r>
              <a:rPr lang="ko-KR" altLang="en-US" sz="4400" b="0" i="0" spc="-50" dirty="0">
                <a:latin typeface="나눔스퀘어OTF Bold" panose="020B0600000101010101" pitchFamily="34" charset="-127"/>
                <a:ea typeface="나눔스퀘어OTF Bold" panose="020B0600000101010101" pitchFamily="34" charset="-127"/>
                <a:sym typeface="맑은 고딕" charset="0"/>
              </a:rPr>
              <a:t> </a:t>
            </a:r>
            <a:r>
              <a:rPr lang="en-US" altLang="ko-KR" sz="4400" b="0" i="0" dirty="0">
                <a:latin typeface="나눔스퀘어OTF Bold" panose="020B0600000101010101" pitchFamily="34" charset="-127"/>
                <a:ea typeface="나눔스퀘어OTF Bold" panose="020B0600000101010101" pitchFamily="34" charset="-127"/>
                <a:sym typeface="맑은 고딕" charset="0"/>
              </a:rPr>
              <a:t>regression</a:t>
            </a:r>
            <a:endParaRPr lang="ko-KR" altLang="en-US" sz="4400" b="0" i="0" dirty="0">
              <a:ea typeface="나눔스퀘어OTF" panose="020B0600000101010101" pitchFamily="34" charset="-127"/>
              <a:sym typeface="맑은 고딕" charset="0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텍스트 상자 35"/>
          <p:cNvSpPr txBox="1">
            <a:spLocks/>
          </p:cNvSpPr>
          <p:nvPr/>
        </p:nvSpPr>
        <p:spPr>
          <a:xfrm>
            <a:off x="840740" y="4443095"/>
            <a:ext cx="10051415" cy="1044388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122555" indent="-109855">
              <a:lnSpc>
                <a:spcPct val="114999"/>
              </a:lnSpc>
              <a:buSzPct val="88000"/>
              <a:buFont typeface="Wingdings"/>
              <a:buChar char="l"/>
              <a:tabLst>
                <a:tab pos="122555" algn="l"/>
              </a:tabLst>
            </a:pPr>
            <a:r>
              <a:rPr sz="20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연봉을</a:t>
            </a:r>
            <a:r>
              <a:rPr sz="2000" spc="-4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20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설명할</a:t>
            </a:r>
            <a:r>
              <a:rPr sz="2000" spc="-4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때</a:t>
            </a:r>
            <a:r>
              <a:rPr sz="2000" spc="-4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20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경력이</a:t>
            </a:r>
            <a:r>
              <a:rPr sz="2000" spc="-4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20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가장</a:t>
            </a:r>
            <a:r>
              <a:rPr sz="2000" spc="-4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20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중요한</a:t>
            </a:r>
            <a:r>
              <a:rPr sz="2000" spc="-4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2000" spc="-1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요인</a:t>
            </a:r>
            <a:r>
              <a:rPr sz="2000" spc="-1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  <a:endParaRPr lang="ko-KR" altLang="en-US" sz="20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marL="121920" marR="5080" indent="-109855">
              <a:lnSpc>
                <a:spcPct val="114999"/>
              </a:lnSpc>
              <a:buSzPct val="88000"/>
              <a:buFont typeface="Wingdings"/>
              <a:buChar char="l"/>
              <a:tabLst>
                <a:tab pos="123190" algn="l"/>
              </a:tabLst>
            </a:pPr>
            <a:r>
              <a:rPr sz="20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경력이</a:t>
            </a:r>
            <a:r>
              <a:rPr sz="2000" spc="-4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20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짧은</a:t>
            </a:r>
            <a:r>
              <a:rPr sz="2000" spc="-4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20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선수는</a:t>
            </a:r>
            <a:r>
              <a:rPr sz="2000" spc="-3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2000" spc="-2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안타수가</a:t>
            </a:r>
            <a:r>
              <a:rPr sz="2000" spc="-3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큰</a:t>
            </a:r>
            <a:r>
              <a:rPr sz="2000" spc="-3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20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영향을</a:t>
            </a:r>
            <a:r>
              <a:rPr sz="2000" spc="-4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20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주지</a:t>
            </a:r>
            <a:r>
              <a:rPr sz="2000" spc="-3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20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않으나</a:t>
            </a:r>
            <a:r>
              <a:rPr sz="2000" spc="-4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20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경력이</a:t>
            </a:r>
            <a:r>
              <a:rPr sz="2000" spc="-3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긴</a:t>
            </a:r>
            <a:r>
              <a:rPr sz="2000" spc="-3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20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선수들은</a:t>
            </a:r>
            <a:r>
              <a:rPr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20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안타</a:t>
            </a:r>
            <a:r>
              <a:rPr sz="2000" spc="-5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20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수에</a:t>
            </a:r>
            <a:r>
              <a:rPr sz="2000" spc="-4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20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따라</a:t>
            </a:r>
            <a:r>
              <a:rPr sz="2000" spc="-5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20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연봉이</a:t>
            </a:r>
            <a:r>
              <a:rPr sz="2000" spc="-4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20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달라짐</a:t>
            </a:r>
            <a:r>
              <a:rPr sz="20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  <a:endParaRPr lang="ko-KR" altLang="en-US" sz="20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10" name="그림 11" descr="C:/Users/Administrator/AppData/Roaming/PolarisOffice/ETemp/12352_19657152/fImage44399109572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360" y="1695450"/>
            <a:ext cx="4189095" cy="26447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4400" b="0" i="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  <a:sym typeface="맑은 고딕" charset="0"/>
              </a:rPr>
              <a:t>의사결정나무</a:t>
            </a:r>
            <a:r>
              <a:rPr sz="4400" b="0" i="0" dirty="0">
                <a:latin typeface="나눔스퀘어OTF Bold" panose="020B0600000101010101" pitchFamily="34" charset="-127"/>
                <a:ea typeface="나눔스퀘어OTF Bold" panose="020B0600000101010101" pitchFamily="34" charset="-127"/>
                <a:sym typeface="맑은 고딕" charset="0"/>
              </a:rPr>
              <a:t>:</a:t>
            </a:r>
            <a:r>
              <a:rPr sz="4400" b="0" i="0" spc="-50" dirty="0">
                <a:latin typeface="나눔스퀘어OTF Bold" panose="020B0600000101010101" pitchFamily="34" charset="-127"/>
                <a:ea typeface="나눔스퀘어OTF Bold" panose="020B0600000101010101" pitchFamily="34" charset="-127"/>
                <a:sym typeface="맑은 고딕" charset="0"/>
              </a:rPr>
              <a:t> </a:t>
            </a:r>
            <a:r>
              <a:rPr sz="4400" b="0" i="0" dirty="0">
                <a:latin typeface="나눔스퀘어OTF Bold" panose="020B0600000101010101" pitchFamily="34" charset="-127"/>
                <a:ea typeface="나눔스퀘어OTF Bold" panose="020B0600000101010101" pitchFamily="34" charset="-127"/>
                <a:sym typeface="맑은 고딕" charset="0"/>
              </a:rPr>
              <a:t>regression</a:t>
            </a:r>
            <a:endParaRPr lang="ko-KR" altLang="en-US" sz="4400" b="0" i="0" dirty="0">
              <a:latin typeface="나눔스퀘어OTF Bold" panose="020B0600000101010101" pitchFamily="34" charset="-127"/>
              <a:ea typeface="나눔스퀘어OTF Bold" panose="020B0600000101010101" pitchFamily="34" charset="-127"/>
              <a:sym typeface="맑은 고딕" charset="0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BB24A9C0-CC1C-4A29-9D13-B5E2491BC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1879033"/>
            <a:ext cx="8305800" cy="309993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50900" y="3619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b="0" i="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german</a:t>
            </a:r>
            <a:r>
              <a:rPr lang="en-US" altLang="ko-KR" sz="4400" b="0" i="0" spc="8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</a:t>
            </a:r>
            <a:r>
              <a:rPr lang="en-US" altLang="ko-KR" sz="4400" b="0" i="0" spc="-2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dataset</a:t>
            </a:r>
            <a:endParaRPr lang="ko-KR" altLang="en-US" sz="4400" b="0" i="0" dirty="0">
              <a:ea typeface="나눔스퀘어OTF" panose="020B0600000101010101" pitchFamily="34" charset="-127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14"/>
          <p:cNvSpPr txBox="1">
            <a:spLocks noGrp="1"/>
          </p:cNvSpPr>
          <p:nvPr/>
        </p:nvSpPr>
        <p:spPr>
          <a:xfrm>
            <a:off x="6155909" y="2532802"/>
            <a:ext cx="5518150" cy="1690793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98450" indent="-285750" algn="l" defTabSz="914400" rtl="0" eaLnBrk="1" latinLnBrk="1" hangingPunct="1"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sz="1800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housing : </a:t>
            </a:r>
            <a:r>
              <a:rPr sz="1800" b="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거주</a:t>
            </a:r>
            <a:r>
              <a:rPr sz="1800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1800" b="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형태</a:t>
            </a:r>
            <a:endParaRPr lang="ko-KR" altLang="en-US" sz="1800" b="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marL="298450" indent="-285750" algn="l" defTabSz="914400" rtl="0" eaLnBrk="1" latinLnBrk="1" hangingPunct="1"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sz="1800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job : </a:t>
            </a:r>
            <a:r>
              <a:rPr sz="1800" b="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직업</a:t>
            </a:r>
            <a:r>
              <a:rPr sz="1800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1800" b="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유형</a:t>
            </a:r>
            <a:endParaRPr lang="en-US" altLang="ko-KR" sz="1800" b="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marL="298450" indent="-285750" algn="l" defTabSz="914400" rtl="0" eaLnBrk="1" latinLnBrk="1" hangingPunct="1"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sz="1800" b="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own_telephone</a:t>
            </a:r>
            <a:r>
              <a:rPr lang="en-US" sz="1800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: </a:t>
            </a:r>
            <a:r>
              <a:rPr lang="ko-KR" altLang="en-US" sz="1800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전화 보유 여부</a:t>
            </a:r>
          </a:p>
          <a:p>
            <a:pPr marL="298450" indent="-285750" algn="l" defTabSz="914400" rtl="0" eaLnBrk="1" latinLnBrk="1" hangingPunct="1"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sz="1800" b="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foreign_worker</a:t>
            </a:r>
            <a:r>
              <a:rPr sz="1800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: </a:t>
            </a:r>
            <a:r>
              <a:rPr sz="1800" b="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외국인</a:t>
            </a:r>
            <a:r>
              <a:rPr sz="1800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1800" b="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노동자</a:t>
            </a:r>
            <a:r>
              <a:rPr sz="1800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sz="1800" b="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여부</a:t>
            </a: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6" name="내용 개체 틀 14">
            <a:extLst>
              <a:ext uri="{FF2B5EF4-FFF2-40B4-BE49-F238E27FC236}">
                <a16:creationId xmlns:a16="http://schemas.microsoft.com/office/drawing/2014/main" id="{3E159539-2A34-49F1-AB76-B8D1420A4C46}"/>
              </a:ext>
            </a:extLst>
          </p:cNvPr>
          <p:cNvSpPr txBox="1">
            <a:spLocks noGrp="1"/>
          </p:cNvSpPr>
          <p:nvPr/>
        </p:nvSpPr>
        <p:spPr>
          <a:xfrm>
            <a:off x="838200" y="1693970"/>
            <a:ext cx="5518150" cy="480208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/>
          <a:p>
            <a:pPr marL="355600" indent="-342900" algn="l" defTabSz="914400" rtl="0" eaLnBrk="1" latinLnBrk="1" hangingPunct="1"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sz="2000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Category Type</a:t>
            </a:r>
          </a:p>
          <a:p>
            <a:pPr marL="298450" indent="-285750" algn="l" defTabSz="914400" rtl="0" eaLnBrk="1" latinLnBrk="1" hangingPunct="1"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endParaRPr lang="en-US" b="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marL="298450" indent="-285750" algn="l" defTabSz="914400" rtl="0" eaLnBrk="1" latinLnBrk="1" hangingPunct="1"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b="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checking_status</a:t>
            </a:r>
            <a:r>
              <a:rPr lang="en-US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: </a:t>
            </a:r>
            <a:r>
              <a:rPr lang="ko-KR" altLang="en-US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고객의 현재 계좌 상태</a:t>
            </a:r>
          </a:p>
          <a:p>
            <a:pPr marL="298450" indent="-285750" algn="l" defTabSz="914400" rtl="0" eaLnBrk="1" latinLnBrk="1" hangingPunct="1"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b="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credit_history</a:t>
            </a:r>
            <a:r>
              <a:rPr lang="en-US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: </a:t>
            </a:r>
            <a:r>
              <a:rPr lang="ko-KR" altLang="en-US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신용 거래 내역</a:t>
            </a:r>
          </a:p>
          <a:p>
            <a:pPr marL="298450" indent="-285750" algn="l" defTabSz="914400" rtl="0" eaLnBrk="1" latinLnBrk="1" hangingPunct="1"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purpose : </a:t>
            </a:r>
            <a:r>
              <a:rPr lang="ko-KR" altLang="en-US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대출 목적</a:t>
            </a:r>
          </a:p>
          <a:p>
            <a:pPr marL="298450" indent="-285750" algn="l" defTabSz="914400" rtl="0" eaLnBrk="1" latinLnBrk="1" hangingPunct="1"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b="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savings_status</a:t>
            </a:r>
            <a:r>
              <a:rPr lang="en-US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: </a:t>
            </a:r>
            <a:r>
              <a:rPr lang="ko-KR" altLang="en-US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저축 계좌 잔액 상태</a:t>
            </a:r>
          </a:p>
          <a:p>
            <a:pPr marL="298450" indent="-285750" algn="l" defTabSz="914400" rtl="0" eaLnBrk="1" latinLnBrk="1" hangingPunct="1"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employment : </a:t>
            </a:r>
            <a:r>
              <a:rPr lang="ko-KR" altLang="en-US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근속 연수</a:t>
            </a:r>
          </a:p>
          <a:p>
            <a:pPr marL="298450" indent="-285750" algn="l" defTabSz="914400" rtl="0" eaLnBrk="1" latinLnBrk="1" hangingPunct="1"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b="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personal_status</a:t>
            </a:r>
            <a:r>
              <a:rPr lang="en-US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: </a:t>
            </a:r>
            <a:r>
              <a:rPr lang="ko-KR" altLang="en-US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개인 상태 및 성별</a:t>
            </a:r>
          </a:p>
          <a:p>
            <a:pPr marL="298450" indent="-285750" algn="l" defTabSz="914400" rtl="0" eaLnBrk="1" latinLnBrk="1" hangingPunct="1"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b="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other_parties</a:t>
            </a:r>
            <a:r>
              <a:rPr lang="en-US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: </a:t>
            </a:r>
            <a:r>
              <a:rPr lang="ko-KR" altLang="en-US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보증인 또는 공동 대출자 여부</a:t>
            </a:r>
          </a:p>
          <a:p>
            <a:pPr marL="298450" indent="-285750" algn="l" defTabSz="914400" rtl="0" eaLnBrk="1" latinLnBrk="1" hangingPunct="1"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b="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property_magnitude</a:t>
            </a:r>
            <a:r>
              <a:rPr lang="en-US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: </a:t>
            </a:r>
            <a:r>
              <a:rPr lang="ko-KR" altLang="en-US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보유 자산 유형</a:t>
            </a:r>
          </a:p>
          <a:p>
            <a:pPr marL="298450" indent="-285750" algn="l" defTabSz="914400" rtl="0" eaLnBrk="1" latinLnBrk="1" hangingPunct="1"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b="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other_payment_plans</a:t>
            </a:r>
            <a:r>
              <a:rPr lang="en-US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: </a:t>
            </a:r>
            <a:r>
              <a:rPr lang="ko-KR" altLang="en-US" b="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기타 대출 상환 계획 여부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b="0" i="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german</a:t>
            </a:r>
            <a:r>
              <a:rPr lang="en-US" altLang="ko-KR" sz="4400" b="0" i="0" spc="8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</a:t>
            </a:r>
            <a:r>
              <a:rPr lang="en-US" altLang="ko-KR" sz="4400" b="0" i="0" spc="-2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dataset</a:t>
            </a:r>
            <a:endParaRPr lang="ko-KR" altLang="en-US" sz="4400" b="0" i="0" dirty="0">
              <a:ea typeface="나눔스퀘어OTF" panose="020B0600000101010101" pitchFamily="34" charset="-127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730" cy="127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8702040" cy="378015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355600" indent="-3429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sz="2400" b="0" dirty="0">
                <a:ea typeface="나눔스퀘어OTF" panose="020B0600000101010101" pitchFamily="34" charset="-127"/>
              </a:rPr>
              <a:t>Numerical Type</a:t>
            </a:r>
            <a:endParaRPr lang="ko-KR" altLang="en-US" sz="2400" b="0" dirty="0">
              <a:ea typeface="나눔스퀘어OTF" panose="020B0600000101010101" pitchFamily="34" charset="-127"/>
            </a:endParaRPr>
          </a:p>
          <a:p>
            <a:pPr marL="355600" indent="-3429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endParaRPr lang="ko-KR" altLang="en-US" sz="2000" b="0" dirty="0">
              <a:ea typeface="나눔스퀘어OTF" panose="020B0600000101010101" pitchFamily="34" charset="-127"/>
            </a:endParaRPr>
          </a:p>
          <a:p>
            <a:pPr marL="355600" indent="-3429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sz="1800" b="0" dirty="0">
                <a:ea typeface="나눔스퀘어OTF" panose="020B0600000101010101" pitchFamily="34" charset="-127"/>
              </a:rPr>
              <a:t>d</a:t>
            </a:r>
            <a:r>
              <a:rPr sz="1800" b="0" dirty="0" err="1">
                <a:ea typeface="나눔스퀘어OTF" panose="020B0600000101010101" pitchFamily="34" charset="-127"/>
              </a:rPr>
              <a:t>uration</a:t>
            </a:r>
            <a:r>
              <a:rPr sz="1800" b="0" dirty="0">
                <a:ea typeface="나눔스퀘어OTF" panose="020B0600000101010101" pitchFamily="34" charset="-127"/>
              </a:rPr>
              <a:t> : </a:t>
            </a:r>
            <a:r>
              <a:rPr sz="1800" b="0" dirty="0" err="1">
                <a:ea typeface="나눔스퀘어OTF" panose="020B0600000101010101" pitchFamily="34" charset="-127"/>
              </a:rPr>
              <a:t>대출</a:t>
            </a:r>
            <a:r>
              <a:rPr sz="1800" b="0" dirty="0">
                <a:ea typeface="나눔스퀘어OTF" panose="020B0600000101010101" pitchFamily="34" charset="-127"/>
              </a:rPr>
              <a:t> </a:t>
            </a:r>
            <a:r>
              <a:rPr sz="1800" b="0" dirty="0" err="1">
                <a:ea typeface="나눔스퀘어OTF" panose="020B0600000101010101" pitchFamily="34" charset="-127"/>
              </a:rPr>
              <a:t>기간</a:t>
            </a:r>
            <a:r>
              <a:rPr sz="1800" b="0" dirty="0">
                <a:ea typeface="나눔스퀘어OTF" panose="020B0600000101010101" pitchFamily="34" charset="-127"/>
              </a:rPr>
              <a:t> (월 </a:t>
            </a:r>
            <a:r>
              <a:rPr sz="1800" b="0" dirty="0" err="1">
                <a:ea typeface="나눔스퀘어OTF" panose="020B0600000101010101" pitchFamily="34" charset="-127"/>
              </a:rPr>
              <a:t>단위</a:t>
            </a:r>
            <a:r>
              <a:rPr sz="1800" b="0" dirty="0">
                <a:ea typeface="나눔스퀘어OTF" panose="020B0600000101010101" pitchFamily="34" charset="-127"/>
              </a:rPr>
              <a:t>)</a:t>
            </a:r>
            <a:endParaRPr lang="ko-KR" altLang="en-US" sz="1800" b="0" dirty="0">
              <a:ea typeface="나눔스퀘어OTF" panose="020B0600000101010101" pitchFamily="34" charset="-127"/>
            </a:endParaRPr>
          </a:p>
          <a:p>
            <a:pPr marL="298450" indent="-28575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sz="1800" b="0" dirty="0" err="1">
                <a:ea typeface="나눔스퀘어OTF" panose="020B0600000101010101" pitchFamily="34" charset="-127"/>
              </a:rPr>
              <a:t>credit_amount</a:t>
            </a:r>
            <a:r>
              <a:rPr sz="1800" b="0" dirty="0">
                <a:ea typeface="나눔스퀘어OTF" panose="020B0600000101010101" pitchFamily="34" charset="-127"/>
              </a:rPr>
              <a:t> : </a:t>
            </a:r>
            <a:r>
              <a:rPr sz="1800" b="0" dirty="0" err="1">
                <a:ea typeface="나눔스퀘어OTF" panose="020B0600000101010101" pitchFamily="34" charset="-127"/>
              </a:rPr>
              <a:t>대출</a:t>
            </a:r>
            <a:r>
              <a:rPr sz="1800" b="0" dirty="0">
                <a:ea typeface="나눔스퀘어OTF" panose="020B0600000101010101" pitchFamily="34" charset="-127"/>
              </a:rPr>
              <a:t> </a:t>
            </a:r>
            <a:r>
              <a:rPr sz="1800" b="0" dirty="0" err="1">
                <a:ea typeface="나눔스퀘어OTF" panose="020B0600000101010101" pitchFamily="34" charset="-127"/>
              </a:rPr>
              <a:t>금액</a:t>
            </a:r>
            <a:endParaRPr lang="ko-KR" altLang="en-US" sz="1800" b="0" dirty="0">
              <a:ea typeface="나눔스퀘어OTF" panose="020B0600000101010101" pitchFamily="34" charset="-127"/>
            </a:endParaRPr>
          </a:p>
          <a:p>
            <a:pPr marL="298450" indent="-28575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sz="1800" b="0" dirty="0" err="1">
                <a:ea typeface="나눔스퀘어OTF" panose="020B0600000101010101" pitchFamily="34" charset="-127"/>
              </a:rPr>
              <a:t>i</a:t>
            </a:r>
            <a:r>
              <a:rPr sz="1800" b="0" dirty="0" err="1">
                <a:ea typeface="나눔스퀘어OTF" panose="020B0600000101010101" pitchFamily="34" charset="-127"/>
              </a:rPr>
              <a:t>nstallment_commitment</a:t>
            </a:r>
            <a:r>
              <a:rPr sz="1800" b="0" dirty="0">
                <a:ea typeface="나눔스퀘어OTF" panose="020B0600000101010101" pitchFamily="34" charset="-127"/>
              </a:rPr>
              <a:t> : 월 </a:t>
            </a:r>
            <a:r>
              <a:rPr sz="1800" b="0" dirty="0" err="1">
                <a:ea typeface="나눔스퀘어OTF" panose="020B0600000101010101" pitchFamily="34" charset="-127"/>
              </a:rPr>
              <a:t>납입금</a:t>
            </a:r>
            <a:r>
              <a:rPr sz="1800" b="0" dirty="0">
                <a:ea typeface="나눔스퀘어OTF" panose="020B0600000101010101" pitchFamily="34" charset="-127"/>
              </a:rPr>
              <a:t> </a:t>
            </a:r>
            <a:r>
              <a:rPr sz="1800" b="0" dirty="0" err="1">
                <a:ea typeface="나눔스퀘어OTF" panose="020B0600000101010101" pitchFamily="34" charset="-127"/>
              </a:rPr>
              <a:t>비율</a:t>
            </a:r>
            <a:r>
              <a:rPr sz="1800" b="0" dirty="0">
                <a:ea typeface="나눔스퀘어OTF" panose="020B0600000101010101" pitchFamily="34" charset="-127"/>
              </a:rPr>
              <a:t> (</a:t>
            </a:r>
            <a:r>
              <a:rPr sz="1800" b="0" dirty="0" err="1">
                <a:ea typeface="나눔스퀘어OTF" panose="020B0600000101010101" pitchFamily="34" charset="-127"/>
              </a:rPr>
              <a:t>소득</a:t>
            </a:r>
            <a:r>
              <a:rPr sz="1800" b="0" dirty="0">
                <a:ea typeface="나눔스퀘어OTF" panose="020B0600000101010101" pitchFamily="34" charset="-127"/>
              </a:rPr>
              <a:t> </a:t>
            </a:r>
            <a:r>
              <a:rPr sz="1800" b="0" dirty="0" err="1">
                <a:ea typeface="나눔스퀘어OTF" panose="020B0600000101010101" pitchFamily="34" charset="-127"/>
              </a:rPr>
              <a:t>대비</a:t>
            </a:r>
            <a:r>
              <a:rPr sz="1800" b="0" dirty="0">
                <a:ea typeface="나눔스퀘어OTF" panose="020B0600000101010101" pitchFamily="34" charset="-127"/>
              </a:rPr>
              <a:t>)</a:t>
            </a:r>
            <a:endParaRPr lang="ko-KR" altLang="en-US" sz="1800" b="0" dirty="0">
              <a:ea typeface="나눔스퀘어OTF" panose="020B0600000101010101" pitchFamily="34" charset="-127"/>
            </a:endParaRPr>
          </a:p>
          <a:p>
            <a:pPr marL="298450" indent="-28575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sz="1800" b="0" dirty="0" err="1">
                <a:ea typeface="나눔스퀘어OTF" panose="020B0600000101010101" pitchFamily="34" charset="-127"/>
              </a:rPr>
              <a:t>residence_since</a:t>
            </a:r>
            <a:r>
              <a:rPr sz="1800" b="0" dirty="0">
                <a:ea typeface="나눔스퀘어OTF" panose="020B0600000101010101" pitchFamily="34" charset="-127"/>
              </a:rPr>
              <a:t> : </a:t>
            </a:r>
            <a:r>
              <a:rPr sz="1800" b="0" dirty="0" err="1">
                <a:ea typeface="나눔스퀘어OTF" panose="020B0600000101010101" pitchFamily="34" charset="-127"/>
              </a:rPr>
              <a:t>현재</a:t>
            </a:r>
            <a:r>
              <a:rPr sz="1800" b="0" dirty="0">
                <a:ea typeface="나눔스퀘어OTF" panose="020B0600000101010101" pitchFamily="34" charset="-127"/>
              </a:rPr>
              <a:t> </a:t>
            </a:r>
            <a:r>
              <a:rPr sz="1800" b="0" dirty="0" err="1">
                <a:ea typeface="나눔스퀘어OTF" panose="020B0600000101010101" pitchFamily="34" charset="-127"/>
              </a:rPr>
              <a:t>거주지에</a:t>
            </a:r>
            <a:r>
              <a:rPr sz="1800" b="0" dirty="0">
                <a:ea typeface="나눔스퀘어OTF" panose="020B0600000101010101" pitchFamily="34" charset="-127"/>
              </a:rPr>
              <a:t> </a:t>
            </a:r>
            <a:r>
              <a:rPr sz="1800" b="0" dirty="0" err="1">
                <a:ea typeface="나눔스퀘어OTF" panose="020B0600000101010101" pitchFamily="34" charset="-127"/>
              </a:rPr>
              <a:t>거주한</a:t>
            </a:r>
            <a:r>
              <a:rPr sz="1800" b="0" dirty="0">
                <a:ea typeface="나눔스퀘어OTF" panose="020B0600000101010101" pitchFamily="34" charset="-127"/>
              </a:rPr>
              <a:t> </a:t>
            </a:r>
            <a:r>
              <a:rPr sz="1800" b="0" dirty="0" err="1">
                <a:ea typeface="나눔스퀘어OTF" panose="020B0600000101010101" pitchFamily="34" charset="-127"/>
              </a:rPr>
              <a:t>기간</a:t>
            </a:r>
            <a:r>
              <a:rPr sz="1800" b="0" dirty="0">
                <a:ea typeface="나눔스퀘어OTF" panose="020B0600000101010101" pitchFamily="34" charset="-127"/>
              </a:rPr>
              <a:t> (년 </a:t>
            </a:r>
            <a:r>
              <a:rPr sz="1800" b="0" dirty="0" err="1">
                <a:ea typeface="나눔스퀘어OTF" panose="020B0600000101010101" pitchFamily="34" charset="-127"/>
              </a:rPr>
              <a:t>단위</a:t>
            </a:r>
            <a:r>
              <a:rPr sz="1800" b="0" dirty="0">
                <a:ea typeface="나눔스퀘어OTF" panose="020B0600000101010101" pitchFamily="34" charset="-127"/>
              </a:rPr>
              <a:t>)</a:t>
            </a:r>
            <a:endParaRPr lang="ko-KR" altLang="en-US" sz="1800" b="0" dirty="0">
              <a:ea typeface="나눔스퀘어OTF" panose="020B0600000101010101" pitchFamily="34" charset="-127"/>
            </a:endParaRPr>
          </a:p>
          <a:p>
            <a:pPr marL="298450" indent="-28575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sz="1800" b="0" dirty="0">
                <a:ea typeface="나눔스퀘어OTF" panose="020B0600000101010101" pitchFamily="34" charset="-127"/>
              </a:rPr>
              <a:t>age : </a:t>
            </a:r>
            <a:r>
              <a:rPr sz="1800" b="0" dirty="0" err="1">
                <a:ea typeface="나눔스퀘어OTF" panose="020B0600000101010101" pitchFamily="34" charset="-127"/>
              </a:rPr>
              <a:t>나이</a:t>
            </a:r>
            <a:endParaRPr lang="ko-KR" altLang="en-US" sz="1800" b="0" dirty="0">
              <a:ea typeface="나눔스퀘어OTF" panose="020B0600000101010101" pitchFamily="34" charset="-127"/>
            </a:endParaRPr>
          </a:p>
          <a:p>
            <a:pPr marL="298450" indent="-28575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sz="1800" b="0" dirty="0" err="1">
                <a:ea typeface="나눔스퀘어OTF" panose="020B0600000101010101" pitchFamily="34" charset="-127"/>
              </a:rPr>
              <a:t>existing_credits</a:t>
            </a:r>
            <a:r>
              <a:rPr sz="1800" b="0" dirty="0">
                <a:ea typeface="나눔스퀘어OTF" panose="020B0600000101010101" pitchFamily="34" charset="-127"/>
              </a:rPr>
              <a:t> : </a:t>
            </a:r>
            <a:r>
              <a:rPr sz="1800" b="0" dirty="0" err="1">
                <a:ea typeface="나눔스퀘어OTF" panose="020B0600000101010101" pitchFamily="34" charset="-127"/>
              </a:rPr>
              <a:t>기존</a:t>
            </a:r>
            <a:r>
              <a:rPr sz="1800" b="0" dirty="0">
                <a:ea typeface="나눔스퀘어OTF" panose="020B0600000101010101" pitchFamily="34" charset="-127"/>
              </a:rPr>
              <a:t> </a:t>
            </a:r>
            <a:r>
              <a:rPr sz="1800" b="0" dirty="0" err="1">
                <a:ea typeface="나눔스퀘어OTF" panose="020B0600000101010101" pitchFamily="34" charset="-127"/>
              </a:rPr>
              <a:t>보유</a:t>
            </a:r>
            <a:r>
              <a:rPr sz="1800" b="0" dirty="0">
                <a:ea typeface="나눔스퀘어OTF" panose="020B0600000101010101" pitchFamily="34" charset="-127"/>
              </a:rPr>
              <a:t> </a:t>
            </a:r>
            <a:r>
              <a:rPr sz="1800" b="0" dirty="0" err="1">
                <a:ea typeface="나눔스퀘어OTF" panose="020B0600000101010101" pitchFamily="34" charset="-127"/>
              </a:rPr>
              <a:t>신용</a:t>
            </a:r>
            <a:r>
              <a:rPr sz="1800" b="0" dirty="0">
                <a:ea typeface="나눔스퀘어OTF" panose="020B0600000101010101" pitchFamily="34" charset="-127"/>
              </a:rPr>
              <a:t> </a:t>
            </a:r>
            <a:r>
              <a:rPr sz="1800" b="0" dirty="0" err="1">
                <a:ea typeface="나눔스퀘어OTF" panose="020B0600000101010101" pitchFamily="34" charset="-127"/>
              </a:rPr>
              <a:t>대출</a:t>
            </a:r>
            <a:r>
              <a:rPr sz="1800" b="0" dirty="0">
                <a:ea typeface="나눔스퀘어OTF" panose="020B0600000101010101" pitchFamily="34" charset="-127"/>
              </a:rPr>
              <a:t> 수</a:t>
            </a:r>
            <a:endParaRPr lang="ko-KR" altLang="en-US" sz="1800" b="0" dirty="0">
              <a:ea typeface="나눔스퀘어OTF" panose="020B0600000101010101" pitchFamily="34" charset="-127"/>
            </a:endParaRPr>
          </a:p>
          <a:p>
            <a:pPr marL="298450" indent="-28575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sz="1800" b="0" dirty="0" err="1">
                <a:ea typeface="나눔스퀘어OTF" panose="020B0600000101010101" pitchFamily="34" charset="-127"/>
              </a:rPr>
              <a:t>num_dependents</a:t>
            </a:r>
            <a:r>
              <a:rPr sz="1800" b="0" dirty="0">
                <a:ea typeface="나눔스퀘어OTF" panose="020B0600000101010101" pitchFamily="34" charset="-127"/>
              </a:rPr>
              <a:t> : </a:t>
            </a:r>
            <a:r>
              <a:rPr sz="1800" b="0" dirty="0" err="1">
                <a:ea typeface="나눔스퀘어OTF" panose="020B0600000101010101" pitchFamily="34" charset="-127"/>
              </a:rPr>
              <a:t>부양</a:t>
            </a:r>
            <a:r>
              <a:rPr sz="1800" b="0" dirty="0">
                <a:ea typeface="나눔스퀘어OTF" panose="020B0600000101010101" pitchFamily="34" charset="-127"/>
              </a:rPr>
              <a:t> </a:t>
            </a:r>
            <a:r>
              <a:rPr sz="1800" b="0" dirty="0" err="1">
                <a:ea typeface="나눔스퀘어OTF" panose="020B0600000101010101" pitchFamily="34" charset="-127"/>
              </a:rPr>
              <a:t>가족</a:t>
            </a:r>
            <a:r>
              <a:rPr sz="1800" b="0" dirty="0">
                <a:ea typeface="나눔스퀘어OTF" panose="020B0600000101010101" pitchFamily="34" charset="-127"/>
              </a:rPr>
              <a:t> 수</a:t>
            </a:r>
            <a:endParaRPr lang="ko-KR" altLang="en-US" sz="1800" b="0" dirty="0">
              <a:ea typeface="나눔스퀘어OTF" panose="020B0600000101010101" pitchFamily="34" charset="-127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b="0" i="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german</a:t>
            </a:r>
            <a:r>
              <a:rPr lang="en-US" altLang="ko-KR" sz="4400" b="0" i="0" spc="8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</a:t>
            </a:r>
            <a:r>
              <a:rPr lang="en-US" altLang="ko-KR" sz="4400" b="0" i="0" spc="-2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dataset</a:t>
            </a:r>
            <a:endParaRPr lang="ko-KR" altLang="en-US" sz="4400" b="0" i="0" dirty="0">
              <a:latin typeface="나눔스퀘어OTF Bold" panose="020B0600000101010101" pitchFamily="34" charset="-127"/>
              <a:ea typeface="나눔스퀘어OTF Bold" panose="020B0600000101010101" pitchFamily="34" charset="-127"/>
              <a:sym typeface="맑은 고딕" charset="0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15" descr="C:/Users/Administrator/AppData/Roaming/PolarisOffice/ETemp/12352_19657152/fImage76435173935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315"/>
          <a:stretch/>
        </p:blipFill>
        <p:spPr>
          <a:xfrm>
            <a:off x="835025" y="1814195"/>
            <a:ext cx="7287260" cy="1610360"/>
          </a:xfrm>
          <a:prstGeom prst="rect">
            <a:avLst/>
          </a:prstGeom>
          <a:noFill/>
        </p:spPr>
      </p:pic>
      <p:pic>
        <p:nvPicPr>
          <p:cNvPr id="7" name="그림 16" descr="C:/Users/Administrator/AppData/Roaming/PolarisOffice/ETemp/12352_19657152/fImage9776174696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25" y="3896995"/>
            <a:ext cx="4067810" cy="1610360"/>
          </a:xfrm>
          <a:prstGeom prst="rect">
            <a:avLst/>
          </a:prstGeom>
          <a:noFill/>
        </p:spPr>
      </p:pic>
      <p:pic>
        <p:nvPicPr>
          <p:cNvPr id="8" name="그림 19" descr="C:/Users/Administrator/AppData/Roaming/PolarisOffice/ETemp/12352_19657152/fImage5749177446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850" y="3896995"/>
            <a:ext cx="3645535" cy="21894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b="0" i="0" dirty="0">
                <a:latin typeface="나눔스퀘어OTF Bold" panose="020B0600000101010101" pitchFamily="34" charset="-127"/>
                <a:ea typeface="나눔스퀘어OTF Bold" panose="020B0600000101010101" pitchFamily="34" charset="-127"/>
                <a:sym typeface="맑은 고딕" charset="0"/>
              </a:rPr>
              <a:t>Calcu</a:t>
            </a:r>
            <a:r>
              <a:rPr lang="en-US" altLang="ko-KR" dirty="0">
                <a:latin typeface="나눔스퀘어OTF Bold" panose="020B0600000101010101" pitchFamily="34" charset="-127"/>
                <a:ea typeface="나눔스퀘어OTF Bold" panose="020B0600000101010101" pitchFamily="34" charset="-127"/>
                <a:sym typeface="맑은 고딕" charset="0"/>
              </a:rPr>
              <a:t>late Accuracy</a:t>
            </a:r>
            <a:endParaRPr lang="ko-KR" altLang="en-US" sz="4400" b="0" i="0" dirty="0">
              <a:latin typeface="나눔스퀘어OTF Bold" panose="020B0600000101010101" pitchFamily="34" charset="-127"/>
              <a:ea typeface="나눔스퀘어OTF Bold" panose="020B0600000101010101" pitchFamily="34" charset="-127"/>
              <a:sym typeface="맑은 고딕" charset="0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90CDD7C2-907D-45E2-B067-F4DDD190E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50907"/>
            <a:ext cx="8086673" cy="384181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2968991-EC80-4EB2-9B41-79FB58F90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606" y="5202140"/>
            <a:ext cx="2810267" cy="39058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6A06C2-A7AB-492E-B0AE-A44C6CAE2AE3}"/>
              </a:ext>
            </a:extLst>
          </p:cNvPr>
          <p:cNvSpPr/>
          <p:nvPr/>
        </p:nvSpPr>
        <p:spPr>
          <a:xfrm>
            <a:off x="6114606" y="5266267"/>
            <a:ext cx="2810267" cy="3264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440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german</a:t>
            </a:r>
            <a:r>
              <a:rPr sz="4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with decision tree</a:t>
            </a:r>
            <a:endParaRPr lang="ko-KR" altLang="en-US" sz="4400" b="0" i="0" dirty="0">
              <a:latin typeface="나눔스퀘어OTF Bold" panose="020B0600000101010101" pitchFamily="34" charset="-127"/>
              <a:ea typeface="나눔스퀘어OTF Bold" panose="020B0600000101010101" pitchFamily="34" charset="-127"/>
              <a:sym typeface="맑은 고딕" charset="0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AB900016-9BD5-4F7A-A618-075B8F937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65" y="1701165"/>
            <a:ext cx="4767368" cy="257407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D867357-EC8E-4A56-A8B8-DA3FD7F99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933" y="1701166"/>
            <a:ext cx="6038639" cy="418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0521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Pruning, </a:t>
            </a:r>
            <a:r>
              <a:rPr lang="ko-KR" altLang="en-US" sz="4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가지치기 </a:t>
            </a:r>
            <a:endParaRPr lang="ko-KR" altLang="en-US" sz="4400" b="0" i="0" dirty="0">
              <a:ea typeface="나눔스퀘어OTF" panose="020B0600000101010101" pitchFamily="34" charset="-127"/>
              <a:sym typeface="맑은 고딕" charset="0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836930" y="1691640"/>
            <a:ext cx="4572635" cy="277495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254000" indent="-254000" algn="l" hangingPunct="1">
              <a:buFont typeface="Wingdings"/>
              <a:buChar char="l"/>
            </a:pPr>
            <a:endParaRPr lang="ko-KR" altLang="en-US" sz="1800" dirty="0">
              <a:latin typeface="맑은 고딕" charset="0"/>
              <a:ea typeface="맑은 고딕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24"/>
              <p:cNvSpPr txBox="1">
                <a:spLocks noGrp="1"/>
              </p:cNvSpPr>
              <p:nvPr>
                <p:ph idx="2"/>
              </p:nvPr>
            </p:nvSpPr>
            <p:spPr>
              <a:xfrm>
                <a:off x="838200" y="1812925"/>
                <a:ext cx="10516870" cy="435292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algn="l" hangingPunct="1">
                  <a:buFont typeface="Wingdings" panose="05000000000000000000" pitchFamily="2" charset="2"/>
                  <a:buChar char="l"/>
                </a:pPr>
                <a:r>
                  <a:rPr lang="en-US" sz="2000" dirty="0">
                    <a:ea typeface="나눔스퀘어OTF" panose="020B0600000101010101" pitchFamily="34" charset="-127"/>
                  </a:rPr>
                  <a:t>cost-</a:t>
                </a:r>
                <a:r>
                  <a:rPr lang="en-US" sz="2000" dirty="0" err="1">
                    <a:ea typeface="나눔스퀘어OTF" panose="020B0600000101010101" pitchFamily="34" charset="-127"/>
                  </a:rPr>
                  <a:t>complexity</a:t>
                </a:r>
                <a:r>
                  <a:rPr lang="ko-KR" altLang="en-US" sz="2000" dirty="0" err="1">
                    <a:ea typeface="나눔스퀘어OTF" panose="020B0600000101010101" pitchFamily="34" charset="-127"/>
                  </a:rPr>
                  <a:t>을</a:t>
                </a:r>
                <a:r>
                  <a:rPr lang="ko-KR" altLang="en-US" sz="2000" dirty="0">
                    <a:ea typeface="나눔스퀘어OTF" panose="020B0600000101010101" pitchFamily="34" charset="-127"/>
                  </a:rPr>
                  <a:t> </a:t>
                </a:r>
                <a:r>
                  <a:rPr lang="ko-KR" altLang="en-US" sz="2000" dirty="0" err="1">
                    <a:ea typeface="나눔스퀘어OTF" panose="020B0600000101010101" pitchFamily="34" charset="-127"/>
                  </a:rPr>
                  <a:t>최소화하는</a:t>
                </a:r>
                <a:r>
                  <a:rPr lang="ko-KR" altLang="en-US" sz="2000" dirty="0">
                    <a:ea typeface="나눔스퀘어OTF" panose="020B0600000101010101" pitchFamily="34" charset="-127"/>
                  </a:rPr>
                  <a:t> </a:t>
                </a:r>
                <a:r>
                  <a:rPr lang="ko-KR" altLang="en-US" sz="2000" dirty="0" err="1">
                    <a:ea typeface="나눔스퀘어OTF" panose="020B0600000101010101" pitchFamily="34" charset="-127"/>
                  </a:rPr>
                  <a:t>모형</a:t>
                </a:r>
                <a:r>
                  <a:rPr lang="ko-KR" altLang="en-US" sz="2000" dirty="0">
                    <a:ea typeface="나눔스퀘어OTF" panose="020B0600000101010101" pitchFamily="34" charset="-127"/>
                  </a:rPr>
                  <a:t> </a:t>
                </a:r>
                <a:r>
                  <a:rPr lang="ko-KR" altLang="en-US" sz="2000" dirty="0" err="1">
                    <a:ea typeface="나눔스퀘어OTF" panose="020B0600000101010101" pitchFamily="34" charset="-127"/>
                  </a:rPr>
                  <a:t>선택</a:t>
                </a:r>
                <a:endParaRPr lang="ko-KR" altLang="en-US" sz="2000" dirty="0">
                  <a:ea typeface="나눔스퀘어OTF" panose="020B0600000101010101" pitchFamily="34" charset="-127"/>
                </a:endParaRPr>
              </a:p>
              <a:p>
                <a:pPr>
                  <a:buFont typeface="Wingdings" panose="05000000000000000000" pitchFamily="2" charset="2"/>
                  <a:buChar char="l"/>
                </a:pPr>
                <a:r>
                  <a:rPr lang="ko-KR" altLang="en-US" sz="2000" i="0" dirty="0">
                    <a:ea typeface="나눔스퀘어OTF" panose="020B0600000101010101" pitchFamily="34" charset="-127"/>
                  </a:rPr>
                  <a:t>비용 복잡도 </a:t>
                </a:r>
                <a:r>
                  <a:rPr lang="en-US" altLang="ko-KR" sz="2000" i="0" dirty="0">
                    <a:ea typeface="나눔스퀘어OTF" panose="020B0600000101010101" pitchFamily="34" charset="-127"/>
                  </a:rPr>
                  <a:t>(cost-complexity)</a:t>
                </a:r>
                <a:r>
                  <a:rPr lang="en-US" altLang="ko-KR" sz="2000" i="0" spc="-80" dirty="0">
                    <a:ea typeface="나눔스퀘어OTF" panose="020B0600000101010101" pitchFamily="34" charset="-127"/>
                  </a:rPr>
                  <a:t> </a:t>
                </a:r>
                <a:r>
                  <a:rPr lang="ko-KR" altLang="en-US" sz="2000" i="0" dirty="0">
                    <a:ea typeface="나눔스퀘어OTF" panose="020B0600000101010101" pitchFamily="34" charset="-127"/>
                  </a:rPr>
                  <a:t>를 </a:t>
                </a:r>
                <a:r>
                  <a:rPr lang="ko-KR" altLang="en-US" sz="2000" i="0" spc="-10" dirty="0">
                    <a:ea typeface="나눔스퀘어OTF" panose="020B0600000101010101" pitchFamily="34" charset="-127"/>
                  </a:rPr>
                  <a:t>이용하여</a:t>
                </a:r>
                <a:r>
                  <a:rPr lang="ko-KR" altLang="en-US" sz="2000" i="0" dirty="0">
                    <a:ea typeface="나눔스퀘어OTF" panose="020B0600000101010101" pitchFamily="34" charset="-127"/>
                  </a:rPr>
                  <a:t> </a:t>
                </a:r>
                <a:r>
                  <a:rPr lang="ko-KR" altLang="en-US" sz="2000" i="0" spc="-10" dirty="0">
                    <a:ea typeface="나눔스퀘어OTF" panose="020B0600000101010101" pitchFamily="34" charset="-127"/>
                  </a:rPr>
                  <a:t>가지치기</a:t>
                </a:r>
                <a:r>
                  <a:rPr lang="ko-KR" altLang="en-US" sz="2000" i="0" dirty="0">
                    <a:ea typeface="나눔스퀘어OTF" panose="020B0600000101010101" pitchFamily="34" charset="-127"/>
                  </a:rPr>
                  <a:t> </a:t>
                </a:r>
                <a:r>
                  <a:rPr lang="en-US" altLang="ko-KR" sz="2000" i="0" dirty="0">
                    <a:ea typeface="나눔스퀘어OTF" panose="020B0600000101010101" pitchFamily="34" charset="-127"/>
                  </a:rPr>
                  <a:t>(pruning)</a:t>
                </a:r>
                <a:r>
                  <a:rPr lang="en-US" altLang="ko-KR" sz="2000" i="0" spc="-80" dirty="0">
                    <a:ea typeface="나눔스퀘어OTF" panose="020B0600000101010101" pitchFamily="34" charset="-127"/>
                  </a:rPr>
                  <a:t> </a:t>
                </a:r>
                <a:r>
                  <a:rPr lang="ko-KR" altLang="en-US" sz="2000" i="0" dirty="0">
                    <a:ea typeface="나눔스퀘어OTF" panose="020B0600000101010101" pitchFamily="34" charset="-127"/>
                  </a:rPr>
                  <a:t>를 실행</a:t>
                </a:r>
                <a:r>
                  <a:rPr lang="en-US" altLang="ko-KR" sz="2000" i="0" dirty="0">
                    <a:ea typeface="나눔스퀘어OTF" panose="020B0600000101010101" pitchFamily="34" charset="-127"/>
                  </a:rPr>
                  <a:t>.</a:t>
                </a:r>
                <a:endParaRPr lang="ko-KR" altLang="en-US" sz="2000" dirty="0">
                  <a:ea typeface="나눔스퀘어OTF" panose="020B0600000101010101" pitchFamily="34" charset="-127"/>
                </a:endParaRPr>
              </a:p>
              <a:p>
                <a:pPr algn="l" hangingPunct="1">
                  <a:buFont typeface="Wingdings" panose="05000000000000000000" pitchFamily="2" charset="2"/>
                  <a:buChar char="l"/>
                </a:pPr>
                <a:endParaRPr lang="ko-KR" altLang="en-US" sz="2000" dirty="0">
                  <a:ea typeface="나눔스퀘어OTF" panose="020B0600000101010101" pitchFamily="34" charset="-127"/>
                </a:endParaRPr>
              </a:p>
              <a:p>
                <a:pPr algn="l" hangingPunct="1">
                  <a:buFont typeface="Wingdings" panose="05000000000000000000" pitchFamily="2" charset="2"/>
                  <a:buChar char="l"/>
                </a:pPr>
                <a:endParaRPr lang="ko-KR" altLang="en-US" sz="2000" dirty="0">
                  <a:ea typeface="나눔스퀘어OTF" panose="020B0600000101010101" pitchFamily="34" charset="-127"/>
                </a:endParaRPr>
              </a:p>
              <a:p>
                <a:pP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나눔스퀘어OTF" panose="020B0600000101010101" pitchFamily="34" charset="-127"/>
                      </a:rPr>
                      <m:t>𝑎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나눔스퀘어OTF" panose="020B0600000101010101" pitchFamily="34" charset="-127"/>
                      </a:rPr>
                      <m:t> </m:t>
                    </m:r>
                  </m:oMath>
                </a14:m>
                <a:r>
                  <a:rPr lang="en-US" sz="2000" b="0" i="0" dirty="0">
                    <a:ea typeface="나눔스퀘어OTF" panose="020B0600000101010101" pitchFamily="34" charset="-127"/>
                  </a:rPr>
                  <a:t>= complexity</a:t>
                </a:r>
                <a:r>
                  <a:rPr lang="en-US" sz="2000" b="0" i="0" spc="30" dirty="0">
                    <a:ea typeface="나눔스퀘어OTF" panose="020B0600000101010101" pitchFamily="34" charset="-127"/>
                  </a:rPr>
                  <a:t> </a:t>
                </a:r>
                <a:r>
                  <a:rPr lang="en-US" sz="2000" b="0" i="0" spc="-10" dirty="0">
                    <a:ea typeface="나눔스퀘어OTF" panose="020B0600000101010101" pitchFamily="34" charset="-127"/>
                  </a:rPr>
                  <a:t>parameter</a:t>
                </a:r>
                <a:r>
                  <a:rPr lang="en-US" sz="2000" b="0" i="0" spc="30" dirty="0">
                    <a:ea typeface="나눔스퀘어OTF" panose="020B0600000101010101" pitchFamily="34" charset="-127"/>
                  </a:rPr>
                  <a:t> </a:t>
                </a:r>
                <a:r>
                  <a:rPr lang="en-US" sz="2000" b="0" i="0" dirty="0">
                    <a:ea typeface="나눔스퀘어OTF" panose="020B0600000101010101" pitchFamily="34" charset="-127"/>
                  </a:rPr>
                  <a:t>(</a:t>
                </a:r>
                <a:r>
                  <a:rPr lang="en-US" altLang="ko-KR" sz="2000" dirty="0">
                    <a:ea typeface="나눔스퀘어OTF" panose="020B0600000101010101" pitchFamily="34" charset="-127"/>
                  </a:rPr>
                  <a:t>CP</a:t>
                </a:r>
                <a:r>
                  <a:rPr lang="en-US" sz="2000" b="0" i="0" dirty="0">
                    <a:ea typeface="나눔스퀘어OTF" panose="020B0600000101010101" pitchFamily="34" charset="-127"/>
                  </a:rPr>
                  <a:t>)</a:t>
                </a:r>
              </a:p>
              <a:p>
                <a:pP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2000" dirty="0">
                        <a:ea typeface="나눔스퀘어OTF" panose="020B0600000101010101" pitchFamily="34" charset="-127"/>
                      </a:rPr>
                      <m:t>|</m:t>
                    </m:r>
                    <m:r>
                      <m:rPr>
                        <m:nor/>
                      </m:rPr>
                      <a:rPr lang="en-US" altLang="ko-KR" sz="2000" dirty="0">
                        <a:ea typeface="나눔스퀘어OTF" panose="020B0600000101010101" pitchFamily="34" charset="-127"/>
                      </a:rPr>
                      <m:t>T</m:t>
                    </m:r>
                    <m:r>
                      <m:rPr>
                        <m:nor/>
                      </m:rPr>
                      <a:rPr lang="en-US" altLang="ko-KR" sz="2000" dirty="0">
                        <a:ea typeface="나눔스퀘어OTF" panose="020B0600000101010101" pitchFamily="34" charset="-127"/>
                      </a:rPr>
                      <m:t>|</m:t>
                    </m:r>
                  </m:oMath>
                </a14:m>
                <a:r>
                  <a:rPr lang="ko-KR" altLang="en-US" sz="2000" i="0" dirty="0">
                    <a:ea typeface="나눔스퀘어OTF" panose="020B0600000101010101" pitchFamily="34" charset="-127"/>
                  </a:rPr>
                  <a:t> 은 나무 </a:t>
                </a:r>
                <a:r>
                  <a:rPr lang="en-US" altLang="ko-KR" sz="2000" i="0" spc="80" dirty="0">
                    <a:ea typeface="나눔스퀘어OTF" panose="020B0600000101010101" pitchFamily="34" charset="-127"/>
                  </a:rPr>
                  <a:t>T</a:t>
                </a:r>
                <a:r>
                  <a:rPr lang="ko-KR" altLang="en-US" sz="2000" i="0" dirty="0">
                    <a:ea typeface="나눔스퀘어OTF" panose="020B0600000101010101" pitchFamily="34" charset="-127"/>
                  </a:rPr>
                  <a:t>의 </a:t>
                </a:r>
                <a:r>
                  <a:rPr lang="ko-KR" altLang="en-US" sz="2000" i="0" dirty="0" err="1">
                    <a:ea typeface="나눔스퀘어OTF" panose="020B0600000101010101" pitchFamily="34" charset="-127"/>
                  </a:rPr>
                  <a:t>끝마디</a:t>
                </a:r>
                <a:r>
                  <a:rPr lang="ko-KR" altLang="en-US" sz="2000" i="0" dirty="0">
                    <a:ea typeface="나눔스퀘어OTF" panose="020B0600000101010101" pitchFamily="34" charset="-127"/>
                  </a:rPr>
                  <a:t> 개수</a:t>
                </a:r>
                <a:r>
                  <a:rPr lang="en-US" altLang="ko-KR" sz="2000" i="0" dirty="0">
                    <a:ea typeface="나눔스퀘어OTF" panose="020B0600000101010101" pitchFamily="34" charset="-127"/>
                  </a:rPr>
                  <a:t>. (</a:t>
                </a:r>
                <a:r>
                  <a:rPr lang="en-US" altLang="ko-KR" sz="2000" dirty="0">
                    <a:solidFill>
                      <a:srgbClr val="383A42"/>
                    </a:solidFill>
                    <a:latin typeface="Consolas" panose="020B0609020204030204" pitchFamily="49" charset="0"/>
                  </a:rPr>
                  <a:t>depths)</a:t>
                </a:r>
                <a:endParaRPr lang="en-US" sz="2000" b="0" i="0" dirty="0">
                  <a:ea typeface="나눔스퀘어OTF" panose="020B0600000101010101" pitchFamily="34" charset="-127"/>
                </a:endParaRPr>
              </a:p>
            </p:txBody>
          </p:sp>
        </mc:Choice>
        <mc:Fallback xmlns="">
          <p:sp>
            <p:nvSpPr>
              <p:cNvPr id="7" name="내용 개체 틀 2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2"/>
              </p:nvPr>
            </p:nvSpPr>
            <p:spPr>
              <a:xfrm>
                <a:off x="838200" y="1812925"/>
                <a:ext cx="10516870" cy="4352925"/>
              </a:xfrm>
              <a:prstGeom prst="rect">
                <a:avLst/>
              </a:prstGeom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CC3790F6-6BB0-424D-97BF-3F2B08837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328" y="2862502"/>
            <a:ext cx="5239343" cy="31130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Pruning, </a:t>
            </a:r>
            <a:r>
              <a:rPr lang="ko-KR" altLang="en-US" sz="4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가지치기 </a:t>
            </a:r>
            <a:endParaRPr lang="ko-KR" altLang="en-US" sz="4400" dirty="0">
              <a:ea typeface="나눔스퀘어OTF" panose="020B0600000101010101" pitchFamily="34" charset="-127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730" cy="127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28" descr="C:/Users/Administrator/AppData/Roaming/PolarisOffice/ETemp/12352_19657152/fImage19337189299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245" y="1696720"/>
            <a:ext cx="6772910" cy="447738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Pruning, </a:t>
            </a:r>
            <a:r>
              <a:rPr lang="ko-KR" altLang="en-US" sz="4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가지치기 </a:t>
            </a:r>
            <a:endParaRPr lang="ko-KR" altLang="en-US" sz="4400" b="0" i="0" dirty="0">
              <a:ea typeface="나눔스퀘어OTF" panose="020B0600000101010101" pitchFamily="34" charset="-127"/>
              <a:sym typeface="맑은 고딕" charset="0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EBD6896C-84DB-41BF-8DE0-30AF6E1BB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0" y="1701165"/>
            <a:ext cx="8966200" cy="199769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Pruning, </a:t>
            </a:r>
            <a:r>
              <a:rPr lang="ko-KR" altLang="en-US" sz="4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가지치기 </a:t>
            </a:r>
            <a:endParaRPr lang="ko-KR" altLang="en-US" sz="4400" b="0" i="0" dirty="0">
              <a:ea typeface="나눔스퀘어OTF" panose="020B0600000101010101" pitchFamily="34" charset="-127"/>
              <a:sym typeface="맑은 고딕" charset="0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상자 21"/>
          <p:cNvSpPr txBox="1">
            <a:spLocks/>
          </p:cNvSpPr>
          <p:nvPr/>
        </p:nvSpPr>
        <p:spPr>
          <a:xfrm>
            <a:off x="836930" y="1691640"/>
            <a:ext cx="4573270" cy="277495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254000" indent="-254000" algn="l" hangingPunct="1">
              <a:buFont typeface="Wingdings"/>
              <a:buChar char="l"/>
            </a:pPr>
            <a:endParaRPr lang="ko-KR" altLang="en-US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10F6076-EC80-44A3-852F-554229B76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30387"/>
            <a:ext cx="6546003" cy="382488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22B56FC-FE52-4954-8948-CDAE39D51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505" y="1830387"/>
            <a:ext cx="3734321" cy="313416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509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Pruning, </a:t>
            </a:r>
            <a:r>
              <a:rPr lang="ko-KR" altLang="en-US" sz="4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가지치기 </a:t>
            </a:r>
            <a:endParaRPr lang="ko-KR" altLang="en-US" sz="4400" dirty="0">
              <a:ea typeface="나눔스퀘어OTF" panose="020B0600000101010101" pitchFamily="34" charset="-127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24" descr="C:/Users/Administrator/AppData/Roaming/PolarisOffice/ETemp/12352_19657152/fImage231385182996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985" y="2327910"/>
            <a:ext cx="9387840" cy="4136390"/>
          </a:xfrm>
          <a:prstGeom prst="rect">
            <a:avLst/>
          </a:prstGeom>
          <a:noFill/>
        </p:spPr>
      </p:pic>
      <p:sp>
        <p:nvSpPr>
          <p:cNvPr id="7" name="내용 개체 틀 26"/>
          <p:cNvSpPr txBox="1">
            <a:spLocks noGrp="1"/>
          </p:cNvSpPr>
          <p:nvPr>
            <p:ph idx="3"/>
          </p:nvPr>
        </p:nvSpPr>
        <p:spPr>
          <a:xfrm>
            <a:off x="850900" y="1647190"/>
            <a:ext cx="10516870" cy="137731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54000" indent="-25400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ko-KR" sz="3500" b="1" dirty="0" err="1">
                <a:ea typeface="나눔스퀘어OTF" panose="020B0600000101010101" pitchFamily="34" charset="-127"/>
              </a:rPr>
              <a:t>Full</a:t>
            </a:r>
            <a:r>
              <a:rPr lang="ko-KR" sz="3500" b="1" dirty="0">
                <a:ea typeface="나눔스퀘어OTF" panose="020B0600000101010101" pitchFamily="34" charset="-127"/>
              </a:rPr>
              <a:t> Tree </a:t>
            </a:r>
            <a:r>
              <a:rPr lang="ko-KR" sz="3500" b="1" dirty="0" err="1">
                <a:ea typeface="나눔스퀘어OTF" panose="020B0600000101010101" pitchFamily="34" charset="-127"/>
              </a:rPr>
              <a:t>plot</a:t>
            </a:r>
            <a:r>
              <a:rPr lang="ko-KR" sz="3500" b="1" dirty="0">
                <a:ea typeface="나눔스퀘어OTF" panose="020B0600000101010101" pitchFamily="34" charset="-127"/>
              </a:rPr>
              <a:t> </a:t>
            </a:r>
            <a:r>
              <a:rPr lang="ko-KR" sz="3500" b="1" dirty="0" err="1">
                <a:ea typeface="나눔스퀘어OTF" panose="020B0600000101010101" pitchFamily="34" charset="-127"/>
              </a:rPr>
              <a:t>Vs</a:t>
            </a:r>
            <a:r>
              <a:rPr lang="ko-KR" sz="3500" b="1" dirty="0">
                <a:ea typeface="나눔스퀘어OTF" panose="020B0600000101010101" pitchFamily="34" charset="-127"/>
              </a:rPr>
              <a:t> Tree </a:t>
            </a:r>
            <a:r>
              <a:rPr lang="ko-KR" sz="3500" b="1" dirty="0" err="1">
                <a:ea typeface="나눔스퀘어OTF" panose="020B0600000101010101" pitchFamily="34" charset="-127"/>
              </a:rPr>
              <a:t>with</a:t>
            </a:r>
            <a:r>
              <a:rPr lang="ko-KR" sz="3500" b="1" dirty="0">
                <a:ea typeface="나눔스퀘어OTF" panose="020B0600000101010101" pitchFamily="34" charset="-127"/>
              </a:rPr>
              <a:t> </a:t>
            </a:r>
            <a:r>
              <a:rPr lang="ko-KR" sz="3500" b="1" dirty="0" err="1">
                <a:ea typeface="나눔스퀘어OTF" panose="020B0600000101010101" pitchFamily="34" charset="-127"/>
              </a:rPr>
              <a:t>cp</a:t>
            </a:r>
            <a:r>
              <a:rPr lang="ko-KR" sz="3500" b="1" dirty="0">
                <a:ea typeface="나눔스퀘어OTF" panose="020B0600000101010101" pitchFamily="34" charset="-127"/>
              </a:rPr>
              <a:t> = 0.005</a:t>
            </a:r>
            <a:endParaRPr lang="ko-KR" altLang="en-US" sz="3500" b="1" dirty="0">
              <a:ea typeface="나눔스퀘어OTF" charset="0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Pruning, </a:t>
            </a:r>
            <a:r>
              <a:rPr lang="ko-KR" altLang="en-US" sz="4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가지치기 </a:t>
            </a:r>
            <a:endParaRPr lang="ko-KR" altLang="en-US" sz="4400" b="0" i="0" dirty="0">
              <a:ea typeface="나눔스퀘어OTF" panose="020B0600000101010101" pitchFamily="34" charset="-127"/>
              <a:sym typeface="맑은 고딕" charset="0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상자 31"/>
          <p:cNvSpPr txBox="1">
            <a:spLocks/>
          </p:cNvSpPr>
          <p:nvPr/>
        </p:nvSpPr>
        <p:spPr>
          <a:xfrm>
            <a:off x="913130" y="1691640"/>
            <a:ext cx="6919595" cy="369570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72440" indent="-342900">
              <a:buFont typeface="Wingdings" panose="05000000000000000000" pitchFamily="2" charset="2"/>
              <a:buChar char="l"/>
              <a:tabLst>
                <a:tab pos="239395" algn="l"/>
              </a:tabLst>
            </a:pPr>
            <a:r>
              <a:rPr lang="en-US" altLang="ko-KR" sz="2400" dirty="0">
                <a:latin typeface="나눔스퀘어OTF" panose="020B0600000101010101" pitchFamily="34" charset="-127"/>
                <a:ea typeface="맑은 고딕" charset="0"/>
              </a:rPr>
              <a:t>CV</a:t>
            </a:r>
            <a:r>
              <a:rPr lang="ko-KR" altLang="en-US" sz="2400" dirty="0">
                <a:latin typeface="Malgun Gothic" charset="0"/>
                <a:ea typeface="맑은 고딕" charset="0"/>
              </a:rPr>
              <a:t>을</a:t>
            </a:r>
            <a:r>
              <a:rPr lang="ko-KR" altLang="en-US" sz="2400" spc="-10" dirty="0">
                <a:latin typeface="Malgun Gothic" charset="0"/>
                <a:ea typeface="맑은 고딕" charset="0"/>
              </a:rPr>
              <a:t> 이용하여 </a:t>
            </a:r>
            <a:r>
              <a:rPr lang="ko-KR" altLang="en-US" sz="2400" dirty="0">
                <a:latin typeface="Malgun Gothic" charset="0"/>
                <a:ea typeface="맑은 고딕" charset="0"/>
              </a:rPr>
              <a:t>적절한 </a:t>
            </a:r>
            <a:r>
              <a:rPr lang="ko-KR" altLang="en-US" sz="2400" spc="-10" dirty="0">
                <a:latin typeface="Malgun Gothic" charset="0"/>
                <a:ea typeface="맑은 고딕" charset="0"/>
              </a:rPr>
              <a:t>가지치기 </a:t>
            </a:r>
            <a:r>
              <a:rPr lang="ko-KR" altLang="en-US" sz="2400" dirty="0">
                <a:latin typeface="Malgun Gothic" charset="0"/>
                <a:ea typeface="맑은 고딕" charset="0"/>
              </a:rPr>
              <a:t>찾기</a:t>
            </a:r>
          </a:p>
        </p:txBody>
      </p:sp>
      <p:pic>
        <p:nvPicPr>
          <p:cNvPr id="8" name="그림 2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7" b="52592"/>
          <a:stretch/>
        </p:blipFill>
        <p:spPr>
          <a:xfrm>
            <a:off x="2243455" y="2370665"/>
            <a:ext cx="7726681" cy="32495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Pruning, </a:t>
            </a:r>
            <a:r>
              <a:rPr lang="ko-KR" altLang="en-US" sz="4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가지치기 </a:t>
            </a:r>
            <a:endParaRPr lang="ko-KR" altLang="en-US" sz="4400" dirty="0">
              <a:ea typeface="나눔스퀘어OTF" panose="020B0600000101010101" pitchFamily="34" charset="-127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730" cy="127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 0"/>
          <p:cNvSpPr txBox="1">
            <a:spLocks/>
          </p:cNvSpPr>
          <p:nvPr/>
        </p:nvSpPr>
        <p:spPr>
          <a:xfrm>
            <a:off x="913130" y="1691640"/>
            <a:ext cx="6920230" cy="369570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72440" indent="-342900">
              <a:buFont typeface="Wingdings" panose="05000000000000000000" pitchFamily="2" charset="2"/>
              <a:buChar char="l"/>
              <a:tabLst>
                <a:tab pos="239395" algn="l"/>
              </a:tabLst>
            </a:pPr>
            <a:r>
              <a:rPr lang="en-US" altLang="ko-KR" sz="2400" dirty="0">
                <a:latin typeface="나눔스퀘어OTF" panose="020B0600000101010101" pitchFamily="34" charset="-127"/>
                <a:ea typeface="맑은 고딕" charset="0"/>
              </a:rPr>
              <a:t>CV</a:t>
            </a:r>
            <a:r>
              <a:rPr lang="ko-KR" altLang="en-US" sz="2400" dirty="0">
                <a:latin typeface="Malgun Gothic" charset="0"/>
                <a:ea typeface="맑은 고딕" charset="0"/>
              </a:rPr>
              <a:t>을</a:t>
            </a:r>
            <a:r>
              <a:rPr lang="ko-KR" altLang="en-US" sz="2400" spc="-10" dirty="0">
                <a:latin typeface="Malgun Gothic" charset="0"/>
                <a:ea typeface="맑은 고딕" charset="0"/>
              </a:rPr>
              <a:t> 이용하여 </a:t>
            </a:r>
            <a:r>
              <a:rPr lang="ko-KR" altLang="en-US" sz="2400" dirty="0">
                <a:latin typeface="Malgun Gothic" charset="0"/>
                <a:ea typeface="맑은 고딕" charset="0"/>
              </a:rPr>
              <a:t>적절한 </a:t>
            </a:r>
            <a:r>
              <a:rPr lang="ko-KR" altLang="en-US" sz="2400" spc="-10" dirty="0">
                <a:latin typeface="Malgun Gothic" charset="0"/>
                <a:ea typeface="맑은 고딕" charset="0"/>
              </a:rPr>
              <a:t>가지치기 </a:t>
            </a:r>
            <a:r>
              <a:rPr lang="ko-KR" altLang="en-US" sz="2400" dirty="0">
                <a:latin typeface="Malgun Gothic" charset="0"/>
                <a:ea typeface="맑은 고딕" charset="0"/>
              </a:rPr>
              <a:t>찾기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D83BDD8-D8E5-4368-BF1F-A2D9E34800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365" b="49031"/>
          <a:stretch/>
        </p:blipFill>
        <p:spPr>
          <a:xfrm>
            <a:off x="913130" y="2293620"/>
            <a:ext cx="6410537" cy="382609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929451A-4EC0-4945-AA9D-52F8C23B1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3734" y="2293620"/>
            <a:ext cx="4327909" cy="2403562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sz="4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Pruning, </a:t>
            </a:r>
            <a:r>
              <a:rPr sz="440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가지치기</a:t>
            </a:r>
            <a:r>
              <a:rPr sz="4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</a:t>
            </a:r>
            <a:endParaRPr lang="ko-KR" altLang="en-US" sz="44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730" cy="127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 0"/>
          <p:cNvSpPr txBox="1">
            <a:spLocks/>
          </p:cNvSpPr>
          <p:nvPr/>
        </p:nvSpPr>
        <p:spPr>
          <a:xfrm>
            <a:off x="913130" y="1691640"/>
            <a:ext cx="6920230" cy="369570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72440" indent="-342900">
              <a:buFont typeface="Wingdings" panose="05000000000000000000" pitchFamily="2" charset="2"/>
              <a:buChar char="l"/>
              <a:tabLst>
                <a:tab pos="239395" algn="l"/>
              </a:tabLst>
            </a:pPr>
            <a:r>
              <a:rPr sz="2400" dirty="0" err="1">
                <a:latin typeface="나눔스퀘어OTF" panose="020B0600000101010101" pitchFamily="34" charset="-127"/>
                <a:ea typeface="맑은 고딕" charset="0"/>
              </a:rPr>
              <a:t>CV</a:t>
            </a:r>
            <a:r>
              <a:rPr sz="2400" dirty="0" err="1">
                <a:latin typeface="Malgun Gothic" charset="0"/>
                <a:ea typeface="맑은 고딕" charset="0"/>
              </a:rPr>
              <a:t>을</a:t>
            </a:r>
            <a:r>
              <a:rPr sz="2400" spc="-10" dirty="0">
                <a:latin typeface="Malgun Gothic" charset="0"/>
                <a:ea typeface="맑은 고딕" charset="0"/>
              </a:rPr>
              <a:t> </a:t>
            </a:r>
            <a:r>
              <a:rPr sz="2400" spc="-10" dirty="0" err="1">
                <a:latin typeface="Malgun Gothic" charset="0"/>
                <a:ea typeface="맑은 고딕" charset="0"/>
              </a:rPr>
              <a:t>이용하여</a:t>
            </a:r>
            <a:r>
              <a:rPr sz="2400" spc="-10" dirty="0">
                <a:latin typeface="Malgun Gothic" charset="0"/>
                <a:ea typeface="맑은 고딕" charset="0"/>
              </a:rPr>
              <a:t> </a:t>
            </a:r>
            <a:r>
              <a:rPr sz="2400" dirty="0" err="1">
                <a:latin typeface="Malgun Gothic" charset="0"/>
                <a:ea typeface="맑은 고딕" charset="0"/>
              </a:rPr>
              <a:t>적절한</a:t>
            </a:r>
            <a:r>
              <a:rPr sz="2400" dirty="0">
                <a:latin typeface="Malgun Gothic" charset="0"/>
                <a:ea typeface="맑은 고딕" charset="0"/>
              </a:rPr>
              <a:t> </a:t>
            </a:r>
            <a:r>
              <a:rPr sz="2400" spc="-10" dirty="0" err="1">
                <a:latin typeface="Malgun Gothic" charset="0"/>
                <a:ea typeface="맑은 고딕" charset="0"/>
              </a:rPr>
              <a:t>가지치기</a:t>
            </a:r>
            <a:r>
              <a:rPr sz="2400" spc="-10" dirty="0">
                <a:latin typeface="Malgun Gothic" charset="0"/>
                <a:ea typeface="맑은 고딕" charset="0"/>
              </a:rPr>
              <a:t> </a:t>
            </a:r>
            <a:r>
              <a:rPr sz="2400" dirty="0" err="1">
                <a:latin typeface="Malgun Gothic" charset="0"/>
                <a:ea typeface="맑은 고딕" charset="0"/>
              </a:rPr>
              <a:t>찾기</a:t>
            </a:r>
            <a:endParaRPr lang="ko-KR" altLang="en-US" sz="2400" dirty="0">
              <a:latin typeface="Malgun Gothic" charset="0"/>
              <a:ea typeface="맑은 고딕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D83BDD8-D8E5-4368-BF1F-A2D9E34800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099" b="2469"/>
          <a:stretch/>
        </p:blipFill>
        <p:spPr>
          <a:xfrm>
            <a:off x="838200" y="2293620"/>
            <a:ext cx="6614275" cy="325966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BAA67ED-C2A3-4489-9C26-6335B810C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115" y="4418754"/>
            <a:ext cx="4811822" cy="1828792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9889411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dirty="0"/>
              <a:t>직접해보기 </a:t>
            </a:r>
            <a:r>
              <a:rPr lang="en-US" altLang="ko-KR" dirty="0"/>
              <a:t>–tips dataset</a:t>
            </a:r>
            <a:endParaRPr lang="ko-KR" altLang="en-US" sz="4400" dirty="0">
              <a:ea typeface="나눔스퀘어OTF" panose="020B0600000101010101" pitchFamily="34" charset="-127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730" cy="127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>
            <a:extLst>
              <a:ext uri="{FF2B5EF4-FFF2-40B4-BE49-F238E27FC236}">
                <a16:creationId xmlns:a16="http://schemas.microsoft.com/office/drawing/2014/main" id="{FC53A1D4-3884-4670-A4E2-DD8FC3CB769A}"/>
              </a:ext>
            </a:extLst>
          </p:cNvPr>
          <p:cNvSpPr txBox="1">
            <a:spLocks/>
          </p:cNvSpPr>
          <p:nvPr/>
        </p:nvSpPr>
        <p:spPr>
          <a:xfrm>
            <a:off x="913130" y="1691640"/>
            <a:ext cx="6920230" cy="1107996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72440" indent="-342900">
              <a:buFont typeface="Wingdings" panose="05000000000000000000" pitchFamily="2" charset="2"/>
              <a:buChar char="l"/>
              <a:tabLst>
                <a:tab pos="239395" algn="l"/>
              </a:tabLst>
            </a:pPr>
            <a:r>
              <a:rPr lang="en-US" altLang="ko-KR" dirty="0">
                <a:latin typeface="+mn-ea"/>
              </a:rPr>
              <a:t>Tips </a:t>
            </a:r>
            <a:r>
              <a:rPr lang="ko-KR" altLang="en-US" dirty="0">
                <a:latin typeface="+mn-ea"/>
              </a:rPr>
              <a:t>데이터를 불러오기</a:t>
            </a:r>
            <a:r>
              <a:rPr lang="en-US" altLang="ko-KR" dirty="0">
                <a:latin typeface="+mn-ea"/>
              </a:rPr>
              <a:t>.</a:t>
            </a:r>
          </a:p>
          <a:p>
            <a:pPr marL="472440" indent="-342900">
              <a:buFont typeface="Wingdings" panose="05000000000000000000" pitchFamily="2" charset="2"/>
              <a:buChar char="l"/>
              <a:tabLst>
                <a:tab pos="239395" algn="l"/>
              </a:tabLst>
            </a:pPr>
            <a:r>
              <a:rPr lang="en-US" altLang="ko-KR" dirty="0">
                <a:latin typeface="+mn-ea"/>
              </a:rPr>
              <a:t>Train / Test 8:2</a:t>
            </a:r>
            <a:r>
              <a:rPr lang="ko-KR" altLang="en-US" dirty="0">
                <a:latin typeface="+mn-ea"/>
              </a:rPr>
              <a:t>로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데이터 분할</a:t>
            </a:r>
            <a:endParaRPr lang="en-US" altLang="ko-KR" dirty="0">
              <a:latin typeface="+mn-ea"/>
            </a:endParaRPr>
          </a:p>
          <a:p>
            <a:pPr marL="472440" indent="-342900">
              <a:buFont typeface="Wingdings" panose="05000000000000000000" pitchFamily="2" charset="2"/>
              <a:buChar char="l"/>
              <a:tabLst>
                <a:tab pos="239395" algn="l"/>
              </a:tabLst>
            </a:pPr>
            <a:r>
              <a:rPr lang="en-US" altLang="ko-KR" dirty="0">
                <a:latin typeface="+mn-ea"/>
              </a:rPr>
              <a:t>Train Data</a:t>
            </a:r>
            <a:r>
              <a:rPr lang="ko-KR" altLang="en-US" dirty="0">
                <a:latin typeface="+mn-ea"/>
              </a:rPr>
              <a:t>를 통해서 </a:t>
            </a:r>
            <a:r>
              <a:rPr lang="en-US" altLang="ko-KR" b="0" dirty="0" err="1">
                <a:solidFill>
                  <a:srgbClr val="383A42"/>
                </a:solidFill>
                <a:effectLst/>
                <a:latin typeface="+mn-ea"/>
              </a:rPr>
              <a:t>DecisionTreeRegressor</a:t>
            </a:r>
            <a:r>
              <a:rPr lang="ko-KR" altLang="en-US" dirty="0">
                <a:solidFill>
                  <a:srgbClr val="383A42"/>
                </a:solidFill>
                <a:latin typeface="+mn-ea"/>
              </a:rPr>
              <a:t>를 </a:t>
            </a:r>
            <a:r>
              <a:rPr lang="en-US" altLang="ko-KR" dirty="0">
                <a:solidFill>
                  <a:srgbClr val="383A42"/>
                </a:solidFill>
                <a:latin typeface="+mn-ea"/>
              </a:rPr>
              <a:t>Fitting</a:t>
            </a:r>
          </a:p>
          <a:p>
            <a:pPr marL="472440" indent="-342900">
              <a:buFont typeface="Wingdings" panose="05000000000000000000" pitchFamily="2" charset="2"/>
              <a:buChar char="l"/>
              <a:tabLst>
                <a:tab pos="239395" algn="l"/>
              </a:tabLst>
            </a:pPr>
            <a:r>
              <a:rPr lang="en-US" altLang="ko-KR" b="0" i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Test MSE</a:t>
            </a:r>
            <a:r>
              <a:rPr lang="ko-KR" altLang="en-US" b="0" i="0" dirty="0">
                <a:solidFill>
                  <a:srgbClr val="383A42"/>
                </a:solidFill>
                <a:effectLst/>
                <a:latin typeface="+mn-ea"/>
              </a:rPr>
              <a:t>와 </a:t>
            </a:r>
            <a:r>
              <a:rPr lang="en-US" altLang="ko-KR" b="0" i="0" dirty="0" err="1">
                <a:solidFill>
                  <a:srgbClr val="383A42"/>
                </a:solidFill>
                <a:effectLst/>
                <a:latin typeface="+mn-ea"/>
              </a:rPr>
              <a:t>max_depth</a:t>
            </a:r>
            <a:r>
              <a:rPr lang="en-US" altLang="ko-KR" b="0" i="0" dirty="0">
                <a:solidFill>
                  <a:srgbClr val="383A42"/>
                </a:solidFill>
                <a:effectLst/>
                <a:latin typeface="+mn-ea"/>
              </a:rPr>
              <a:t>=3</a:t>
            </a:r>
            <a:r>
              <a:rPr lang="ko-KR" altLang="en-US" b="0" i="0" dirty="0">
                <a:solidFill>
                  <a:srgbClr val="383A42"/>
                </a:solidFill>
                <a:effectLst/>
                <a:latin typeface="+mn-ea"/>
              </a:rPr>
              <a:t>의 </a:t>
            </a:r>
            <a:r>
              <a:rPr lang="en-US" altLang="ko-KR" b="0" i="0" dirty="0">
                <a:solidFill>
                  <a:srgbClr val="383A42"/>
                </a:solidFill>
                <a:effectLst/>
                <a:latin typeface="+mn-ea"/>
              </a:rPr>
              <a:t>Tree plot</a:t>
            </a:r>
            <a:r>
              <a:rPr lang="ko-KR" altLang="en-US" b="0" i="0" dirty="0">
                <a:solidFill>
                  <a:srgbClr val="383A42"/>
                </a:solidFill>
                <a:effectLst/>
                <a:latin typeface="+mn-ea"/>
              </a:rPr>
              <a:t>을 </a:t>
            </a:r>
            <a:r>
              <a:rPr lang="ko-KR" altLang="en-US" b="0" i="0" dirty="0" err="1">
                <a:solidFill>
                  <a:srgbClr val="383A42"/>
                </a:solidFill>
                <a:effectLst/>
                <a:latin typeface="+mn-ea"/>
              </a:rPr>
              <a:t>그리시오</a:t>
            </a:r>
            <a:endParaRPr lang="en-US" altLang="ko-KR" b="0" dirty="0">
              <a:solidFill>
                <a:srgbClr val="383A42"/>
              </a:solidFill>
              <a:effectLst/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B6CC3A6-0465-4234-ADDB-5788C7A4D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130" y="3429000"/>
            <a:ext cx="5943600" cy="238125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32315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lvl="1">
              <a:lnSpc>
                <a:spcPct val="150000"/>
              </a:lnSpc>
              <a:spcBef>
                <a:spcPts val="1000"/>
              </a:spcBef>
            </a:pPr>
            <a:r>
              <a:rPr lang="ko-KR" altLang="ko-KR" sz="4400" spc="-1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Import</a:t>
            </a:r>
            <a:r>
              <a:rPr lang="ko-KR" altLang="ko-KR" sz="4400" spc="-1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</a:t>
            </a:r>
            <a:r>
              <a:rPr lang="ko-KR" altLang="ko-KR" sz="4400" spc="-1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library</a:t>
            </a:r>
            <a:endParaRPr lang="en-US" altLang="ko-KR" sz="44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730" cy="127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1065" cy="369570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sz="2400" dirty="0" err="1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Import</a:t>
            </a:r>
            <a:r>
              <a:rPr lang="ko-KR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lang="ko-KR" sz="2400" dirty="0" err="1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library</a:t>
            </a: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5B89111-2DF2-45B5-AC66-6FA133FB4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2556918"/>
            <a:ext cx="8661400" cy="284312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California Housing </a:t>
            </a:r>
            <a:r>
              <a:rPr lang="en-US" altLang="ko-KR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Data</a:t>
            </a:r>
            <a:endParaRPr lang="ko-KR" altLang="en-US" sz="4400" dirty="0">
              <a:solidFill>
                <a:schemeClr val="tx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sym typeface="맑은 고딕" charset="0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상자 40"/>
          <p:cNvSpPr txBox="1">
            <a:spLocks/>
          </p:cNvSpPr>
          <p:nvPr/>
        </p:nvSpPr>
        <p:spPr>
          <a:xfrm>
            <a:off x="925830" y="1786078"/>
            <a:ext cx="10226675" cy="923330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dirty="0">
                <a:latin typeface="+mn-ea"/>
              </a:rPr>
              <a:t>앞서 사용한 </a:t>
            </a:r>
            <a:r>
              <a:rPr lang="en-US" altLang="ko-KR" sz="2000" b="1" dirty="0">
                <a:latin typeface="+mn-ea"/>
              </a:rPr>
              <a:t>California Housing Data </a:t>
            </a:r>
            <a:r>
              <a:rPr lang="ko-KR" altLang="en-US" sz="2000" b="1" dirty="0">
                <a:latin typeface="+mn-ea"/>
              </a:rPr>
              <a:t>사용</a:t>
            </a:r>
            <a:endParaRPr lang="en-US" altLang="ko-KR" sz="2000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+mn-ea"/>
              </a:rPr>
              <a:t>20,640</a:t>
            </a:r>
            <a:r>
              <a:rPr lang="ko-KR" altLang="en-US" sz="2000" dirty="0">
                <a:latin typeface="+mn-ea"/>
              </a:rPr>
              <a:t>개 샘플 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행</a:t>
            </a:r>
            <a:r>
              <a:rPr lang="en-US" altLang="ko-KR" sz="2000" dirty="0"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과 </a:t>
            </a:r>
            <a:r>
              <a:rPr lang="en-US" altLang="ko-KR" sz="2000" dirty="0">
                <a:latin typeface="+mn-ea"/>
              </a:rPr>
              <a:t>9</a:t>
            </a:r>
            <a:r>
              <a:rPr lang="ko-KR" altLang="en-US" sz="2000" dirty="0">
                <a:latin typeface="+mn-ea"/>
              </a:rPr>
              <a:t>개 변수 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열</a:t>
            </a:r>
            <a:r>
              <a:rPr lang="en-US" altLang="ko-KR" sz="2000" dirty="0"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로 구성됨</a:t>
            </a:r>
            <a:endParaRPr lang="en-US" altLang="ko-KR" sz="2000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ko-KR" altLang="en-US" sz="2000" dirty="0">
                <a:latin typeface="+mn-ea"/>
              </a:rPr>
              <a:t>모든 변수는 </a:t>
            </a:r>
            <a:r>
              <a:rPr lang="en-US" altLang="ko-KR" sz="2000" dirty="0" err="1">
                <a:latin typeface="+mn-ea"/>
              </a:rPr>
              <a:t>MedHouseVal</a:t>
            </a:r>
            <a:r>
              <a:rPr lang="en-US" altLang="ko-KR" sz="2000" dirty="0">
                <a:latin typeface="+mn-ea"/>
              </a:rPr>
              <a:t> (</a:t>
            </a:r>
            <a:r>
              <a:rPr lang="ko-KR" altLang="en-US" sz="2000" dirty="0">
                <a:latin typeface="+mn-ea"/>
              </a:rPr>
              <a:t>주택 가격</a:t>
            </a:r>
            <a:r>
              <a:rPr lang="en-US" altLang="ko-KR" sz="2000" dirty="0"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이 타겟 변수 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나머지는 독립 변수</a:t>
            </a:r>
            <a:r>
              <a:rPr lang="en-US" altLang="ko-KR" sz="2000" dirty="0">
                <a:latin typeface="+mn-ea"/>
              </a:rPr>
              <a:t>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04A2F38-726F-480B-8CFD-C15FCFBF4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621" y="3131792"/>
            <a:ext cx="8268758" cy="201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8181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Boostrapping</a:t>
            </a:r>
            <a:endParaRPr lang="ko-KR" altLang="en-US" sz="4400" dirty="0">
              <a:solidFill>
                <a:schemeClr val="tx1"/>
              </a:solidFill>
              <a:sym typeface="맑은 고딕" charset="0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8" name="텍스트 상자 58"/>
          <p:cNvSpPr txBox="1">
            <a:spLocks/>
          </p:cNvSpPr>
          <p:nvPr/>
        </p:nvSpPr>
        <p:spPr>
          <a:xfrm>
            <a:off x="835660" y="1805305"/>
            <a:ext cx="9615170" cy="1107996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342900" indent="-342900" hangingPunct="1">
              <a:buFont typeface="Wingdings" panose="05000000000000000000" pitchFamily="2" charset="2"/>
              <a:buChar char="l"/>
            </a:pPr>
            <a:r>
              <a:rPr lang="ko-KR" altLang="en-US" sz="2400" dirty="0">
                <a:latin typeface="나눔스퀘어OTF" panose="020B0600000101010101" pitchFamily="34" charset="-127"/>
              </a:rPr>
              <a:t>가설 검정이나 </a:t>
            </a:r>
            <a:r>
              <a:rPr lang="ko-KR" altLang="en-US" sz="2400" dirty="0" err="1">
                <a:latin typeface="나눔스퀘어OTF" panose="020B0600000101010101" pitchFamily="34" charset="-127"/>
              </a:rPr>
              <a:t>추정량의</a:t>
            </a:r>
            <a:r>
              <a:rPr lang="ko-KR" altLang="en-US" sz="2400" dirty="0">
                <a:latin typeface="나눔스퀘어OTF" panose="020B0600000101010101" pitchFamily="34" charset="-127"/>
              </a:rPr>
              <a:t> 표준오차</a:t>
            </a:r>
            <a:r>
              <a:rPr lang="en-US" altLang="ko-KR" sz="2400" dirty="0">
                <a:latin typeface="나눔스퀘어OTF" panose="020B0600000101010101" pitchFamily="34" charset="-127"/>
              </a:rPr>
              <a:t>, </a:t>
            </a:r>
            <a:r>
              <a:rPr lang="ko-KR" altLang="en-US" sz="2400" dirty="0" err="1">
                <a:latin typeface="나눔스퀘어OTF" panose="020B0600000101010101" pitchFamily="34" charset="-127"/>
              </a:rPr>
              <a:t>신뢰구간등을</a:t>
            </a:r>
            <a:r>
              <a:rPr lang="ko-KR" altLang="en-US" sz="2400" dirty="0">
                <a:latin typeface="나눔스퀘어OTF" panose="020B0600000101010101" pitchFamily="34" charset="-127"/>
              </a:rPr>
              <a:t> 구하기 힘든 경우에 사용</a:t>
            </a:r>
            <a:r>
              <a:rPr lang="en-US" altLang="ko-KR" sz="2400" dirty="0">
                <a:latin typeface="나눔스퀘어OTF" panose="020B0600000101010101" pitchFamily="34" charset="-127"/>
              </a:rPr>
              <a:t>. • </a:t>
            </a:r>
            <a:r>
              <a:rPr lang="ko-KR" altLang="en-US" sz="2400" dirty="0">
                <a:latin typeface="나눔스퀘어OTF" panose="020B0600000101010101" pitchFamily="34" charset="-127"/>
              </a:rPr>
              <a:t>예 </a:t>
            </a:r>
            <a:r>
              <a:rPr lang="en-US" altLang="ko-KR" sz="2400" dirty="0">
                <a:latin typeface="나눔스퀘어OTF" panose="020B0600000101010101" pitchFamily="34" charset="-127"/>
              </a:rPr>
              <a:t>: θ = β1 × β0 </a:t>
            </a:r>
            <a:r>
              <a:rPr lang="ko-KR" altLang="en-US" sz="2400" dirty="0">
                <a:latin typeface="나눔스퀘어OTF" panose="020B0600000101010101" pitchFamily="34" charset="-127"/>
              </a:rPr>
              <a:t>의 신뢰구간</a:t>
            </a:r>
            <a:endParaRPr lang="en-US" altLang="ko-KR" sz="2400" dirty="0">
              <a:latin typeface="나눔스퀘어OTF" panose="020B0600000101010101" pitchFamily="34" charset="-127"/>
            </a:endParaRPr>
          </a:p>
          <a:p>
            <a:pPr marL="342900" indent="-342900" hangingPunct="1">
              <a:buFont typeface="Wingdings" panose="05000000000000000000" pitchFamily="2" charset="2"/>
              <a:buChar char="l"/>
            </a:pPr>
            <a:r>
              <a:rPr lang="en-US" altLang="ko-KR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1000</a:t>
            </a:r>
            <a:r>
              <a:rPr lang="ko-KR" altLang="en-US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번의 반복을 통해 </a:t>
            </a:r>
            <a:r>
              <a:rPr lang="en-US" altLang="ko-KR" sz="2400" dirty="0">
                <a:latin typeface="나눔스퀘어OTF" panose="020B0600000101010101" pitchFamily="34" charset="-127"/>
              </a:rPr>
              <a:t>θ</a:t>
            </a:r>
            <a:r>
              <a:rPr lang="ko-KR" altLang="en-US" sz="2400" dirty="0">
                <a:latin typeface="나눔스퀘어OTF" panose="020B0600000101010101" pitchFamily="34" charset="-127"/>
              </a:rPr>
              <a:t>의 분포를 추정한다</a:t>
            </a:r>
            <a:r>
              <a:rPr lang="en-US" altLang="ko-KR" sz="2400" dirty="0">
                <a:latin typeface="나눔스퀘어OTF" panose="020B0600000101010101" pitchFamily="34" charset="-127"/>
              </a:rPr>
              <a:t>.</a:t>
            </a:r>
            <a:endParaRPr lang="ko-KR" altLang="en-US" sz="2400" dirty="0">
              <a:solidFill>
                <a:schemeClr val="tx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45AAD2-8563-4863-ACB2-F9F1D076F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758" y="3313135"/>
            <a:ext cx="4507442" cy="200179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Boostrapping</a:t>
            </a:r>
            <a:endParaRPr lang="ko-KR" altLang="en-US" sz="4400" dirty="0">
              <a:solidFill>
                <a:schemeClr val="tx1"/>
              </a:solidFill>
              <a:sym typeface="맑은 고딕" charset="0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8" name="텍스트 상자 58"/>
          <p:cNvSpPr txBox="1">
            <a:spLocks/>
          </p:cNvSpPr>
          <p:nvPr/>
        </p:nvSpPr>
        <p:spPr>
          <a:xfrm>
            <a:off x="835660" y="1805305"/>
            <a:ext cx="9615170" cy="1107996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342900" indent="-342900" hangingPunct="1">
              <a:buFont typeface="Wingdings" panose="05000000000000000000" pitchFamily="2" charset="2"/>
              <a:buChar char="l"/>
            </a:pPr>
            <a:r>
              <a:rPr lang="ko-KR" altLang="en-US" sz="2400" dirty="0">
                <a:latin typeface="나눔스퀘어OTF" panose="020B0600000101010101" pitchFamily="34" charset="-127"/>
              </a:rPr>
              <a:t>가설 검정이나 </a:t>
            </a:r>
            <a:r>
              <a:rPr lang="ko-KR" altLang="en-US" sz="2400" dirty="0" err="1">
                <a:latin typeface="나눔스퀘어OTF" panose="020B0600000101010101" pitchFamily="34" charset="-127"/>
              </a:rPr>
              <a:t>추정량의</a:t>
            </a:r>
            <a:r>
              <a:rPr lang="ko-KR" altLang="en-US" sz="2400" dirty="0">
                <a:latin typeface="나눔스퀘어OTF" panose="020B0600000101010101" pitchFamily="34" charset="-127"/>
              </a:rPr>
              <a:t> 표준오차</a:t>
            </a:r>
            <a:r>
              <a:rPr lang="en-US" altLang="ko-KR" sz="2400" dirty="0">
                <a:latin typeface="나눔스퀘어OTF" panose="020B0600000101010101" pitchFamily="34" charset="-127"/>
              </a:rPr>
              <a:t>, </a:t>
            </a:r>
            <a:r>
              <a:rPr lang="ko-KR" altLang="en-US" sz="2400" dirty="0" err="1">
                <a:latin typeface="나눔스퀘어OTF" panose="020B0600000101010101" pitchFamily="34" charset="-127"/>
              </a:rPr>
              <a:t>신뢰구간등을</a:t>
            </a:r>
            <a:r>
              <a:rPr lang="ko-KR" altLang="en-US" sz="2400" dirty="0">
                <a:latin typeface="나눔스퀘어OTF" panose="020B0600000101010101" pitchFamily="34" charset="-127"/>
              </a:rPr>
              <a:t> 구하기 힘든 경우에 사용</a:t>
            </a:r>
            <a:r>
              <a:rPr lang="en-US" altLang="ko-KR" sz="2400" dirty="0">
                <a:latin typeface="나눔스퀘어OTF" panose="020B0600000101010101" pitchFamily="34" charset="-127"/>
              </a:rPr>
              <a:t>. • </a:t>
            </a:r>
            <a:r>
              <a:rPr lang="ko-KR" altLang="en-US" sz="2400" dirty="0">
                <a:latin typeface="나눔스퀘어OTF" panose="020B0600000101010101" pitchFamily="34" charset="-127"/>
              </a:rPr>
              <a:t>예 </a:t>
            </a:r>
            <a:r>
              <a:rPr lang="en-US" altLang="ko-KR" sz="2400" dirty="0">
                <a:latin typeface="나눔스퀘어OTF" panose="020B0600000101010101" pitchFamily="34" charset="-127"/>
              </a:rPr>
              <a:t>: θ = β1 × β0 </a:t>
            </a:r>
            <a:r>
              <a:rPr lang="ko-KR" altLang="en-US" sz="2400" dirty="0">
                <a:latin typeface="나눔스퀘어OTF" panose="020B0600000101010101" pitchFamily="34" charset="-127"/>
              </a:rPr>
              <a:t>의 신뢰구간</a:t>
            </a:r>
            <a:endParaRPr lang="en-US" altLang="ko-KR" sz="2400" dirty="0">
              <a:latin typeface="나눔스퀘어OTF" panose="020B0600000101010101" pitchFamily="34" charset="-127"/>
            </a:endParaRPr>
          </a:p>
          <a:p>
            <a:pPr marL="342900" indent="-342900" hangingPunct="1">
              <a:buFont typeface="Wingdings" panose="05000000000000000000" pitchFamily="2" charset="2"/>
              <a:buChar char="l"/>
            </a:pPr>
            <a:r>
              <a:rPr lang="en-US" altLang="ko-KR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1000</a:t>
            </a:r>
            <a:r>
              <a:rPr lang="ko-KR" altLang="en-US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번의 반복을 통해 </a:t>
            </a:r>
            <a:r>
              <a:rPr lang="en-US" altLang="ko-KR" sz="2400" dirty="0">
                <a:latin typeface="나눔스퀘어OTF" panose="020B0600000101010101" pitchFamily="34" charset="-127"/>
              </a:rPr>
              <a:t>θ</a:t>
            </a:r>
            <a:r>
              <a:rPr lang="ko-KR" altLang="en-US" sz="2400" dirty="0">
                <a:latin typeface="나눔스퀘어OTF" panose="020B0600000101010101" pitchFamily="34" charset="-127"/>
              </a:rPr>
              <a:t>의 분포를 추정한다</a:t>
            </a:r>
            <a:r>
              <a:rPr lang="en-US" altLang="ko-KR" sz="2400" dirty="0">
                <a:latin typeface="나눔스퀘어OTF" panose="020B0600000101010101" pitchFamily="34" charset="-127"/>
              </a:rPr>
              <a:t>.</a:t>
            </a:r>
            <a:endParaRPr lang="ko-KR" altLang="en-US" sz="2400" dirty="0">
              <a:solidFill>
                <a:schemeClr val="tx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AC67540-CB1A-429D-B024-1C46AB755D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008"/>
          <a:stretch/>
        </p:blipFill>
        <p:spPr>
          <a:xfrm>
            <a:off x="925829" y="3177482"/>
            <a:ext cx="4933983" cy="2398114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B1A757A6-EF87-4B46-9B66-8598F569560F}"/>
              </a:ext>
            </a:extLst>
          </p:cNvPr>
          <p:cNvGrpSpPr/>
          <p:nvPr/>
        </p:nvGrpSpPr>
        <p:grpSpPr>
          <a:xfrm>
            <a:off x="5643245" y="3177482"/>
            <a:ext cx="4933984" cy="2435989"/>
            <a:chOff x="5014348" y="3177482"/>
            <a:chExt cx="4933984" cy="2435989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68290FD-7C25-40D9-897F-5407EB65F5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89486"/>
            <a:stretch/>
          </p:blipFill>
          <p:spPr>
            <a:xfrm>
              <a:off x="5014349" y="3177482"/>
              <a:ext cx="4933983" cy="467009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776E8A75-CDBE-47C3-8467-FAA15D71A9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5670"/>
            <a:stretch/>
          </p:blipFill>
          <p:spPr>
            <a:xfrm>
              <a:off x="5014348" y="3644491"/>
              <a:ext cx="4933983" cy="19689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46547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Boostrapping</a:t>
            </a:r>
            <a:endParaRPr lang="ko-KR" altLang="en-US" sz="4400" dirty="0">
              <a:solidFill>
                <a:schemeClr val="tx1"/>
              </a:solidFill>
              <a:sym typeface="맑은 고딕" charset="0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8" name="텍스트 상자 58"/>
          <p:cNvSpPr txBox="1">
            <a:spLocks/>
          </p:cNvSpPr>
          <p:nvPr/>
        </p:nvSpPr>
        <p:spPr>
          <a:xfrm>
            <a:off x="835660" y="1805305"/>
            <a:ext cx="9615170" cy="369332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342900" indent="-342900" hangingPunct="1">
              <a:buFont typeface="Wingdings" panose="05000000000000000000" pitchFamily="2" charset="2"/>
              <a:buChar char="l"/>
            </a:pPr>
            <a:r>
              <a:rPr lang="ko-KR" altLang="en-US" sz="2400" dirty="0">
                <a:latin typeface="나눔스퀘어OTF" panose="020B0600000101010101" pitchFamily="34" charset="-127"/>
              </a:rPr>
              <a:t>각 학습된 모델에서 </a:t>
            </a:r>
            <a:r>
              <a:rPr lang="en-US" altLang="ko-KR" sz="2400" dirty="0">
                <a:latin typeface="나눔스퀘어OTF" panose="020B0600000101010101" pitchFamily="34" charset="-127"/>
              </a:rPr>
              <a:t>θ</a:t>
            </a:r>
            <a:r>
              <a:rPr lang="ko-KR" altLang="en-US" sz="2400" dirty="0">
                <a:latin typeface="나눔스퀘어OTF" panose="020B0600000101010101" pitchFamily="34" charset="-127"/>
              </a:rPr>
              <a:t>을 저장한 뒤 </a:t>
            </a:r>
            <a:r>
              <a:rPr lang="en-US" altLang="ko-KR" sz="2400" dirty="0">
                <a:latin typeface="나눔스퀘어OTF" panose="020B0600000101010101" pitchFamily="34" charset="-127"/>
              </a:rPr>
              <a:t>quantile</a:t>
            </a:r>
            <a:r>
              <a:rPr lang="ko-KR" altLang="en-US" sz="2400" dirty="0">
                <a:latin typeface="나눔스퀘어OTF" panose="020B0600000101010101" pitchFamily="34" charset="-127"/>
              </a:rPr>
              <a:t>을 계산한다</a:t>
            </a:r>
            <a:r>
              <a:rPr lang="en-US" altLang="ko-KR" sz="2400" dirty="0">
                <a:latin typeface="나눔스퀘어OTF" panose="020B0600000101010101" pitchFamily="34" charset="-127"/>
              </a:rPr>
              <a:t>.</a:t>
            </a:r>
            <a:r>
              <a:rPr lang="ko-KR" altLang="en-US" sz="2400" dirty="0">
                <a:latin typeface="나눔스퀘어OTF" panose="020B0600000101010101" pitchFamily="34" charset="-127"/>
              </a:rPr>
              <a:t> </a:t>
            </a:r>
            <a:endParaRPr lang="ko-KR" altLang="en-US" sz="2400" dirty="0">
              <a:solidFill>
                <a:schemeClr val="tx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F9C358-2A62-4A64-A93B-56A4E281F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17140"/>
            <a:ext cx="5667659" cy="28829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07F844B-CA95-49C4-9A2D-5B7D407B4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459" y="3270210"/>
            <a:ext cx="4499233" cy="692190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0971301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Boostrapping</a:t>
            </a:r>
            <a:endParaRPr lang="ko-KR" altLang="en-US" sz="4400" dirty="0">
              <a:solidFill>
                <a:schemeClr val="tx1"/>
              </a:solidFill>
              <a:sym typeface="맑은 고딕" charset="0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9D13D2E-C00B-4101-A833-812B88ACE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612" y="1792605"/>
            <a:ext cx="54387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001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spc="-20" dirty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sym typeface="맑은 고딕" charset="0"/>
              </a:rPr>
              <a:t>Bagging with multiple linear regression</a:t>
            </a:r>
            <a:endParaRPr lang="ko-KR" altLang="en-US" sz="4400" dirty="0">
              <a:solidFill>
                <a:schemeClr val="tx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sym typeface="맑은 고딕" charset="0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38530" y="17799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337165" cy="1107996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 err="1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Boostrap</a:t>
            </a:r>
            <a:r>
              <a:rPr lang="en-US" altLang="ko-KR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aggregating</a:t>
            </a:r>
          </a:p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 err="1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Boostrap</a:t>
            </a:r>
            <a:r>
              <a:rPr lang="en-US" altLang="ko-KR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lang="ko-KR" altLang="en-US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표본을 이용하여 모형을 적합</a:t>
            </a:r>
            <a:r>
              <a:rPr lang="en-US" altLang="ko-KR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</a:p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 err="1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적합된</a:t>
            </a:r>
            <a:r>
              <a:rPr lang="ko-KR" altLang="en-US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모형을 이용하여 </a:t>
            </a:r>
            <a:r>
              <a:rPr lang="ko-KR" altLang="en-US" sz="2400" dirty="0" err="1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예측값을</a:t>
            </a:r>
            <a:r>
              <a:rPr lang="ko-KR" altLang="en-US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구하고 그 평균이나 </a:t>
            </a:r>
            <a:r>
              <a:rPr lang="ko-KR" altLang="en-US" sz="2400" dirty="0" err="1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최빈값을</a:t>
            </a:r>
            <a:r>
              <a:rPr lang="ko-KR" altLang="en-US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이용하여 예측</a:t>
            </a:r>
            <a:r>
              <a:rPr lang="en-US" altLang="ko-KR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  <a:endParaRPr lang="ko-KR" altLang="en-US" sz="2400" dirty="0">
              <a:solidFill>
                <a:schemeClr val="tx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7A2D245-45C7-4044-882E-5611D7EA7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233" y="3209211"/>
            <a:ext cx="8881533" cy="2701247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spc="-20" dirty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sym typeface="맑은 고딕" charset="0"/>
              </a:rPr>
              <a:t>Bagging with multiple linear regression</a:t>
            </a:r>
            <a:endParaRPr lang="ko-KR" altLang="en-US" sz="4400" dirty="0">
              <a:solidFill>
                <a:schemeClr val="tx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sym typeface="맑은 고딕" charset="0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38530" y="17799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337165" cy="738664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많은 모델에 </a:t>
            </a:r>
            <a:r>
              <a:rPr lang="en-US" altLang="ko-KR" sz="2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Bagging </a:t>
            </a:r>
            <a:r>
              <a:rPr lang="ko-KR" altLang="en-US" sz="2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방법을 적용할 수 있으며 본 예시는 </a:t>
            </a:r>
            <a:r>
              <a:rPr lang="en-US" altLang="ko-KR" sz="2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multiple linear regression</a:t>
            </a:r>
            <a:r>
              <a:rPr lang="ko-KR" altLang="en-US" sz="2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을 사용한다</a:t>
            </a:r>
            <a:r>
              <a:rPr lang="en-US" altLang="ko-KR" sz="2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  <a:endParaRPr lang="en-US" altLang="ko-KR" sz="2400" dirty="0">
              <a:solidFill>
                <a:schemeClr val="tx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DE7EB94-4A2F-4B4A-A6D2-53F158217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522" y="2674406"/>
            <a:ext cx="8202170" cy="194337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CEBB3E4-E342-42F5-94CC-099A1A152D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8570"/>
          <a:stretch/>
        </p:blipFill>
        <p:spPr>
          <a:xfrm>
            <a:off x="2235200" y="4941113"/>
            <a:ext cx="7721600" cy="91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5220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spc="-20" dirty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sym typeface="맑은 고딕" charset="0"/>
              </a:rPr>
              <a:t>Bagging with multiple linear regression</a:t>
            </a:r>
            <a:endParaRPr lang="ko-KR" altLang="en-US" sz="4400" dirty="0">
              <a:solidFill>
                <a:schemeClr val="tx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  <a:sym typeface="맑은 고딕" charset="0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38530" y="17799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337165" cy="369332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Comparison</a:t>
            </a:r>
            <a:r>
              <a:rPr lang="ko-KR" altLang="en-US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lang="en-US" altLang="ko-KR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ba</a:t>
            </a:r>
            <a:r>
              <a:rPr lang="en-US" altLang="ko-KR" sz="2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gging vs original multiple linear regression</a:t>
            </a:r>
            <a:endParaRPr lang="ko-KR" altLang="en-US" sz="2400" dirty="0">
              <a:solidFill>
                <a:schemeClr val="tx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748B0BC-51F2-4DA8-876B-9B439B8FF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30" y="2691341"/>
            <a:ext cx="5941483" cy="294780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6F332D5-3234-40BC-9C8A-E4A766B6D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858" y="2828841"/>
            <a:ext cx="3877216" cy="600159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0061891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dirty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Random Forest</a:t>
            </a:r>
            <a:endParaRPr lang="ko-KR" altLang="en-US" sz="4400" dirty="0">
              <a:solidFill>
                <a:schemeClr val="tx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 0"/>
              <p:cNvSpPr txBox="1">
                <a:spLocks/>
              </p:cNvSpPr>
              <p:nvPr/>
            </p:nvSpPr>
            <p:spPr>
              <a:xfrm>
                <a:off x="835025" y="1760855"/>
                <a:ext cx="10337165" cy="369331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numCol="1" anchor="t">
                <a:spAutoFit/>
              </a:bodyPr>
              <a:lstStyle/>
              <a:p>
                <a:pPr marL="355600" indent="-342900">
                  <a:buFont typeface="Wingdings" panose="05000000000000000000" pitchFamily="2" charset="2"/>
                  <a:buChar char="l"/>
                  <a:tabLst>
                    <a:tab pos="122555" algn="l"/>
                  </a:tabLst>
                </a:pPr>
                <a:r>
                  <a:rPr lang="en-US" altLang="ko-KR" sz="2000" dirty="0">
                    <a:latin typeface="+mn-ea"/>
                  </a:rPr>
                  <a:t>Decision Tree</a:t>
                </a:r>
                <a:r>
                  <a:rPr lang="ko-KR" altLang="en-US" sz="2000" dirty="0">
                    <a:latin typeface="+mn-ea"/>
                  </a:rPr>
                  <a:t>에 </a:t>
                </a:r>
                <a:r>
                  <a:rPr lang="en-US" altLang="ko-KR" sz="2000" dirty="0">
                    <a:latin typeface="+mn-ea"/>
                  </a:rPr>
                  <a:t>bagging </a:t>
                </a:r>
                <a:r>
                  <a:rPr lang="ko-KR" altLang="en-US" sz="2000" dirty="0">
                    <a:latin typeface="+mn-ea"/>
                  </a:rPr>
                  <a:t>방법을 적용한 모델로 다음과 같은 과정을 따른다</a:t>
                </a:r>
                <a:r>
                  <a:rPr lang="en-US" altLang="ko-KR" sz="2000" dirty="0">
                    <a:latin typeface="+mn-ea"/>
                  </a:rPr>
                  <a:t>.</a:t>
                </a:r>
              </a:p>
              <a:p>
                <a:pPr marL="355600" indent="-342900">
                  <a:buFont typeface="Wingdings" panose="05000000000000000000" pitchFamily="2" charset="2"/>
                  <a:buChar char="l"/>
                  <a:tabLst>
                    <a:tab pos="122555" algn="l"/>
                  </a:tabLst>
                </a:pPr>
                <a:endParaRPr lang="en-US" altLang="ko-KR" sz="2000" dirty="0">
                  <a:latin typeface="+mn-ea"/>
                </a:endParaRPr>
              </a:p>
              <a:p>
                <a:pPr marL="355600" indent="-342900">
                  <a:buFont typeface="Wingdings" panose="05000000000000000000" pitchFamily="2" charset="2"/>
                  <a:buChar char="l"/>
                  <a:tabLst>
                    <a:tab pos="122555" algn="l"/>
                  </a:tabLst>
                </a:pPr>
                <a:r>
                  <a:rPr lang="ko-KR" altLang="en-US" sz="2000" dirty="0">
                    <a:latin typeface="+mn-ea"/>
                  </a:rPr>
                  <a:t>다음 과정을 </a:t>
                </a:r>
                <a:r>
                  <a:rPr lang="en-US" altLang="ko-KR" sz="2000" dirty="0">
                    <a:latin typeface="+mn-ea"/>
                  </a:rPr>
                  <a:t>b=1 </a:t>
                </a:r>
                <a:r>
                  <a:rPr lang="ko-KR" altLang="en-US" sz="2000" dirty="0">
                    <a:latin typeface="+mn-ea"/>
                  </a:rPr>
                  <a:t>부터 </a:t>
                </a:r>
                <a:r>
                  <a:rPr lang="en-US" altLang="ko-KR" sz="2000" dirty="0">
                    <a:latin typeface="+mn-ea"/>
                  </a:rPr>
                  <a:t>b=B </a:t>
                </a:r>
                <a:r>
                  <a:rPr lang="ko-KR" altLang="en-US" sz="2000" dirty="0">
                    <a:latin typeface="+mn-ea"/>
                  </a:rPr>
                  <a:t>까지 진행할 것이다</a:t>
                </a:r>
                <a:r>
                  <a:rPr lang="en-US" altLang="ko-KR" sz="2000" dirty="0">
                    <a:latin typeface="+mn-ea"/>
                  </a:rPr>
                  <a:t>. 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US" altLang="ko-KR" sz="2000" dirty="0">
                    <a:latin typeface="+mn-ea"/>
                  </a:rPr>
                  <a:t>N </a:t>
                </a:r>
                <a:r>
                  <a:rPr lang="ko-KR" altLang="en-US" sz="2000" dirty="0">
                    <a:latin typeface="+mn-ea"/>
                  </a:rPr>
                  <a:t>개 전체 훈련 데이터의 </a:t>
                </a:r>
                <a:r>
                  <a:rPr lang="en-US" altLang="ko-KR" sz="2000" dirty="0">
                    <a:latin typeface="+mn-ea"/>
                  </a:rPr>
                  <a:t>Bootstrap</a:t>
                </a:r>
                <a:r>
                  <a:rPr lang="ko-KR" altLang="en-US" sz="2000" dirty="0">
                    <a:latin typeface="+mn-ea"/>
                  </a:rPr>
                  <a:t>을 통하여 </a:t>
                </a:r>
                <a:r>
                  <a:rPr lang="en-US" altLang="ko-KR" sz="2000" dirty="0">
                    <a:latin typeface="+mn-ea"/>
                  </a:rPr>
                  <a:t>Z </a:t>
                </a:r>
                <a:r>
                  <a:rPr lang="ko-KR" altLang="en-US" sz="2000" dirty="0">
                    <a:latin typeface="+mn-ea"/>
                  </a:rPr>
                  <a:t>개의 샘플을 가진 데이터 셋을 생성한다</a:t>
                </a:r>
                <a:r>
                  <a:rPr lang="en-US" altLang="ko-KR" sz="2000" dirty="0">
                    <a:latin typeface="+mn-ea"/>
                  </a:rPr>
                  <a:t>.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ko-KR" altLang="en-US" sz="2000" dirty="0">
                    <a:latin typeface="+mn-ea"/>
                  </a:rPr>
                  <a:t>하나의 </a:t>
                </a:r>
                <a:r>
                  <a:rPr lang="en-US" altLang="ko-KR" sz="2000" dirty="0">
                    <a:latin typeface="+mn-ea"/>
                  </a:rPr>
                  <a:t>Decision Tree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+mn-ea"/>
                  </a:rPr>
                  <a:t>를 생성한다 분기 규칙을 다음과 같다</a:t>
                </a:r>
                <a:r>
                  <a:rPr lang="en-US" altLang="ko-KR" sz="2000" dirty="0">
                    <a:latin typeface="+mn-ea"/>
                  </a:rPr>
                  <a:t>. </a:t>
                </a:r>
              </a:p>
              <a:p>
                <a:pPr marL="1257300" lvl="2" indent="-342900">
                  <a:buFont typeface="Wingdings" panose="05000000000000000000" pitchFamily="2" charset="2"/>
                  <a:buChar char="l"/>
                </a:pPr>
                <a:r>
                  <a:rPr lang="ko-KR" altLang="en-US" sz="2000" dirty="0">
                    <a:latin typeface="+mn-ea"/>
                  </a:rPr>
                  <a:t>분기점이 되는 변수를 전체 </a:t>
                </a:r>
                <a:r>
                  <a:rPr lang="en-US" altLang="ko-KR" sz="2000" dirty="0">
                    <a:latin typeface="+mn-ea"/>
                  </a:rPr>
                  <a:t>p </a:t>
                </a:r>
                <a:r>
                  <a:rPr lang="ko-KR" altLang="en-US" sz="2000" dirty="0">
                    <a:latin typeface="+mn-ea"/>
                  </a:rPr>
                  <a:t>개의 변수 중에서 임의로 </a:t>
                </a:r>
                <a:r>
                  <a:rPr lang="en-US" altLang="ko-KR" sz="2000" dirty="0">
                    <a:latin typeface="+mn-ea"/>
                  </a:rPr>
                  <a:t>m</a:t>
                </a:r>
                <a:r>
                  <a:rPr lang="ko-KR" altLang="en-US" sz="2000" dirty="0">
                    <a:latin typeface="+mn-ea"/>
                  </a:rPr>
                  <a:t>개 선택한다</a:t>
                </a:r>
                <a:r>
                  <a:rPr lang="en-US" altLang="ko-KR" sz="2000" dirty="0">
                    <a:latin typeface="+mn-ea"/>
                  </a:rPr>
                  <a:t>. </a:t>
                </a:r>
                <a:r>
                  <a:rPr lang="ko-KR" altLang="en-US" sz="2000" dirty="0">
                    <a:latin typeface="+mn-ea"/>
                  </a:rPr>
                  <a:t>일반적으로 </a:t>
                </a:r>
                <a:r>
                  <a:rPr lang="en-US" altLang="ko-KR" sz="2000" dirty="0">
                    <a:latin typeface="+mn-ea"/>
                  </a:rPr>
                  <a:t>m &lt;&lt;p.</a:t>
                </a:r>
              </a:p>
              <a:p>
                <a:pPr marL="1257300" lvl="2" indent="-342900">
                  <a:buFont typeface="Wingdings" panose="05000000000000000000" pitchFamily="2" charset="2"/>
                  <a:buChar char="l"/>
                </a:pPr>
                <a:r>
                  <a:rPr lang="ko-KR" altLang="en-US" sz="2000" dirty="0">
                    <a:latin typeface="+mn-ea"/>
                  </a:rPr>
                  <a:t>분기를 잘하는 최적의 변수와 분기점을 선택한다</a:t>
                </a:r>
                <a:r>
                  <a:rPr lang="en-US" altLang="ko-KR" sz="2000" dirty="0">
                    <a:latin typeface="+mn-ea"/>
                  </a:rPr>
                  <a:t>.</a:t>
                </a:r>
              </a:p>
              <a:p>
                <a:pPr marL="355600" indent="-342900">
                  <a:buFont typeface="Wingdings" panose="05000000000000000000" pitchFamily="2" charset="2"/>
                  <a:buChar char="l"/>
                  <a:tabLst>
                    <a:tab pos="122555" algn="l"/>
                  </a:tabLst>
                </a:pPr>
                <a:endParaRPr lang="en-US" altLang="ko-KR" sz="2000" dirty="0">
                  <a:latin typeface="+mn-ea"/>
                </a:endParaRPr>
              </a:p>
              <a:p>
                <a:pPr marL="355600" indent="-342900">
                  <a:buFont typeface="Wingdings" panose="05000000000000000000" pitchFamily="2" charset="2"/>
                  <a:buChar char="l"/>
                  <a:tabLst>
                    <a:tab pos="122555" algn="l"/>
                  </a:tabLst>
                </a:pPr>
                <a:r>
                  <a:rPr lang="en-US" altLang="ko-KR" sz="2000" dirty="0">
                    <a:latin typeface="+mn-ea"/>
                  </a:rPr>
                  <a:t> </a:t>
                </a:r>
              </a:p>
              <a:p>
                <a:pPr marL="355600" indent="-342900">
                  <a:buFont typeface="Wingdings" panose="05000000000000000000" pitchFamily="2" charset="2"/>
                  <a:buChar char="l"/>
                  <a:tabLst>
                    <a:tab pos="122555" algn="l"/>
                  </a:tabLst>
                </a:pPr>
                <a:endParaRPr lang="en-US" altLang="ko-KR" sz="2000" dirty="0">
                  <a:latin typeface="+mn-ea"/>
                </a:endParaRPr>
              </a:p>
              <a:p>
                <a:pPr lvl="3"/>
                <a:endParaRPr lang="en-US" altLang="ko-KR" sz="2000" dirty="0">
                  <a:latin typeface="+mn-ea"/>
                </a:endParaRPr>
              </a:p>
            </p:txBody>
          </p:sp>
        </mc:Choice>
        <mc:Fallback xmlns="">
          <p:sp>
            <p:nvSpPr>
              <p:cNvPr id="7" name="Rect 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025" y="1760855"/>
                <a:ext cx="10337165" cy="3693319"/>
              </a:xfrm>
              <a:prstGeom prst="rect">
                <a:avLst/>
              </a:prstGeom>
              <a:blipFill>
                <a:blip r:embed="rId2"/>
                <a:stretch>
                  <a:fillRect l="-1297" t="-21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>
            <a:extLst>
              <a:ext uri="{FF2B5EF4-FFF2-40B4-BE49-F238E27FC236}">
                <a16:creationId xmlns:a16="http://schemas.microsoft.com/office/drawing/2014/main" id="{2BAB2307-FC16-4013-93A9-6C39CF23CC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6692"/>
          <a:stretch/>
        </p:blipFill>
        <p:spPr>
          <a:xfrm>
            <a:off x="1080514" y="4470399"/>
            <a:ext cx="8202170" cy="841644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dirty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Random Forest</a:t>
            </a:r>
            <a:endParaRPr lang="ko-KR" altLang="en-US" sz="4400" dirty="0">
              <a:solidFill>
                <a:schemeClr val="tx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60855"/>
            <a:ext cx="10337165" cy="2462213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000" dirty="0">
                <a:latin typeface="+mn-ea"/>
              </a:rPr>
              <a:t>그렇다면 기본적인 </a:t>
            </a:r>
            <a:r>
              <a:rPr lang="en-US" altLang="ko-KR" sz="2000" dirty="0">
                <a:latin typeface="+mn-ea"/>
              </a:rPr>
              <a:t>Bagging</a:t>
            </a:r>
            <a:r>
              <a:rPr lang="ko-KR" altLang="en-US" sz="2000" dirty="0">
                <a:latin typeface="+mn-ea"/>
              </a:rPr>
              <a:t>을 이용한 </a:t>
            </a:r>
            <a:r>
              <a:rPr lang="en-US" altLang="ko-KR" sz="2000" dirty="0">
                <a:latin typeface="+mn-ea"/>
              </a:rPr>
              <a:t>Decision Tree</a:t>
            </a:r>
            <a:r>
              <a:rPr lang="ko-KR" altLang="en-US" sz="2000" dirty="0">
                <a:latin typeface="+mn-ea"/>
              </a:rPr>
              <a:t>와 </a:t>
            </a:r>
            <a:r>
              <a:rPr lang="en-US" altLang="ko-KR" sz="2000" dirty="0">
                <a:latin typeface="+mn-ea"/>
              </a:rPr>
              <a:t>Random Forest</a:t>
            </a:r>
            <a:r>
              <a:rPr lang="ko-KR" altLang="en-US" sz="2000" dirty="0">
                <a:latin typeface="+mn-ea"/>
              </a:rPr>
              <a:t>의 차이는 무엇인가</a:t>
            </a:r>
            <a:r>
              <a:rPr lang="en-US" altLang="ko-KR" sz="2000" dirty="0">
                <a:latin typeface="+mn-ea"/>
              </a:rPr>
              <a:t>?</a:t>
            </a:r>
          </a:p>
          <a:p>
            <a:pPr marL="812800" lvl="1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000" dirty="0">
                <a:latin typeface="+mn-ea"/>
              </a:rPr>
              <a:t>바로 분기점의 후보가 되는 변수를 전체 </a:t>
            </a:r>
            <a:r>
              <a:rPr lang="en-US" altLang="ko-KR" sz="2000" dirty="0">
                <a:latin typeface="+mn-ea"/>
              </a:rPr>
              <a:t>p</a:t>
            </a:r>
            <a:r>
              <a:rPr lang="ko-KR" altLang="en-US" sz="2000" dirty="0">
                <a:latin typeface="+mn-ea"/>
              </a:rPr>
              <a:t>개의 변수 중에서 임의로 </a:t>
            </a:r>
            <a:r>
              <a:rPr lang="en-US" altLang="ko-KR" sz="2000" dirty="0">
                <a:latin typeface="+mn-ea"/>
              </a:rPr>
              <a:t>m</a:t>
            </a:r>
            <a:r>
              <a:rPr lang="ko-KR" altLang="en-US" sz="2000" dirty="0">
                <a:latin typeface="+mn-ea"/>
              </a:rPr>
              <a:t>개 선택한다는 것이다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marL="812800" lvl="1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endParaRPr lang="en-US" altLang="ko-KR" sz="2000" dirty="0">
              <a:latin typeface="+mn-ea"/>
            </a:endParaRPr>
          </a:p>
          <a:p>
            <a:pPr marL="812800" lvl="1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ko-KR" altLang="en-US" sz="2000" dirty="0">
                <a:latin typeface="+mn-ea"/>
              </a:rPr>
              <a:t>기본적인 </a:t>
            </a:r>
            <a:r>
              <a:rPr lang="en-US" altLang="ko-KR" sz="2000" dirty="0">
                <a:latin typeface="+mn-ea"/>
              </a:rPr>
              <a:t>Decision Tree</a:t>
            </a:r>
            <a:r>
              <a:rPr lang="ko-KR" altLang="en-US" sz="2000" dirty="0">
                <a:latin typeface="+mn-ea"/>
              </a:rPr>
              <a:t>를 모든 변수와 변수의 분기점 후보를 전역적으로 탐색하여 최적의 분기점을 찾아 하나의 데이터 그룹을 </a:t>
            </a:r>
            <a:r>
              <a:rPr lang="en-US" altLang="ko-KR" sz="2000" dirty="0">
                <a:latin typeface="+mn-ea"/>
              </a:rPr>
              <a:t>2</a:t>
            </a:r>
            <a:r>
              <a:rPr lang="ko-KR" altLang="en-US" sz="2000" dirty="0">
                <a:latin typeface="+mn-ea"/>
              </a:rPr>
              <a:t>개의 데이터 그룹으로 나눈다</a:t>
            </a:r>
            <a:r>
              <a:rPr lang="en-US" altLang="ko-KR" sz="2000" dirty="0">
                <a:latin typeface="+mn-ea"/>
              </a:rPr>
              <a:t>. </a:t>
            </a:r>
            <a:r>
              <a:rPr lang="ko-KR" altLang="en-US" sz="2000" dirty="0">
                <a:latin typeface="+mn-ea"/>
              </a:rPr>
              <a:t>하지만 </a:t>
            </a:r>
            <a:r>
              <a:rPr lang="en-US" altLang="ko-KR" sz="2000" dirty="0">
                <a:latin typeface="+mn-ea"/>
              </a:rPr>
              <a:t>Random Forest</a:t>
            </a:r>
            <a:r>
              <a:rPr lang="ko-KR" altLang="en-US" sz="2000" dirty="0">
                <a:latin typeface="+mn-ea"/>
              </a:rPr>
              <a:t>는 모델의 다양성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그리고 계산적인 효율성을 고려하여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그리고 다음에 설명할 </a:t>
            </a:r>
            <a:r>
              <a:rPr lang="en-US" altLang="ko-KR" sz="2000" dirty="0">
                <a:latin typeface="+mn-ea"/>
              </a:rPr>
              <a:t>Generalization Error</a:t>
            </a:r>
            <a:r>
              <a:rPr lang="ko-KR" altLang="en-US" sz="2000" dirty="0">
                <a:latin typeface="+mn-ea"/>
              </a:rPr>
              <a:t>를 조절하기 위해서 한번 분기를 진행할 때 전체 변수를 고려하지 않고 임의로 선택된 </a:t>
            </a:r>
            <a:r>
              <a:rPr lang="en-US" altLang="ko-KR" sz="2000" dirty="0">
                <a:latin typeface="+mn-ea"/>
              </a:rPr>
              <a:t>m</a:t>
            </a:r>
            <a:r>
              <a:rPr lang="ko-KR" altLang="en-US" sz="2000" dirty="0">
                <a:latin typeface="+mn-ea"/>
              </a:rPr>
              <a:t>개의 변수를 사용하여 분기에 이용한 변수와 최적의 분기점을 찾는다</a:t>
            </a:r>
            <a:r>
              <a:rPr lang="en-US" altLang="ko-KR" sz="20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81423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dirty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Random Forest</a:t>
            </a:r>
            <a:endParaRPr lang="ko-KR" altLang="en-US" sz="4400" dirty="0">
              <a:solidFill>
                <a:schemeClr val="tx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60855"/>
            <a:ext cx="10337165" cy="738664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+mn-ea"/>
              </a:rPr>
              <a:t>Data load and split</a:t>
            </a:r>
          </a:p>
          <a:p>
            <a:pPr lvl="3"/>
            <a:endParaRPr lang="en-US" altLang="ko-KR" sz="2400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B83B1F-1B78-4A0D-A930-8F175D212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866" y="2435463"/>
            <a:ext cx="8568267" cy="260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4410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dirty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Random Forest</a:t>
            </a:r>
            <a:endParaRPr lang="ko-KR" altLang="en-US" sz="4400" dirty="0">
              <a:solidFill>
                <a:schemeClr val="tx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60855"/>
            <a:ext cx="10337165" cy="369332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+mn-ea"/>
              </a:rPr>
              <a:t>Fitting model and calculate </a:t>
            </a:r>
            <a:r>
              <a:rPr lang="en-US" altLang="ko-KR" sz="2400" dirty="0" err="1">
                <a:latin typeface="+mn-ea"/>
              </a:rPr>
              <a:t>mse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DE3E1A-AF52-4257-9DB4-262658A2D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25" y="2432447"/>
            <a:ext cx="5135457" cy="330136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B2AE25-3ADC-48A6-B57C-781782D33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432447"/>
            <a:ext cx="3048425" cy="295316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1057294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dirty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Random Forest</a:t>
            </a:r>
            <a:endParaRPr lang="ko-KR" altLang="en-US" sz="4400" dirty="0">
              <a:solidFill>
                <a:schemeClr val="tx1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60855"/>
            <a:ext cx="10337165" cy="369332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+mn-ea"/>
              </a:rPr>
              <a:t>calculate </a:t>
            </a:r>
            <a:r>
              <a:rPr lang="en-US" altLang="ko-KR" sz="2400" b="0" dirty="0">
                <a:effectLst/>
                <a:latin typeface="+mn-ea"/>
              </a:rPr>
              <a:t>Feature</a:t>
            </a:r>
            <a:r>
              <a:rPr lang="en-US" altLang="ko-KR" sz="2400" dirty="0">
                <a:latin typeface="+mn-ea"/>
              </a:rPr>
              <a:t> </a:t>
            </a:r>
            <a:r>
              <a:rPr lang="en-US" altLang="ko-KR" sz="2400" b="0" dirty="0" err="1">
                <a:effectLst/>
                <a:latin typeface="+mn-ea"/>
              </a:rPr>
              <a:t>importances</a:t>
            </a:r>
            <a:endParaRPr lang="en-US" altLang="ko-KR" sz="2400" b="0" dirty="0">
              <a:effectLst/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431BA81-44E4-44D3-802D-01E1CF162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221" y="2261538"/>
            <a:ext cx="6860646" cy="409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4323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spc="-10" dirty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AdaBoost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336530" cy="184665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Boosting: </a:t>
            </a:r>
            <a:r>
              <a:rPr lang="ko-KR" altLang="en-US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정확도가 낮은 </a:t>
            </a:r>
            <a:r>
              <a:rPr lang="en-US" altLang="ko-KR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weak learner </a:t>
            </a:r>
            <a:r>
              <a:rPr lang="ko-KR" altLang="en-US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다수를 이용하여 정확도가 높은 모형을 만든다</a:t>
            </a:r>
            <a:r>
              <a:rPr lang="en-US" altLang="ko-KR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 </a:t>
            </a:r>
          </a:p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Adaptive Boost: weights</a:t>
            </a:r>
            <a:r>
              <a:rPr lang="ko-KR" altLang="en-US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을 잘못 분류된 경우에는 높은 값으로</a:t>
            </a:r>
            <a:r>
              <a:rPr lang="en-US" altLang="ko-KR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분류가 맞게 된 경우에는 낮은 값으로 업데이트</a:t>
            </a:r>
            <a:r>
              <a:rPr lang="en-US" altLang="ko-KR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</a:p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weak learner</a:t>
            </a:r>
            <a:r>
              <a:rPr lang="ko-KR" altLang="en-US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로는 주로 깊이가 </a:t>
            </a:r>
            <a:r>
              <a:rPr lang="en-US" altLang="ko-KR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</a:t>
            </a:r>
            <a:r>
              <a:rPr lang="ko-KR" altLang="en-US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인 의사결정나무 </a:t>
            </a:r>
            <a:r>
              <a:rPr lang="en-US" altLang="ko-KR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(stump)</a:t>
            </a:r>
            <a:r>
              <a:rPr lang="ko-KR" altLang="en-US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를 이용</a:t>
            </a:r>
            <a:r>
              <a:rPr lang="en-US" altLang="ko-KR" sz="2400" dirty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  <a:endParaRPr lang="ko-KR" altLang="en-US" sz="2400" dirty="0">
              <a:solidFill>
                <a:schemeClr val="tx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b="0" i="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german</a:t>
            </a:r>
            <a:r>
              <a:rPr lang="en-US" altLang="ko-KR" sz="4400" b="0" i="0" spc="8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</a:t>
            </a:r>
            <a:r>
              <a:rPr lang="en-US" altLang="ko-KR" sz="4400" b="0" i="0" spc="-2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dataset</a:t>
            </a:r>
            <a:endParaRPr lang="ko-KR" altLang="en-US" sz="4400" b="0" i="0" dirty="0">
              <a:latin typeface="나눔스퀘어OTF Bold" panose="020B0600000101010101" pitchFamily="34" charset="-127"/>
              <a:ea typeface="나눔스퀘어OTF Bold" panose="020B0600000101010101" pitchFamily="34" charset="-127"/>
              <a:sym typeface="맑은 고딕" charset="0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AD0F5E3-1BCC-489C-BE48-ECEDE077A73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8702040" cy="81597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355600" indent="-3429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sz="2400" b="0" dirty="0">
                <a:ea typeface="나눔스퀘어OTF" panose="020B0600000101010101" pitchFamily="34" charset="-127"/>
              </a:rPr>
              <a:t>Data Encoding and split</a:t>
            </a:r>
            <a:endParaRPr lang="ko-KR" altLang="en-US" sz="2400" b="0" dirty="0">
              <a:ea typeface="나눔스퀘어OTF" panose="020B0600000101010101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FDA653-34CE-48A7-9286-8C9DF807A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933" y="2641600"/>
            <a:ext cx="7586133" cy="366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7710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spc="-10" dirty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AdaBoost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336530" cy="738664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solidFill>
                  <a:schemeClr val="tx1"/>
                </a:solidFill>
                <a:latin typeface="+mn-ea"/>
              </a:rPr>
              <a:t>Fitting model and calculate </a:t>
            </a:r>
            <a:r>
              <a:rPr lang="en-US" altLang="ko-KR" sz="2400" dirty="0" err="1">
                <a:solidFill>
                  <a:schemeClr val="tx1"/>
                </a:solidFill>
                <a:latin typeface="+mn-ea"/>
              </a:rPr>
              <a:t>mse</a:t>
            </a:r>
            <a:endParaRPr lang="en-US" altLang="ko-KR" sz="2400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ko-KR" sz="24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9DF3433-A809-4572-85BD-F79BC08F02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425"/>
          <a:stretch/>
        </p:blipFill>
        <p:spPr>
          <a:xfrm>
            <a:off x="3558938" y="2518569"/>
            <a:ext cx="5074124" cy="333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3939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spc="-10" dirty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AdaBoost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336530" cy="1231106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000" b="0" dirty="0">
                <a:solidFill>
                  <a:srgbClr val="383A42"/>
                </a:solidFill>
                <a:effectLst/>
                <a:latin typeface="+mn-ea"/>
              </a:rPr>
              <a:t>Precision(</a:t>
            </a:r>
            <a:r>
              <a:rPr lang="ko-KR" altLang="en-US" sz="2000" b="0" dirty="0">
                <a:solidFill>
                  <a:srgbClr val="383A42"/>
                </a:solidFill>
                <a:effectLst/>
                <a:latin typeface="+mn-ea"/>
              </a:rPr>
              <a:t>정밀도</a:t>
            </a:r>
            <a:r>
              <a:rPr lang="en-US" altLang="ko-KR" sz="2000" b="0" dirty="0">
                <a:solidFill>
                  <a:srgbClr val="383A42"/>
                </a:solidFill>
                <a:effectLst/>
                <a:latin typeface="+mn-ea"/>
              </a:rPr>
              <a:t>): </a:t>
            </a:r>
            <a:r>
              <a:rPr lang="ko-KR" altLang="en-US" sz="2000" b="0" dirty="0">
                <a:solidFill>
                  <a:srgbClr val="383A42"/>
                </a:solidFill>
                <a:effectLst/>
                <a:latin typeface="+mn-ea"/>
              </a:rPr>
              <a:t>예측한 클래스 중 실제로 해당 클래스인 데이터의 비율</a:t>
            </a:r>
            <a:r>
              <a:rPr lang="en-US" altLang="ko-KR" sz="2000" b="0" dirty="0">
                <a:solidFill>
                  <a:srgbClr val="383A42"/>
                </a:solidFill>
                <a:effectLst/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000" b="0" dirty="0">
                <a:solidFill>
                  <a:srgbClr val="383A42"/>
                </a:solidFill>
                <a:effectLst/>
                <a:latin typeface="+mn-ea"/>
              </a:rPr>
              <a:t>Recall(</a:t>
            </a:r>
            <a:r>
              <a:rPr lang="ko-KR" altLang="en-US" sz="2000" b="0" dirty="0" err="1">
                <a:solidFill>
                  <a:srgbClr val="383A42"/>
                </a:solidFill>
                <a:effectLst/>
                <a:latin typeface="+mn-ea"/>
              </a:rPr>
              <a:t>재현율</a:t>
            </a:r>
            <a:r>
              <a:rPr lang="en-US" altLang="ko-KR" sz="2000" b="0" dirty="0">
                <a:solidFill>
                  <a:srgbClr val="383A42"/>
                </a:solidFill>
                <a:effectLst/>
                <a:latin typeface="+mn-ea"/>
              </a:rPr>
              <a:t>): </a:t>
            </a:r>
            <a:r>
              <a:rPr lang="ko-KR" altLang="en-US" sz="2000" b="0" dirty="0">
                <a:solidFill>
                  <a:srgbClr val="383A42"/>
                </a:solidFill>
                <a:effectLst/>
                <a:latin typeface="+mn-ea"/>
              </a:rPr>
              <a:t>실제 클래스 중 예측한 클래스와 일치한 데이터의 비율</a:t>
            </a:r>
            <a:r>
              <a:rPr lang="en-US" altLang="ko-KR" sz="2000" b="0" dirty="0">
                <a:solidFill>
                  <a:srgbClr val="383A42"/>
                </a:solidFill>
                <a:effectLst/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000" b="0" dirty="0">
                <a:solidFill>
                  <a:srgbClr val="383A42"/>
                </a:solidFill>
                <a:effectLst/>
                <a:latin typeface="+mn-ea"/>
              </a:rPr>
              <a:t>F1-score: Precision</a:t>
            </a:r>
            <a:r>
              <a:rPr lang="ko-KR" altLang="en-US" sz="2000" b="0" dirty="0">
                <a:solidFill>
                  <a:srgbClr val="383A42"/>
                </a:solidFill>
                <a:effectLst/>
                <a:latin typeface="+mn-ea"/>
              </a:rPr>
              <a:t>과 </a:t>
            </a:r>
            <a:r>
              <a:rPr lang="en-US" altLang="ko-KR" sz="2000" b="0" dirty="0">
                <a:solidFill>
                  <a:srgbClr val="383A42"/>
                </a:solidFill>
                <a:effectLst/>
                <a:latin typeface="+mn-ea"/>
              </a:rPr>
              <a:t>Recall</a:t>
            </a:r>
            <a:r>
              <a:rPr lang="ko-KR" altLang="en-US" sz="2000" b="0" dirty="0">
                <a:solidFill>
                  <a:srgbClr val="383A42"/>
                </a:solidFill>
                <a:effectLst/>
                <a:latin typeface="+mn-ea"/>
              </a:rPr>
              <a:t>의 조화평균</a:t>
            </a:r>
            <a:r>
              <a:rPr lang="en-US" altLang="ko-KR" sz="2000" b="0" dirty="0">
                <a:solidFill>
                  <a:srgbClr val="383A42"/>
                </a:solidFill>
                <a:effectLst/>
                <a:latin typeface="+mn-ea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000" b="0" dirty="0">
                <a:solidFill>
                  <a:srgbClr val="383A42"/>
                </a:solidFill>
                <a:effectLst/>
                <a:latin typeface="+mn-ea"/>
              </a:rPr>
              <a:t>Support: </a:t>
            </a:r>
            <a:r>
              <a:rPr lang="ko-KR" altLang="en-US" sz="2000" b="0" dirty="0">
                <a:solidFill>
                  <a:srgbClr val="383A42"/>
                </a:solidFill>
                <a:effectLst/>
                <a:latin typeface="+mn-ea"/>
              </a:rPr>
              <a:t>각 클래스의 실제 데이터 수</a:t>
            </a:r>
            <a:endParaRPr lang="en-US" altLang="ko-KR" sz="20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7BB309A-5D97-446B-BB8A-A55AEF9D4F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364"/>
          <a:stretch/>
        </p:blipFill>
        <p:spPr>
          <a:xfrm>
            <a:off x="2913257" y="3310646"/>
            <a:ext cx="6365485" cy="303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7783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spc="-10" dirty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AdaBoost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336530" cy="1107996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solidFill>
                  <a:schemeClr val="tx1"/>
                </a:solidFill>
                <a:latin typeface="+mn-ea"/>
              </a:rPr>
              <a:t>Confusion matrix</a:t>
            </a:r>
          </a:p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+mn-ea"/>
              </a:rPr>
              <a:t>Mean score </a:t>
            </a:r>
            <a:r>
              <a:rPr lang="en-US" altLang="ko-KR" sz="2400" dirty="0">
                <a:solidFill>
                  <a:schemeClr val="tx1"/>
                </a:solidFill>
                <a:latin typeface="+mn-ea"/>
              </a:rPr>
              <a:t>CV = 5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ko-KR" sz="24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5762457-DF34-44F5-A75A-B28C96D4F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659" y="1792605"/>
            <a:ext cx="5664411" cy="450404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0837928-CE9C-4869-B957-2D0272228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" y="2887901"/>
            <a:ext cx="4924847" cy="636968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784545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spc="-10" dirty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Gradient Boosting with </a:t>
            </a:r>
            <a:r>
              <a:rPr lang="en-US" altLang="ko-KR" sz="4400" spc="-10" dirty="0" err="1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xgboost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 0"/>
              <p:cNvSpPr txBox="1">
                <a:spLocks/>
              </p:cNvSpPr>
              <p:nvPr/>
            </p:nvSpPr>
            <p:spPr>
              <a:xfrm>
                <a:off x="835025" y="1779905"/>
                <a:ext cx="10337165" cy="2215991"/>
              </a:xfrm>
              <a:prstGeom prst="rect">
                <a:avLst/>
              </a:prstGeom>
              <a:noFill/>
            </p:spPr>
            <p:txBody>
              <a:bodyPr vert="horz" wrap="square" lIns="0" tIns="0" rIns="0" bIns="0" numCol="1" anchor="t">
                <a:spAutoFit/>
              </a:bodyPr>
              <a:lstStyle/>
              <a:p>
                <a:pPr marL="355600" indent="-342900">
                  <a:buFont typeface="Wingdings" panose="05000000000000000000" pitchFamily="2" charset="2"/>
                  <a:buChar char="l"/>
                  <a:tabLst>
                    <a:tab pos="122555" algn="l"/>
                  </a:tabLst>
                </a:pPr>
                <a:r>
                  <a:rPr lang="en-US" altLang="ko-KR" sz="2400" b="0" dirty="0">
                    <a:solidFill>
                      <a:schemeClr val="tx1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sym typeface="맑은 고딕" charset="0"/>
                  </a:rPr>
                  <a:t>AdaBoost: </a:t>
                </a:r>
                <a:r>
                  <a:rPr lang="ko-KR" altLang="en-US" sz="2400" b="0" dirty="0">
                    <a:solidFill>
                      <a:schemeClr val="tx1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sym typeface="맑은 고딕" charset="0"/>
                  </a:rPr>
                  <a:t>자료의 </a:t>
                </a:r>
                <a:r>
                  <a:rPr lang="ko-KR" altLang="en-US" sz="2400" b="0" dirty="0" err="1">
                    <a:solidFill>
                      <a:schemeClr val="tx1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sym typeface="맑은 고딕" charset="0"/>
                  </a:rPr>
                  <a:t>오분류</a:t>
                </a:r>
                <a:r>
                  <a:rPr lang="ko-KR" altLang="en-US" sz="2400" b="0" dirty="0">
                    <a:solidFill>
                      <a:schemeClr val="tx1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sym typeface="맑은 고딕" charset="0"/>
                  </a:rPr>
                  <a:t> 여부에 의해 가중치를 업데이트</a:t>
                </a:r>
                <a:r>
                  <a:rPr lang="en-US" altLang="ko-KR" sz="2400" b="0" dirty="0">
                    <a:solidFill>
                      <a:schemeClr val="tx1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sym typeface="맑은 고딕" charset="0"/>
                  </a:rPr>
                  <a:t>.</a:t>
                </a:r>
              </a:p>
              <a:p>
                <a:pPr marL="355600" indent="-342900">
                  <a:buFont typeface="Wingdings" panose="05000000000000000000" pitchFamily="2" charset="2"/>
                  <a:buChar char="l"/>
                  <a:tabLst>
                    <a:tab pos="122555" algn="l"/>
                  </a:tabLst>
                </a:pPr>
                <a:endParaRPr lang="en-US" altLang="ko-KR" sz="2400" dirty="0">
                  <a:latin typeface="나눔스퀘어OTF" panose="020B0600000101010101" pitchFamily="34" charset="-127"/>
                  <a:ea typeface="나눔스퀘어OTF" panose="020B0600000101010101" pitchFamily="34" charset="-127"/>
                  <a:sym typeface="맑은 고딕" charset="0"/>
                </a:endParaRPr>
              </a:p>
              <a:p>
                <a:pPr marL="355600" indent="-342900">
                  <a:buFont typeface="Wingdings" panose="05000000000000000000" pitchFamily="2" charset="2"/>
                  <a:buChar char="l"/>
                  <a:tabLst>
                    <a:tab pos="122555" algn="l"/>
                  </a:tabLst>
                </a:pPr>
                <a:r>
                  <a:rPr lang="en-US" altLang="ko-KR" sz="2400" b="0" dirty="0">
                    <a:solidFill>
                      <a:schemeClr val="tx1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sym typeface="맑은 고딕" charset="0"/>
                  </a:rPr>
                  <a:t>GBM (Gradient Boosting Method): </a:t>
                </a:r>
                <a:r>
                  <a:rPr lang="ko-KR" altLang="en-US" sz="2400" b="0" dirty="0" err="1">
                    <a:solidFill>
                      <a:schemeClr val="tx1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sym typeface="맑은 고딕" charset="0"/>
                  </a:rPr>
                  <a:t>그래디언트</a:t>
                </a:r>
                <a:r>
                  <a:rPr lang="ko-KR" altLang="en-US" sz="2400" b="0" dirty="0">
                    <a:solidFill>
                      <a:schemeClr val="tx1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sym typeface="맑은 고딕" charset="0"/>
                  </a:rPr>
                  <a:t> 강하 기법으로 </a:t>
                </a:r>
                <a:r>
                  <a:rPr lang="ko-KR" altLang="en-US" sz="2400" b="0" dirty="0" err="1">
                    <a:solidFill>
                      <a:schemeClr val="tx1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sym typeface="맑은 고딕" charset="0"/>
                  </a:rPr>
                  <a:t>부스팅을</a:t>
                </a:r>
                <a:r>
                  <a:rPr lang="ko-KR" altLang="en-US" sz="2400" dirty="0">
                    <a:latin typeface="나눔스퀘어OTF" panose="020B0600000101010101" pitchFamily="34" charset="-127"/>
                    <a:ea typeface="나눔스퀘어OTF" panose="020B0600000101010101" pitchFamily="34" charset="-127"/>
                    <a:sym typeface="맑은 고딕" charset="0"/>
                  </a:rPr>
                  <a:t> </a:t>
                </a:r>
                <a:r>
                  <a:rPr lang="ko-KR" altLang="en-US" sz="2400" b="0" dirty="0">
                    <a:solidFill>
                      <a:schemeClr val="tx1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sym typeface="맑은 고딕" charset="0"/>
                  </a:rPr>
                  <a:t>설명</a:t>
                </a:r>
                <a:r>
                  <a:rPr lang="en-US" altLang="ko-KR" sz="2400" b="0" dirty="0">
                    <a:solidFill>
                      <a:schemeClr val="tx1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sym typeface="맑은 고딕" charset="0"/>
                  </a:rPr>
                  <a:t>.</a:t>
                </a:r>
              </a:p>
              <a:p>
                <a:pPr marL="355600" indent="-342900">
                  <a:buFont typeface="Wingdings" panose="05000000000000000000" pitchFamily="2" charset="2"/>
                  <a:buChar char="l"/>
                  <a:tabLst>
                    <a:tab pos="122555" algn="l"/>
                  </a:tabLst>
                </a:pPr>
                <a:endParaRPr lang="en-US" altLang="ko-KR" sz="2400" dirty="0">
                  <a:latin typeface="나눔스퀘어OTF" panose="020B0600000101010101" pitchFamily="34" charset="-127"/>
                  <a:ea typeface="나눔스퀘어OTF" panose="020B0600000101010101" pitchFamily="34" charset="-127"/>
                  <a:sym typeface="맑은 고딕" charset="0"/>
                </a:endParaRPr>
              </a:p>
              <a:p>
                <a:pPr marL="355600" indent="-342900">
                  <a:buFont typeface="Wingdings" panose="05000000000000000000" pitchFamily="2" charset="2"/>
                  <a:buChar char="l"/>
                  <a:tabLst>
                    <a:tab pos="122555" algn="l"/>
                  </a:tabLst>
                </a:pPr>
                <a:r>
                  <a:rPr lang="en-US" altLang="ko-KR" sz="2400" b="0" dirty="0">
                    <a:solidFill>
                      <a:schemeClr val="tx1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sym typeface="맑은 고딕" charset="0"/>
                  </a:rPr>
                  <a:t>Shrinkage (Friedman 2001)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sym typeface="맑은 고딕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sym typeface="맑은 고딕" charset="0"/>
                          </a:rPr>
                          <m:t>𝐹</m:t>
                        </m:r>
                      </m:e>
                      <m:sub>
                        <m:r>
                          <a:rPr lang="en-US" altLang="ko-K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sym typeface="맑은 고딕" charset="0"/>
                          </a:rPr>
                          <m:t>𝑛</m:t>
                        </m:r>
                      </m:sub>
                    </m:sSub>
                    <m:r>
                      <a:rPr lang="en-US" altLang="ko-K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나눔스퀘어OTF" panose="020B0600000101010101" pitchFamily="34" charset="-127"/>
                        <a:sym typeface="맑은 고딕" charset="0"/>
                      </a:rPr>
                      <m:t>=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sym typeface="맑은 고딕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sym typeface="맑은 고딕" charset="0"/>
                          </a:rPr>
                          <m:t>𝐹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sym typeface="맑은 고딕" charset="0"/>
                          </a:rPr>
                          <m:t>𝑛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sym typeface="맑은 고딕" charset="0"/>
                          </a:rPr>
                          <m:t>−1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스퀘어OTF" panose="020B0600000101010101" pitchFamily="34" charset="-127"/>
                        <a:sym typeface="맑은 고딕" charset="0"/>
                      </a:rPr>
                      <m:t>+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sym typeface="맑은 고딕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sym typeface="맑은 고딕" charset="0"/>
                          </a:rPr>
                          <m:t>𝑓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sym typeface="맑은 고딕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2400" b="0" dirty="0">
                    <a:solidFill>
                      <a:schemeClr val="tx1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sym typeface="맑은 고딕" charset="0"/>
                  </a:rPr>
                  <a:t>으로 업데이트를 하는 대신</a:t>
                </a:r>
                <a:r>
                  <a:rPr lang="en-US" altLang="ko-KR" sz="2400" b="0" dirty="0">
                    <a:solidFill>
                      <a:schemeClr val="tx1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sym typeface="맑은 고딕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sym typeface="맑은 고딕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sym typeface="맑은 고딕" charset="0"/>
                          </a:rPr>
                          <m:t>𝐹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sym typeface="맑은 고딕" charset="0"/>
                          </a:rPr>
                          <m:t>𝑛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  <a:ea typeface="나눔스퀘어OTF" panose="020B0600000101010101" pitchFamily="34" charset="-127"/>
                        <a:sym typeface="맑은 고딕" charset="0"/>
                      </a:rPr>
                      <m:t>=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sym typeface="맑은 고딕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sym typeface="맑은 고딕" charset="0"/>
                          </a:rPr>
                          <m:t>𝐹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sym typeface="맑은 고딕" charset="0"/>
                          </a:rPr>
                          <m:t>𝑛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sym typeface="맑은 고딕" charset="0"/>
                          </a:rPr>
                          <m:t>−1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  <a:ea typeface="나눔스퀘어OTF" panose="020B0600000101010101" pitchFamily="34" charset="-127"/>
                        <a:sym typeface="맑은 고딕" charset="0"/>
                      </a:rPr>
                      <m:t>+</m:t>
                    </m:r>
                    <m:r>
                      <a:rPr lang="ko-KR" altLang="en-US" sz="2400" i="1" smtClean="0">
                        <a:latin typeface="Cambria Math" panose="02040503050406030204" pitchFamily="18" charset="0"/>
                        <a:ea typeface="나눔스퀘어OTF" panose="020B0600000101010101" pitchFamily="34" charset="-127"/>
                        <a:sym typeface="맑은 고딕" charset="0"/>
                      </a:rPr>
                      <m:t>𝜂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sym typeface="맑은 고딕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sym typeface="맑은 고딕" charset="0"/>
                          </a:rPr>
                          <m:t>𝑓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  <a:ea typeface="나눔스퀘어OTF" panose="020B0600000101010101" pitchFamily="34" charset="-127"/>
                            <a:sym typeface="맑은 고딕" charset="0"/>
                          </a:rPr>
                          <m:t>𝑛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  <a:ea typeface="나눔스퀘어OTF" panose="020B0600000101010101" pitchFamily="34" charset="-127"/>
                        <a:sym typeface="맑은 고딕" charset="0"/>
                      </a:rPr>
                      <m:t> </m:t>
                    </m:r>
                  </m:oMath>
                </a14:m>
                <a:r>
                  <a:rPr lang="en-US" altLang="ko-KR" sz="2400" b="0" dirty="0">
                    <a:solidFill>
                      <a:schemeClr val="tx1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sym typeface="맑은 고딕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  <a:ea typeface="나눔스퀘어OTF" panose="020B0600000101010101" pitchFamily="34" charset="-127"/>
                        <a:sym typeface="맑은 고딕" charset="0"/>
                      </a:rPr>
                      <m:t>𝜂</m:t>
                    </m:r>
                    <m:r>
                      <a:rPr lang="ko-KR" altLang="en-US" sz="2400" i="1" smtClean="0">
                        <a:latin typeface="Cambria Math" panose="02040503050406030204" pitchFamily="18" charset="0"/>
                        <a:ea typeface="나눔스퀘어OTF" panose="020B0600000101010101" pitchFamily="34" charset="-127"/>
                        <a:sym typeface="맑은 고딕" charset="0"/>
                      </a:rPr>
                      <m:t>∈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스퀘어OTF" panose="020B0600000101010101" pitchFamily="34" charset="-127"/>
                        <a:sym typeface="맑은 고딕" charset="0"/>
                      </a:rPr>
                      <m:t>(0,1)</m:t>
                    </m:r>
                    <m:r>
                      <a:rPr lang="ko-KR" altLang="en-US" sz="2400" i="1" smtClean="0">
                        <a:latin typeface="Cambria Math" panose="02040503050406030204" pitchFamily="18" charset="0"/>
                        <a:ea typeface="나눔스퀘어OTF" panose="020B0600000101010101" pitchFamily="34" charset="-127"/>
                        <a:sym typeface="맑은 고딕" charset="0"/>
                      </a:rPr>
                      <m:t> </m:t>
                    </m:r>
                  </m:oMath>
                </a14:m>
                <a:r>
                  <a:rPr lang="ko-KR" altLang="en-US" sz="2400" b="0" dirty="0">
                    <a:solidFill>
                      <a:schemeClr val="tx1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sym typeface="맑은 고딕" charset="0"/>
                  </a:rPr>
                  <a:t>로 업데이트</a:t>
                </a:r>
                <a:r>
                  <a:rPr lang="en-US" altLang="ko-KR" sz="2400" b="0" dirty="0">
                    <a:solidFill>
                      <a:schemeClr val="tx1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sym typeface="맑은 고딕" charset="0"/>
                  </a:rPr>
                  <a:t>.</a:t>
                </a:r>
                <a:endParaRPr lang="ko-KR" altLang="en-US" sz="2400" dirty="0">
                  <a:solidFill>
                    <a:schemeClr val="tx1"/>
                  </a:solidFill>
                  <a:latin typeface="나눔스퀘어OTF" panose="020B0600000101010101" pitchFamily="34" charset="-127"/>
                  <a:ea typeface="나눔스퀘어OTF" panose="020B0600000101010101" pitchFamily="34" charset="-127"/>
                  <a:sym typeface="맑은 고딕" charset="0"/>
                </a:endParaRPr>
              </a:p>
            </p:txBody>
          </p:sp>
        </mc:Choice>
        <mc:Fallback xmlns="">
          <p:sp>
            <p:nvSpPr>
              <p:cNvPr id="7" name="Rect 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025" y="1779905"/>
                <a:ext cx="10337165" cy="2215991"/>
              </a:xfrm>
              <a:prstGeom prst="rect">
                <a:avLst/>
              </a:prstGeom>
              <a:blipFill>
                <a:blip r:embed="rId2"/>
                <a:stretch>
                  <a:fillRect l="-1592" t="-4408" r="-59" b="-74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b="0" i="0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german</a:t>
            </a:r>
            <a:r>
              <a:rPr lang="en-US" altLang="ko-KR" sz="4400" b="0" i="0" spc="8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 </a:t>
            </a:r>
            <a:r>
              <a:rPr lang="en-US" altLang="ko-KR" sz="4400" b="0" i="0" spc="-2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dataset</a:t>
            </a:r>
            <a:endParaRPr lang="ko-KR" altLang="en-US" sz="4400" b="0" i="0" dirty="0">
              <a:latin typeface="나눔스퀘어OTF Bold" panose="020B0600000101010101" pitchFamily="34" charset="-127"/>
              <a:ea typeface="나눔스퀘어OTF Bold" panose="020B0600000101010101" pitchFamily="34" charset="-127"/>
              <a:sym typeface="맑은 고딕" charset="0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AD0F5E3-1BCC-489C-BE48-ECEDE077A73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8702040" cy="81597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355600" indent="-3429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sz="2400" b="0" dirty="0">
                <a:ea typeface="나눔스퀘어OTF" panose="020B0600000101010101" pitchFamily="34" charset="-127"/>
              </a:rPr>
              <a:t>Data Encoding and split</a:t>
            </a:r>
            <a:endParaRPr lang="ko-KR" altLang="en-US" sz="2400" b="0" dirty="0">
              <a:ea typeface="나눔스퀘어OTF" panose="020B0600000101010101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FDA653-34CE-48A7-9286-8C9DF807A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933" y="2641600"/>
            <a:ext cx="7586133" cy="366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28638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spc="-10" dirty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Gradient Boosting with </a:t>
            </a:r>
            <a:r>
              <a:rPr lang="en-US" altLang="ko-KR" sz="4400" spc="-10" dirty="0" err="1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xgboost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337165" cy="738664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나눔스퀘어OTF" panose="020B0600000101010101" pitchFamily="34" charset="-127"/>
                <a:ea typeface="나눔스퀘어OTF" panose="020B0600000101010101" pitchFamily="34" charset="-127"/>
                <a:sym typeface="맑은 고딕" charset="0"/>
              </a:rPr>
              <a:t>Fitting model and calculate </a:t>
            </a:r>
            <a:r>
              <a:rPr lang="en-US" altLang="ko-KR" sz="2400" dirty="0" err="1">
                <a:latin typeface="나눔스퀘어OTF" panose="020B0600000101010101" pitchFamily="34" charset="-127"/>
                <a:ea typeface="나눔스퀘어OTF" panose="020B0600000101010101" pitchFamily="34" charset="-127"/>
                <a:sym typeface="맑은 고딕" charset="0"/>
              </a:rPr>
              <a:t>mse</a:t>
            </a:r>
            <a:endParaRPr lang="en-US" altLang="ko-KR" sz="2400" dirty="0">
              <a:latin typeface="나눔스퀘어OTF" panose="020B0600000101010101" pitchFamily="34" charset="-127"/>
              <a:ea typeface="나눔스퀘어OTF" panose="020B0600000101010101" pitchFamily="34" charset="-127"/>
              <a:sym typeface="맑은 고딕" charset="0"/>
            </a:endParaRPr>
          </a:p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endParaRPr lang="ko-KR" altLang="en-US" sz="2400" dirty="0">
              <a:solidFill>
                <a:schemeClr val="tx1"/>
              </a:solidFill>
              <a:latin typeface="나눔스퀘어OTF" panose="020B0600000101010101" pitchFamily="34" charset="-127"/>
              <a:ea typeface="나눔스퀘어OTF" panose="020B0600000101010101" pitchFamily="34" charset="-127"/>
              <a:sym typeface="맑은 고딕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9BA0E14-585F-4753-AE7C-0FFA36C9B6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942"/>
          <a:stretch/>
        </p:blipFill>
        <p:spPr>
          <a:xfrm>
            <a:off x="838200" y="2839879"/>
            <a:ext cx="6573516" cy="233649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AFB6290-F87F-4829-B0E9-C5FB96C11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8872" y="2876472"/>
            <a:ext cx="2553056" cy="552527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9043242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ko-KR" sz="4400" spc="-10" dirty="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Gradient Boosting with </a:t>
            </a:r>
            <a:r>
              <a:rPr lang="en-US" altLang="ko-KR" sz="4400" spc="-10" dirty="0" err="1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xgboost</a:t>
            </a:r>
            <a:endParaRPr lang="ko-KR" altLang="en-US" sz="4400" dirty="0">
              <a:solidFill>
                <a:schemeClr val="tx1"/>
              </a:solidFill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095" cy="635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/>
          <p:cNvSpPr txBox="1">
            <a:spLocks/>
          </p:cNvSpPr>
          <p:nvPr/>
        </p:nvSpPr>
        <p:spPr>
          <a:xfrm>
            <a:off x="925830" y="1792605"/>
            <a:ext cx="9790430" cy="27699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21920" marR="5080" indent="-109855">
              <a:buClr>
                <a:srgbClr val="3333B2"/>
              </a:buClr>
              <a:buSzPct val="88888"/>
              <a:buFont typeface="Times New Roman"/>
              <a:buChar char="•"/>
              <a:tabLst>
                <a:tab pos="123190" algn="l"/>
              </a:tabLst>
            </a:pPr>
            <a:endParaRPr lang="ko-KR" altLang="en-US" sz="18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7" name="Rect 0"/>
          <p:cNvSpPr txBox="1">
            <a:spLocks/>
          </p:cNvSpPr>
          <p:nvPr/>
        </p:nvSpPr>
        <p:spPr>
          <a:xfrm>
            <a:off x="835025" y="1779905"/>
            <a:ext cx="10337165" cy="738664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r>
              <a:rPr lang="en-US" altLang="ko-KR" sz="2400" dirty="0">
                <a:latin typeface="+mn-ea"/>
                <a:sym typeface="맑은 고딕" charset="0"/>
              </a:rPr>
              <a:t>Calculate </a:t>
            </a:r>
            <a:r>
              <a:rPr lang="en-US" altLang="ko-KR" sz="2400" b="0" i="0" dirty="0">
                <a:solidFill>
                  <a:srgbClr val="383A42"/>
                </a:solidFill>
                <a:effectLst/>
                <a:latin typeface="+mn-ea"/>
              </a:rPr>
              <a:t>Feature Importance</a:t>
            </a:r>
            <a:endParaRPr lang="en-US" altLang="ko-KR" sz="2400" dirty="0">
              <a:latin typeface="+mn-ea"/>
              <a:sym typeface="맑은 고딕" charset="0"/>
            </a:endParaRPr>
          </a:p>
          <a:p>
            <a:pPr marL="355600" indent="-342900">
              <a:buFont typeface="Wingdings" panose="05000000000000000000" pitchFamily="2" charset="2"/>
              <a:buChar char="l"/>
              <a:tabLst>
                <a:tab pos="122555" algn="l"/>
              </a:tabLst>
            </a:pPr>
            <a:endParaRPr lang="ko-KR" altLang="en-US" sz="2400" dirty="0">
              <a:solidFill>
                <a:schemeClr val="tx1"/>
              </a:solidFill>
              <a:latin typeface="+mn-ea"/>
              <a:sym typeface="맑은 고딕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598D166-AC00-4610-B84E-7F27A4BF8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160" y="2409534"/>
            <a:ext cx="5173769" cy="385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34283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74650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직접해보기 </a:t>
            </a:r>
            <a:r>
              <a:rPr lang="en-US" altLang="ko-KR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–diabetes </a:t>
            </a:r>
            <a:r>
              <a:rPr lang="en-US" altLang="ko-KR" dirty="0" err="1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datset</a:t>
            </a:r>
            <a:endParaRPr lang="ko-KR" altLang="en-US" sz="4400" dirty="0"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cxnSp>
        <p:nvCxnSpPr>
          <p:cNvPr id="5" name="Rect 0"/>
          <p:cNvCxnSpPr/>
          <p:nvPr/>
        </p:nvCxnSpPr>
        <p:spPr>
          <a:xfrm>
            <a:off x="838200" y="1457960"/>
            <a:ext cx="2919730" cy="1270"/>
          </a:xfrm>
          <a:prstGeom prst="line">
            <a:avLst/>
          </a:prstGeom>
          <a:ln w="3810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 0">
            <a:extLst>
              <a:ext uri="{FF2B5EF4-FFF2-40B4-BE49-F238E27FC236}">
                <a16:creationId xmlns:a16="http://schemas.microsoft.com/office/drawing/2014/main" id="{FC53A1D4-3884-4670-A4E2-DD8FC3CB769A}"/>
              </a:ext>
            </a:extLst>
          </p:cNvPr>
          <p:cNvSpPr txBox="1">
            <a:spLocks/>
          </p:cNvSpPr>
          <p:nvPr/>
        </p:nvSpPr>
        <p:spPr>
          <a:xfrm>
            <a:off x="913130" y="1691640"/>
            <a:ext cx="10441940" cy="1846659"/>
          </a:xfrm>
          <a:prstGeom prst="rect">
            <a:avLst/>
          </a:prstGeom>
          <a:noFill/>
        </p:spPr>
        <p:txBody>
          <a:bodyPr vert="horz" wrap="square" lIns="0" tIns="0" rIns="0" bIns="0" numCol="1" anchor="t">
            <a:spAutoFit/>
          </a:bodyPr>
          <a:lstStyle/>
          <a:p>
            <a:pPr marL="472440" indent="-342900">
              <a:buFont typeface="Wingdings" panose="05000000000000000000" pitchFamily="2" charset="2"/>
              <a:buChar char="l"/>
              <a:tabLst>
                <a:tab pos="239395" algn="l"/>
              </a:tabLst>
            </a:pPr>
            <a:r>
              <a:rPr lang="en-US" altLang="ko-KR" sz="2000">
                <a:latin typeface="+mn-ea"/>
              </a:rPr>
              <a:t>diabetes </a:t>
            </a:r>
            <a:r>
              <a:rPr lang="ko-KR" altLang="en-US" sz="2000" dirty="0">
                <a:latin typeface="+mn-ea"/>
              </a:rPr>
              <a:t>데이터를 불러온다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marL="472440" indent="-342900">
              <a:buFont typeface="Wingdings" panose="05000000000000000000" pitchFamily="2" charset="2"/>
              <a:buChar char="l"/>
              <a:tabLst>
                <a:tab pos="239395" algn="l"/>
              </a:tabLst>
            </a:pPr>
            <a:r>
              <a:rPr lang="en-US" altLang="ko-KR" sz="2000" dirty="0">
                <a:latin typeface="+mn-ea"/>
              </a:rPr>
              <a:t>Bootstrapping</a:t>
            </a:r>
            <a:r>
              <a:rPr lang="ko-KR" altLang="en-US" sz="2000" dirty="0">
                <a:latin typeface="+mn-ea"/>
              </a:rPr>
              <a:t>을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통한 </a:t>
            </a:r>
            <a:r>
              <a:rPr lang="en-US" altLang="ko-KR" sz="2000" dirty="0">
                <a:latin typeface="+mn-ea"/>
              </a:rPr>
              <a:t>Lasso regression</a:t>
            </a:r>
            <a:r>
              <a:rPr lang="ko-KR" altLang="en-US" sz="2000" dirty="0">
                <a:latin typeface="+mn-ea"/>
              </a:rPr>
              <a:t>사용한다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marL="472440" indent="-342900">
              <a:buFont typeface="Wingdings" panose="05000000000000000000" pitchFamily="2" charset="2"/>
              <a:buChar char="l"/>
              <a:tabLst>
                <a:tab pos="239395" algn="l"/>
              </a:tabLst>
            </a:pPr>
            <a:r>
              <a:rPr lang="en-US" altLang="ko-KR" sz="2000" dirty="0">
                <a:latin typeface="+mn-ea"/>
              </a:rPr>
              <a:t>Lasso</a:t>
            </a:r>
            <a:r>
              <a:rPr lang="ko-KR" altLang="en-US" sz="2000" dirty="0">
                <a:latin typeface="+mn-ea"/>
              </a:rPr>
              <a:t>에서는 </a:t>
            </a:r>
            <a:r>
              <a:rPr lang="en-US" altLang="ko-KR" sz="2000" dirty="0">
                <a:latin typeface="+mn-ea"/>
              </a:rPr>
              <a:t>regression coefficient</a:t>
            </a:r>
            <a:r>
              <a:rPr lang="ko-KR" altLang="en-US" sz="2000" dirty="0">
                <a:latin typeface="+mn-ea"/>
              </a:rPr>
              <a:t>가 </a:t>
            </a:r>
            <a:r>
              <a:rPr lang="en-US" altLang="ko-KR" sz="2000" dirty="0">
                <a:latin typeface="+mn-ea"/>
              </a:rPr>
              <a:t>0</a:t>
            </a:r>
            <a:r>
              <a:rPr lang="ko-KR" altLang="en-US" sz="2000" dirty="0">
                <a:latin typeface="+mn-ea"/>
              </a:rPr>
              <a:t>인지 아닌지를 판별 할 수 있다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marL="472440" indent="-342900">
              <a:buFont typeface="Wingdings" panose="05000000000000000000" pitchFamily="2" charset="2"/>
              <a:buChar char="l"/>
              <a:tabLst>
                <a:tab pos="239395" algn="l"/>
              </a:tabLst>
            </a:pPr>
            <a:r>
              <a:rPr lang="en-US" altLang="ko-KR" sz="2000" dirty="0">
                <a:latin typeface="+mn-ea"/>
              </a:rPr>
              <a:t>Bootstrapping</a:t>
            </a:r>
            <a:r>
              <a:rPr lang="ko-KR" altLang="en-US" sz="2000" dirty="0">
                <a:latin typeface="+mn-ea"/>
              </a:rPr>
              <a:t>에 의한 각 </a:t>
            </a:r>
            <a:r>
              <a:rPr lang="ko-KR" altLang="en-US" sz="2000" dirty="0" err="1">
                <a:latin typeface="+mn-ea"/>
              </a:rPr>
              <a:t>모델들에서</a:t>
            </a:r>
            <a:r>
              <a:rPr lang="ko-KR" altLang="en-US" sz="2000" dirty="0">
                <a:latin typeface="+mn-ea"/>
              </a:rPr>
              <a:t> 변수의 </a:t>
            </a:r>
            <a:r>
              <a:rPr lang="en-US" altLang="ko-KR" sz="2000" dirty="0">
                <a:latin typeface="+mn-ea"/>
              </a:rPr>
              <a:t>regression coefficient</a:t>
            </a:r>
            <a:r>
              <a:rPr lang="ko-KR" altLang="en-US" sz="2000" dirty="0">
                <a:latin typeface="+mn-ea"/>
              </a:rPr>
              <a:t>가 </a:t>
            </a:r>
            <a:r>
              <a:rPr lang="en-US" altLang="ko-KR" sz="2000" dirty="0">
                <a:latin typeface="+mn-ea"/>
              </a:rPr>
              <a:t>0</a:t>
            </a:r>
            <a:r>
              <a:rPr lang="ko-KR" altLang="en-US" sz="2000" dirty="0">
                <a:latin typeface="+mn-ea"/>
              </a:rPr>
              <a:t>인지 아닌지 저장한다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marL="472440" indent="-342900">
              <a:buFont typeface="Wingdings" panose="05000000000000000000" pitchFamily="2" charset="2"/>
              <a:buChar char="l"/>
              <a:tabLst>
                <a:tab pos="239395" algn="l"/>
              </a:tabLst>
            </a:pPr>
            <a:r>
              <a:rPr lang="en-US" altLang="ko-KR" sz="2000" dirty="0">
                <a:latin typeface="+mn-ea"/>
              </a:rPr>
              <a:t>1000</a:t>
            </a:r>
            <a:r>
              <a:rPr lang="ko-KR" altLang="en-US" sz="2000" dirty="0">
                <a:latin typeface="+mn-ea"/>
              </a:rPr>
              <a:t>번의 </a:t>
            </a:r>
            <a:r>
              <a:rPr lang="en-US" altLang="ko-KR" sz="2000" dirty="0" err="1">
                <a:latin typeface="+mn-ea"/>
              </a:rPr>
              <a:t>boostrap</a:t>
            </a:r>
            <a:r>
              <a:rPr lang="ko-KR" altLang="en-US" sz="2000" dirty="0">
                <a:latin typeface="+mn-ea"/>
              </a:rPr>
              <a:t>을 한 뒤 </a:t>
            </a:r>
            <a:r>
              <a:rPr lang="en-US" altLang="ko-KR" sz="2000" dirty="0">
                <a:latin typeface="+mn-ea"/>
              </a:rPr>
              <a:t>0</a:t>
            </a:r>
            <a:r>
              <a:rPr lang="ko-KR" altLang="en-US" sz="2000" dirty="0">
                <a:latin typeface="+mn-ea"/>
              </a:rPr>
              <a:t>이 아닌 </a:t>
            </a:r>
            <a:r>
              <a:rPr lang="en-US" altLang="ko-KR" sz="2000" dirty="0">
                <a:latin typeface="+mn-ea"/>
              </a:rPr>
              <a:t>regression coefficient</a:t>
            </a:r>
            <a:r>
              <a:rPr lang="ko-KR" altLang="en-US" sz="2000" dirty="0">
                <a:latin typeface="+mn-ea"/>
              </a:rPr>
              <a:t>를 가진 비율을 조사하라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marL="472440" indent="-342900">
              <a:buFont typeface="Wingdings" panose="05000000000000000000" pitchFamily="2" charset="2"/>
              <a:buChar char="l"/>
              <a:tabLst>
                <a:tab pos="239395" algn="l"/>
              </a:tabLst>
            </a:pPr>
            <a:r>
              <a:rPr lang="en-US" altLang="ko-KR" sz="2000" dirty="0">
                <a:latin typeface="+mn-ea"/>
              </a:rPr>
              <a:t>Lasso</a:t>
            </a:r>
            <a:r>
              <a:rPr lang="ko-KR" altLang="en-US" sz="2000" dirty="0">
                <a:latin typeface="+mn-ea"/>
              </a:rPr>
              <a:t>에서 </a:t>
            </a:r>
            <a:r>
              <a:rPr lang="en-US" altLang="ko-KR" sz="2000" dirty="0">
                <a:latin typeface="+mn-ea"/>
              </a:rPr>
              <a:t>alpha</a:t>
            </a:r>
            <a:r>
              <a:rPr lang="ko-KR" altLang="en-US" sz="2000" dirty="0">
                <a:latin typeface="+mn-ea"/>
              </a:rPr>
              <a:t>값은 </a:t>
            </a:r>
            <a:r>
              <a:rPr lang="en-US" altLang="ko-KR" sz="2000" dirty="0">
                <a:latin typeface="+mn-ea"/>
              </a:rPr>
              <a:t>0.01</a:t>
            </a:r>
            <a:r>
              <a:rPr lang="ko-KR" altLang="en-US" sz="2000" dirty="0">
                <a:latin typeface="+mn-ea"/>
              </a:rPr>
              <a:t>로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통일한다</a:t>
            </a:r>
            <a:r>
              <a:rPr lang="en-US" altLang="ko-KR" sz="2000">
                <a:latin typeface="+mn-ea"/>
              </a:rPr>
              <a:t>.</a:t>
            </a:r>
            <a:endParaRPr lang="en-US" altLang="ko-KR" sz="2000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3622920-24A8-4AC5-B102-E7BA739BDD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637"/>
          <a:stretch/>
        </p:blipFill>
        <p:spPr>
          <a:xfrm>
            <a:off x="2237846" y="3776272"/>
            <a:ext cx="7716308" cy="17937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7">
      <a:majorFont>
        <a:latin typeface="나눔스퀘어OTF ExtraBold"/>
        <a:ea typeface="나눔스퀘어OTF ExtraBold"/>
        <a:cs typeface=""/>
      </a:majorFont>
      <a:minorFont>
        <a:latin typeface="나눔스퀘어OTF"/>
        <a:ea typeface="나눔스퀘어OTF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4155</TotalTime>
  <Words>1680</Words>
  <Application>Microsoft Office PowerPoint</Application>
  <PresentationFormat>와이드스크린</PresentationFormat>
  <Paragraphs>278</Paragraphs>
  <Slides>69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69</vt:i4>
      </vt:variant>
    </vt:vector>
  </HeadingPairs>
  <TitlesOfParts>
    <vt:vector size="80" baseType="lpstr">
      <vt:lpstr>Arial</vt:lpstr>
      <vt:lpstr>Times New Roman</vt:lpstr>
      <vt:lpstr>나눔스퀘어OTF Bold</vt:lpstr>
      <vt:lpstr>나눔스퀘어OTF ExtraBold</vt:lpstr>
      <vt:lpstr>Wingdings</vt:lpstr>
      <vt:lpstr>맑은 고딕</vt:lpstr>
      <vt:lpstr>Consolas</vt:lpstr>
      <vt:lpstr>맑은 고딕</vt:lpstr>
      <vt:lpstr>나눔스퀘어OTF</vt:lpstr>
      <vt:lpstr>Cambria Math</vt:lpstr>
      <vt:lpstr>Office 테마</vt:lpstr>
      <vt:lpstr>우리금융 실습  2주차</vt:lpstr>
      <vt:lpstr>목차</vt:lpstr>
      <vt:lpstr>Ridge and Lasso</vt:lpstr>
      <vt:lpstr>Ridge and Lasso</vt:lpstr>
      <vt:lpstr>Ridge and Lasso – diabetes dataset</vt:lpstr>
      <vt:lpstr>Ridge and Lasso – Ridge</vt:lpstr>
      <vt:lpstr>Ridge and Lasso – Ridge</vt:lpstr>
      <vt:lpstr>Ridge and Lasso – Ridge</vt:lpstr>
      <vt:lpstr>Ridge and Lasso – Ridge</vt:lpstr>
      <vt:lpstr>Ridge and Lasso – Lasso</vt:lpstr>
      <vt:lpstr>Ridge and Lasso – Lasso</vt:lpstr>
      <vt:lpstr>Ridge and Lasso – Lasso</vt:lpstr>
      <vt:lpstr>Elastic Net</vt:lpstr>
      <vt:lpstr>Elastic Net – Cross-validation</vt:lpstr>
      <vt:lpstr>Fused lasso for Image denoising</vt:lpstr>
      <vt:lpstr>Fused lasso for Image denoising</vt:lpstr>
      <vt:lpstr>Fused lasso for Image denoising</vt:lpstr>
      <vt:lpstr>Fused lasso for Image denoising</vt:lpstr>
      <vt:lpstr>Fused lasso for Image denoising</vt:lpstr>
      <vt:lpstr>직접해보기 – boston dataset</vt:lpstr>
      <vt:lpstr>직접해보기 – boston dataset</vt:lpstr>
      <vt:lpstr>직접해보기 – boston dataset</vt:lpstr>
      <vt:lpstr>직접해보기 – boston dataset</vt:lpstr>
      <vt:lpstr>직접해보기 – boston dataset</vt:lpstr>
      <vt:lpstr>직접해보기 – boston dataset</vt:lpstr>
      <vt:lpstr>의사결정나무</vt:lpstr>
      <vt:lpstr>Hitters dataset</vt:lpstr>
      <vt:lpstr>Hitters dataset</vt:lpstr>
      <vt:lpstr>의사결정나무: regression</vt:lpstr>
      <vt:lpstr>의사결정나무: regression</vt:lpstr>
      <vt:lpstr>의사결정나무: regression</vt:lpstr>
      <vt:lpstr>german dataset</vt:lpstr>
      <vt:lpstr>german dataset</vt:lpstr>
      <vt:lpstr>german dataset</vt:lpstr>
      <vt:lpstr>Calculate Accuracy</vt:lpstr>
      <vt:lpstr>german with decision tree</vt:lpstr>
      <vt:lpstr>Pruning, 가지치기 </vt:lpstr>
      <vt:lpstr>Pruning, 가지치기 </vt:lpstr>
      <vt:lpstr>Pruning, 가지치기 </vt:lpstr>
      <vt:lpstr>Pruning, 가지치기 </vt:lpstr>
      <vt:lpstr>Pruning, 가지치기 </vt:lpstr>
      <vt:lpstr>Pruning, 가지치기 </vt:lpstr>
      <vt:lpstr>Pruning, 가지치기 </vt:lpstr>
      <vt:lpstr>Pruning, 가지치기 </vt:lpstr>
      <vt:lpstr>직접해보기 –tips dataset</vt:lpstr>
      <vt:lpstr>Import library</vt:lpstr>
      <vt:lpstr>California Housing Data</vt:lpstr>
      <vt:lpstr>Boostrapping</vt:lpstr>
      <vt:lpstr>Boostrapping</vt:lpstr>
      <vt:lpstr>Boostrapping</vt:lpstr>
      <vt:lpstr>Boostrapping</vt:lpstr>
      <vt:lpstr>Bagging with multiple linear regression</vt:lpstr>
      <vt:lpstr>Bagging with multiple linear regression</vt:lpstr>
      <vt:lpstr>Bagging with multiple linear regression</vt:lpstr>
      <vt:lpstr>Random Forest</vt:lpstr>
      <vt:lpstr>Random Forest</vt:lpstr>
      <vt:lpstr>Random Forest</vt:lpstr>
      <vt:lpstr>Random Forest</vt:lpstr>
      <vt:lpstr>Random Forest</vt:lpstr>
      <vt:lpstr>AdaBoost</vt:lpstr>
      <vt:lpstr>german dataset</vt:lpstr>
      <vt:lpstr>AdaBoost</vt:lpstr>
      <vt:lpstr>AdaBoost</vt:lpstr>
      <vt:lpstr>AdaBoost</vt:lpstr>
      <vt:lpstr>Gradient Boosting with xgboost</vt:lpstr>
      <vt:lpstr>german dataset</vt:lpstr>
      <vt:lpstr>Gradient Boosting with xgboost</vt:lpstr>
      <vt:lpstr>Gradient Boosting with xgboost</vt:lpstr>
      <vt:lpstr>직접해보기 –diabetes datset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데이터마이닝 실습  1주차</dc:title>
  <dc:creator>Kyungseon</dc:creator>
  <cp:lastModifiedBy>User</cp:lastModifiedBy>
  <cp:revision>74</cp:revision>
  <dcterms:created xsi:type="dcterms:W3CDTF">2025-03-11T08:13:46Z</dcterms:created>
  <dcterms:modified xsi:type="dcterms:W3CDTF">2026-08-27T01:22:21Z</dcterms:modified>
</cp:coreProperties>
</file>