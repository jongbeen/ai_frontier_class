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8" r:id="rId1"/>
  </p:sldMasterIdLst>
  <p:notesMasterIdLst>
    <p:notesMasterId r:id="rId16"/>
  </p:notesMasterIdLst>
  <p:sldIdLst>
    <p:sldId id="256" r:id="rId2"/>
    <p:sldId id="525" r:id="rId3"/>
    <p:sldId id="561" r:id="rId4"/>
    <p:sldId id="560" r:id="rId5"/>
    <p:sldId id="562" r:id="rId6"/>
    <p:sldId id="563" r:id="rId7"/>
    <p:sldId id="565" r:id="rId8"/>
    <p:sldId id="564" r:id="rId9"/>
    <p:sldId id="566" r:id="rId10"/>
    <p:sldId id="572" r:id="rId11"/>
    <p:sldId id="567" r:id="rId12"/>
    <p:sldId id="569" r:id="rId13"/>
    <p:sldId id="573" r:id="rId14"/>
    <p:sldId id="574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660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4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7035" cy="3086735"/>
          </a:xfrm>
          <a:prstGeom prst="rect">
            <a:avLst/>
          </a:prstGeom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76200" tIns="76200" rIns="76200" bIns="76200" anchor="t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" name="텍스트 개체 틀 44"/>
          <p:cNvSpPr txBox="1">
            <a:spLocks noGrp="1"/>
          </p:cNvSpPr>
          <p:nvPr>
            <p:ph type="body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  <a:noFill/>
        </p:spPr>
        <p:txBody>
          <a:bodyPr vert="horz" wrap="square" lIns="76200" tIns="76200" rIns="76200" bIns="76200" anchor="t">
            <a:noAutofit/>
          </a:bodyPr>
          <a:lstStyle/>
          <a:p>
            <a:pPr marL="0" indent="0" algn="l" hangingPunct="1"/>
            <a:r>
              <a:rPr sz="1800" dirty="0" err="1">
                <a:latin typeface="맑은 고딕" charset="0"/>
                <a:ea typeface="맑은 고딕" charset="0"/>
              </a:rPr>
              <a:t>마스터</a:t>
            </a:r>
            <a:r>
              <a:rPr sz="1800" dirty="0">
                <a:latin typeface="맑은 고딕" charset="0"/>
                <a:ea typeface="맑은 고딕" charset="0"/>
              </a:rPr>
              <a:t> </a:t>
            </a:r>
            <a:r>
              <a:rPr sz="1800" dirty="0" err="1">
                <a:latin typeface="맑은 고딕" charset="0"/>
                <a:ea typeface="맑은 고딕" charset="0"/>
              </a:rPr>
              <a:t>텍스트</a:t>
            </a:r>
            <a:r>
              <a:rPr sz="1800" dirty="0">
                <a:latin typeface="맑은 고딕" charset="0"/>
                <a:ea typeface="맑은 고딕" charset="0"/>
              </a:rPr>
              <a:t> </a:t>
            </a:r>
            <a:r>
              <a:rPr sz="1800" dirty="0" err="1">
                <a:latin typeface="맑은 고딕" charset="0"/>
                <a:ea typeface="맑은 고딕" charset="0"/>
              </a:rPr>
              <a:t>스타일을</a:t>
            </a:r>
            <a:r>
              <a:rPr sz="1800" dirty="0">
                <a:latin typeface="맑은 고딕" charset="0"/>
                <a:ea typeface="맑은 고딕" charset="0"/>
              </a:rPr>
              <a:t> </a:t>
            </a:r>
            <a:r>
              <a:rPr sz="1800" dirty="0" err="1">
                <a:latin typeface="맑은 고딕" charset="0"/>
                <a:ea typeface="맑은 고딕" charset="0"/>
              </a:rPr>
              <a:t>편집합니다</a:t>
            </a:r>
            <a:endParaRPr lang="ko-KR" altLang="en-US" sz="1800" dirty="0">
              <a:latin typeface="맑은 고딕" charset="0"/>
              <a:ea typeface="맑은 고딕" charset="0"/>
            </a:endParaRPr>
          </a:p>
          <a:p>
            <a:pPr marL="0" lvl="1" indent="0" rtl="0"/>
            <a:r>
              <a:rPr dirty="0" err="1"/>
              <a:t>둘째</a:t>
            </a:r>
            <a:r>
              <a:rPr dirty="0"/>
              <a:t> </a:t>
            </a:r>
            <a:r>
              <a:rPr dirty="0" err="1"/>
              <a:t>수준</a:t>
            </a:r>
            <a:endParaRPr lang="ko-KR" altLang="en-US" dirty="0"/>
          </a:p>
          <a:p>
            <a:pPr marL="0" lvl="2" indent="0" rtl="0"/>
            <a:r>
              <a:rPr dirty="0" err="1"/>
              <a:t>셋째</a:t>
            </a:r>
            <a:r>
              <a:rPr dirty="0"/>
              <a:t> </a:t>
            </a:r>
            <a:r>
              <a:rPr dirty="0" err="1"/>
              <a:t>수준</a:t>
            </a:r>
            <a:endParaRPr lang="ko-KR" altLang="en-US" dirty="0"/>
          </a:p>
          <a:p>
            <a:pPr marL="0" lvl="3" indent="0" rtl="0"/>
            <a:r>
              <a:rPr dirty="0" err="1"/>
              <a:t>넷째</a:t>
            </a:r>
            <a:r>
              <a:rPr dirty="0"/>
              <a:t> </a:t>
            </a:r>
            <a:r>
              <a:rPr dirty="0" err="1"/>
              <a:t>수준</a:t>
            </a:r>
            <a:endParaRPr lang="ko-KR" altLang="en-US" dirty="0"/>
          </a:p>
          <a:p>
            <a:pPr marL="0" lvl="4" indent="0" rtl="0"/>
            <a:r>
              <a:rPr dirty="0" err="1"/>
              <a:t>다섯째</a:t>
            </a:r>
            <a:r>
              <a:rPr dirty="0"/>
              <a:t> </a:t>
            </a:r>
            <a:r>
              <a:rPr dirty="0" err="1"/>
              <a:t>수준</a:t>
            </a:r>
            <a:endParaRPr lang="ko-KR" altLang="en-US" dirty="0"/>
          </a:p>
        </p:txBody>
      </p:sp>
      <p:sp>
        <p:nvSpPr>
          <p:cNvPr id="7" name="머리글 갤체 틀 45"/>
          <p:cNvSpPr txBox="1">
            <a:spLocks noGrp="1"/>
          </p:cNvSpPr>
          <p:nvPr>
            <p:ph type="hdr"/>
          </p:nvPr>
        </p:nvSpPr>
        <p:spPr>
          <a:xfrm>
            <a:off x="0" y="0"/>
            <a:ext cx="2972435" cy="459740"/>
          </a:xfrm>
          <a:prstGeom prst="rect">
            <a:avLst/>
          </a:prstGeom>
          <a:noFill/>
        </p:spPr>
        <p:txBody>
          <a:bodyPr vert="horz" wrap="square" lIns="76200" tIns="76200" rIns="76200" bIns="76200" anchor="t">
            <a:noAutofit/>
          </a:bodyPr>
          <a:lstStyle>
            <a:lvl1pPr marL="0" indent="0" algn="l">
              <a:defRPr lang="en-GB" altLang="en-US" sz="1200">
                <a:latin typeface="나눔스퀘어OTF" panose="020B0600000101010101" pitchFamily="34" charset="-127"/>
                <a:ea typeface="나눔스퀘어OTF" panose="020B0600000101010101" pitchFamily="34" charset="-127"/>
              </a:defRPr>
            </a:lvl1pPr>
          </a:lstStyle>
          <a:p>
            <a:endParaRPr lang="ko-KR" dirty="0"/>
          </a:p>
        </p:txBody>
      </p:sp>
      <p:sp>
        <p:nvSpPr>
          <p:cNvPr id="8" name="바닥글 개체 틀 46"/>
          <p:cNvSpPr txBox="1">
            <a:spLocks noGrp="1"/>
          </p:cNvSpPr>
          <p:nvPr>
            <p:ph type="ftr"/>
          </p:nvPr>
        </p:nvSpPr>
        <p:spPr>
          <a:xfrm>
            <a:off x="0" y="8685530"/>
            <a:ext cx="2972435" cy="459105"/>
          </a:xfrm>
          <a:prstGeom prst="rect">
            <a:avLst/>
          </a:prstGeom>
          <a:noFill/>
        </p:spPr>
        <p:txBody>
          <a:bodyPr vert="horz" wrap="square" lIns="76200" tIns="76200" rIns="76200" bIns="76200" anchor="b">
            <a:noAutofit/>
          </a:bodyPr>
          <a:lstStyle>
            <a:lvl1pPr marL="0" indent="0" algn="l">
              <a:defRPr lang="en-GB" altLang="en-US" sz="1200">
                <a:latin typeface="나눔스퀘어OTF" panose="020B0600000101010101" pitchFamily="34" charset="-127"/>
                <a:ea typeface="나눔스퀘어OTF" panose="020B0600000101010101" pitchFamily="34" charset="-127"/>
              </a:defRPr>
            </a:lvl1pPr>
          </a:lstStyle>
          <a:p>
            <a:endParaRPr lang="ko-KR" dirty="0"/>
          </a:p>
        </p:txBody>
      </p:sp>
      <p:sp>
        <p:nvSpPr>
          <p:cNvPr id="9" name="날짜 개체 틀 47"/>
          <p:cNvSpPr txBox="1">
            <a:spLocks noGrp="1"/>
          </p:cNvSpPr>
          <p:nvPr>
            <p:ph type="dt"/>
          </p:nvPr>
        </p:nvSpPr>
        <p:spPr>
          <a:xfrm>
            <a:off x="3884930" y="0"/>
            <a:ext cx="2972435" cy="459740"/>
          </a:xfrm>
          <a:prstGeom prst="rect">
            <a:avLst/>
          </a:prstGeom>
          <a:noFill/>
        </p:spPr>
        <p:txBody>
          <a:bodyPr vert="horz" wrap="square" lIns="76200" tIns="76200" rIns="76200" bIns="76200" anchor="t">
            <a:noAutofit/>
          </a:bodyPr>
          <a:lstStyle>
            <a:lvl1pPr marL="0" indent="0" algn="r">
              <a:defRPr lang="en-GB" altLang="en-US" sz="1200">
                <a:latin typeface="나눔스퀘어OTF" panose="020B0600000101010101" pitchFamily="34" charset="-127"/>
                <a:ea typeface="나눔스퀘어OTF" panose="020B0600000101010101" pitchFamily="34" charset="-127"/>
              </a:defRPr>
            </a:lvl1pPr>
          </a:lstStyle>
          <a:p>
            <a:fld id="{B9320F77-B9A0-41C5-862A-B4B631284C64}" type="datetime1">
              <a:rPr lang="en-US" altLang="ko-KR" smtClean="0"/>
              <a:pPr/>
              <a:t>9/4/2026</a:t>
            </a:fld>
            <a:endParaRPr lang="ko-KR" dirty="0"/>
          </a:p>
        </p:txBody>
      </p:sp>
      <p:sp>
        <p:nvSpPr>
          <p:cNvPr id="10" name="슬라이드 번호 개체 틀 48"/>
          <p:cNvSpPr txBox="1">
            <a:spLocks noGrp="1"/>
          </p:cNvSpPr>
          <p:nvPr>
            <p:ph type="sldNum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  <a:noFill/>
        </p:spPr>
        <p:txBody>
          <a:bodyPr vert="horz" wrap="square" lIns="76200" tIns="76200" rIns="76200" bIns="76200" anchor="b">
            <a:noAutofit/>
          </a:bodyPr>
          <a:lstStyle>
            <a:lvl1pPr marL="0" indent="0" algn="r">
              <a:defRPr lang="en-GB" altLang="en-US" sz="1200">
                <a:latin typeface="나눔스퀘어OTF" panose="020B0600000101010101" pitchFamily="34" charset="-127"/>
                <a:ea typeface="나눔스퀘어OTF" panose="020B0600000101010101" pitchFamily="34" charset="-127"/>
              </a:defRPr>
            </a:lvl1pPr>
          </a:lstStyle>
          <a:p>
            <a:pPr algn="l"/>
            <a:fld id="{B9320F77-B9A0-41C5-862A-B4B631284C64}" type="slidenum">
              <a:rPr lang="en-US" altLang="ko-KR" smtClean="0"/>
              <a:pPr algn="l"/>
              <a:t>‹#›</a:t>
            </a:fld>
            <a:endParaRPr 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나눔스퀘어OTF" panose="020B0600000101010101" pitchFamily="34" charset="-127"/>
        <a:ea typeface="나눔스퀘어OTF" panose="020B0600000101010101" pitchFamily="34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스퀘어OTF" panose="020B0600000101010101" pitchFamily="34" charset="-127"/>
        <a:ea typeface="나눔스퀘어OTF" panose="020B0600000101010101" pitchFamily="34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스퀘어OTF" panose="020B0600000101010101" pitchFamily="34" charset="-127"/>
        <a:ea typeface="나눔스퀘어OTF" panose="020B0600000101010101" pitchFamily="34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스퀘어OTF" panose="020B0600000101010101" pitchFamily="34" charset="-127"/>
        <a:ea typeface="나눔스퀘어OTF" panose="020B0600000101010101" pitchFamily="34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스퀘어OTF" panose="020B0600000101010101" pitchFamily="34" charset="-127"/>
        <a:ea typeface="나눔스퀘어OTF" panose="020B0600000101010101" pitchFamily="34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841820-B93E-4BD1-9A45-FB2586DF7A7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나눔스퀘어OTF Bold" panose="020B0600000101010101" pitchFamily="34" charset="-127"/>
                <a:ea typeface="나눔스퀘어OTF Bold" panose="020B0600000101010101" pitchFamily="34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s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300FF20-CD9F-4AFF-8F90-DC92AA5F58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361B00-D5BE-4F58-B130-9EADD1FA6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FB9C45-B895-4712-9458-01843B0A2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BC6F7E-8F79-4D55-BBEE-505394EC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8925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5EFAE5-B006-425B-8778-FAC71E95A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FADBAF-CFCC-405F-8532-2B55C9BB5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35229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5EBF6C-638B-484A-99E1-F85ABB3791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/>
          <a:lstStyle/>
          <a:p>
            <a:fld id="{10232099-8D81-41B5-ACC9-A719EB423CB0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39FC65-0257-4F6F-916E-F284EE2E4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AEDEFA-2EE8-4DCF-A464-14C6552B6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7384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BB2DCB-7969-43AA-8BB2-7C5DDDE36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8C9B35-6CF4-41CB-8877-483E6C933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B45DAB-F08E-46B0-AA46-B08A890E1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21FF68-A1EC-4859-8187-8EA6C5146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E02601-40B6-41F6-86BA-9F630BB5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57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F5B84A-E9B7-4440-8424-7839BF776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06B6F1-DE2F-4DF0-8C40-32982EA43F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3C75F4-9251-49F4-8565-612A5462D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F06E91-A87C-4A09-B8E4-F42B71373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5C94C7-28F2-4716-8A43-83A3D8FFE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0A544E-E686-4FA7-9ED8-D7D6DF2A3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246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B78D96-4828-495F-BE8E-74BFC2B04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6D5E08-3119-4E57-B7C7-D6B40929B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70CFAF-BE6B-4316-BFDB-263029984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83650D3-4F0B-458A-BC88-3F0179E752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EC74E43-ECEE-48A5-B52C-AF8DFEEE6C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8D68631-25C3-422D-9356-A4EA2FB42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13D1474-3A38-417C-93ED-88100D6B2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CFCAD0D-82D2-4F9F-85DA-6F0788825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6039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837C51-DF11-4851-B6FF-13FDBA3E0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A59584B-C1F5-471B-BA97-7030EFA73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10916A8-D4BB-4EE7-986D-FD3B091B0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C496833-1563-45D0-9F9D-A4E8B392F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3563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0D7DF54-32F4-4D74-924F-1F7028430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F5D32FA-5368-4E2D-9AE8-1F99D92BF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F9BC50-4558-4521-AF3B-32CCA50B9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1831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616229-EE88-4AF3-AF80-128D1BC26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35487A-4A89-4221-BCB8-D95A3FA1D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879F24-D5D2-48DD-9FF3-BFC4DF5C4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284DDE-C71E-4D6C-AA0E-0809FAE13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627055-AD37-4E5A-B735-BAD8B4E74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187225-F055-4BBD-9F83-D3A2DD5B1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048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8604E1-0E9C-4282-A0F4-0E995EC8D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AFEE94F-570E-4C5A-82F8-148E4DEB9E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50FC1E-B25C-4590-B86F-42072749C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040AF1-E7A2-4FCF-AD1E-8892DCFB6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B34AEA-E26C-4219-9C4A-D1AC1164B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B62DA4-C7D4-4813-A870-9596AC6C8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708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6EAA4C-6BAD-409E-814C-8E7356772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AFFABCD-3AD1-4139-B43E-EE0972DFB1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A4989F-456A-46B2-969E-686B17D19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C008F5-1BA2-4FD7-837D-579B62D3B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77A758-4CC5-40E1-A593-BA0D99CCA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320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50273E5-CA10-45D1-AE1C-E40B8C46B0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150514-1DDB-41D5-AE2D-B72484F89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FF823C-A86A-4557-B345-9CD385627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E26626-56C9-4A65-A9BE-80A971D8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AF38CF-83F9-4FAC-AC4C-41DFC6688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587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FAF3EC9-674B-4DE7-9DB8-3E1FFAEA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06981D-268B-4C5A-9733-0298D4184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B0A6F6-BB7A-4662-B32F-3533FFA57C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스퀘어OTF" panose="020B0600000101010101" pitchFamily="34" charset="-127"/>
              </a:defRPr>
            </a:lvl1pPr>
          </a:lstStyle>
          <a:p>
            <a:fld id="{10232099-8D81-41B5-ACC9-A719EB423CB0}" type="datetimeFigureOut">
              <a:rPr lang="ko-KR" altLang="en-US" smtClean="0"/>
              <a:pPr/>
              <a:t>2026-09-04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AC5F66-6E80-4E25-A499-0BA5BCA2CD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스퀘어OTF" panose="020B0600000101010101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4B61F3-D4DF-492F-8F54-415868737A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스퀘어OTF" panose="020B0600000101010101" pitchFamily="34" charset="-127"/>
              </a:defRPr>
            </a:lvl1pPr>
          </a:lstStyle>
          <a:p>
            <a:fld id="{EEB3DC15-878E-4BBE-990A-8D7636F256A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1355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</p:sldLayoutIdLst>
  <p:txStyles>
    <p:titleStyle>
      <a:lvl1pPr marL="0" indent="0" algn="l" defTabSz="914400" rtl="0" eaLnBrk="1" latinLnBrk="1" hangingPunct="1">
        <a:lnSpc>
          <a:spcPct val="90000"/>
        </a:lnSpc>
        <a:spcBef>
          <a:spcPct val="0"/>
        </a:spcBef>
        <a:buFontTx/>
        <a:buNone/>
        <a:defRPr lang="en-GB" altLang="en-US" sz="4400" kern="1200">
          <a:solidFill>
            <a:schemeClr val="tx1"/>
          </a:solidFill>
          <a:latin typeface="나눔스퀘어OTF" panose="020B0600000101010101" pitchFamily="34" charset="-127"/>
          <a:ea typeface="나눔스퀘어OTF" panose="020B0600000101010101" pitchFamily="34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ct val="1000"/>
        </a:spcBef>
        <a:buFontTx/>
        <a:buNone/>
        <a:defRPr lang="en-GB" altLang="en-US" sz="2800" kern="1200">
          <a:solidFill>
            <a:schemeClr val="tx1"/>
          </a:solidFill>
          <a:latin typeface="나눔스퀘어OTF" panose="020B0600000101010101" pitchFamily="34" charset="-127"/>
          <a:ea typeface="나눔스퀘어OTF" panose="020B0600000101010101" pitchFamily="34" charset="-127"/>
        </a:defRPr>
      </a:lvl1pPr>
      <a:lvl2pPr marL="685800" lvl="1" indent="-228600" algn="l" defTabSz="914400" rtl="0" eaLnBrk="1" latinLnBrk="1" hangingPunct="1">
        <a:lnSpc>
          <a:spcPct val="90000"/>
        </a:lnSpc>
        <a:spcBef>
          <a:spcPct val="500"/>
        </a:spcBef>
        <a:buFontTx/>
        <a:buNone/>
        <a:defRPr lang="en-GB" altLang="en-US" sz="2400" kern="1200">
          <a:solidFill>
            <a:schemeClr val="tx1"/>
          </a:solidFill>
          <a:latin typeface="나눔스퀘어OTF" panose="020B0600000101010101" pitchFamily="34" charset="-127"/>
          <a:ea typeface="나눔스퀘어OTF" panose="020B0600000101010101" pitchFamily="34" charset="-127"/>
        </a:defRPr>
      </a:lvl2pPr>
      <a:lvl3pPr marL="1143000" lvl="2" indent="-228600" algn="l" defTabSz="914400" rtl="0" eaLnBrk="1" latinLnBrk="1" hangingPunct="1">
        <a:lnSpc>
          <a:spcPct val="90000"/>
        </a:lnSpc>
        <a:spcBef>
          <a:spcPct val="500"/>
        </a:spcBef>
        <a:buFontTx/>
        <a:buNone/>
        <a:defRPr lang="en-GB" altLang="en-US" sz="2000" kern="1200">
          <a:solidFill>
            <a:schemeClr val="tx1"/>
          </a:solidFill>
          <a:latin typeface="나눔스퀘어OTF" panose="020B0600000101010101" pitchFamily="34" charset="-127"/>
          <a:ea typeface="나눔스퀘어OTF" panose="020B0600000101010101" pitchFamily="34" charset="-127"/>
        </a:defRPr>
      </a:lvl3pPr>
      <a:lvl4pPr marL="1600200" lvl="3" indent="-228600" algn="l" defTabSz="914400" rtl="0" eaLnBrk="1" latinLnBrk="1" hangingPunct="1">
        <a:lnSpc>
          <a:spcPct val="90000"/>
        </a:lnSpc>
        <a:spcBef>
          <a:spcPct val="500"/>
        </a:spcBef>
        <a:buFontTx/>
        <a:buNone/>
        <a:defRPr lang="en-GB" altLang="en-US" sz="1800" kern="1200">
          <a:solidFill>
            <a:schemeClr val="tx1"/>
          </a:solidFill>
          <a:latin typeface="나눔스퀘어OTF" panose="020B0600000101010101" pitchFamily="34" charset="-127"/>
          <a:ea typeface="나눔스퀘어OTF" panose="020B0600000101010101" pitchFamily="34" charset="-127"/>
        </a:defRPr>
      </a:lvl4pPr>
      <a:lvl5pPr marL="2057400" lvl="4" indent="-228600" algn="l" defTabSz="914400" rtl="0" eaLnBrk="1" latinLnBrk="1" hangingPunct="1">
        <a:lnSpc>
          <a:spcPct val="90000"/>
        </a:lnSpc>
        <a:spcBef>
          <a:spcPct val="500"/>
        </a:spcBef>
        <a:buFontTx/>
        <a:buNone/>
        <a:defRPr lang="en-GB" altLang="en-US" sz="1800" kern="1200">
          <a:solidFill>
            <a:schemeClr val="tx1"/>
          </a:solidFill>
          <a:latin typeface="나눔스퀘어OTF" panose="020B0600000101010101" pitchFamily="34" charset="-127"/>
          <a:ea typeface="나눔스퀘어OTF" panose="020B0600000101010101" pitchFamily="34" charset="-127"/>
        </a:defRPr>
      </a:lvl5pPr>
      <a:lvl6pPr marL="2514600" lvl="5" indent="-228600" algn="l" defTabSz="914400" rtl="0" eaLnBrk="1" latinLnBrk="1" hangingPunct="1">
        <a:lnSpc>
          <a:spcPct val="90000"/>
        </a:lnSpc>
        <a:spcBef>
          <a:spcPct val="500"/>
        </a:spcBef>
        <a:buFontTx/>
        <a:buNone/>
        <a:defRPr lang="en-GB" altLang="en-U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latinLnBrk="1" hangingPunct="1">
        <a:lnSpc>
          <a:spcPct val="90000"/>
        </a:lnSpc>
        <a:spcBef>
          <a:spcPct val="500"/>
        </a:spcBef>
        <a:buFontTx/>
        <a:buNone/>
        <a:defRPr lang="en-GB" altLang="en-U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latinLnBrk="1" hangingPunct="1">
        <a:lnSpc>
          <a:spcPct val="90000"/>
        </a:lnSpc>
        <a:spcBef>
          <a:spcPct val="500"/>
        </a:spcBef>
        <a:buFontTx/>
        <a:buNone/>
        <a:defRPr lang="en-GB" altLang="en-U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latinLnBrk="1" hangingPunct="1">
        <a:lnSpc>
          <a:spcPct val="90000"/>
        </a:lnSpc>
        <a:spcBef>
          <a:spcPct val="500"/>
        </a:spcBef>
        <a:buFontTx/>
        <a:buNone/>
        <a:defRPr lang="en-GB" altLang="en-U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b">
            <a:normAutofit/>
          </a:bodyPr>
          <a:lstStyle/>
          <a:p>
            <a:r>
              <a:rPr lang="ko-KR" altLang="en-US">
                <a:latin typeface="+mj-ea"/>
              </a:rPr>
              <a:t>우리금융 </a:t>
            </a:r>
            <a:r>
              <a:rPr lang="ko-KR" altLang="en-US">
                <a:latin typeface="+mj-ea"/>
              </a:rPr>
              <a:t>실습 </a:t>
            </a:r>
            <a:r>
              <a:rPr lang="en-US" altLang="ko-KR" smtClean="0">
                <a:latin typeface="+mj-ea"/>
              </a:rPr>
              <a:t>(</a:t>
            </a:r>
            <a:r>
              <a:rPr lang="ko-KR" altLang="en-US" smtClean="0">
                <a:latin typeface="+mj-ea"/>
              </a:rPr>
              <a:t>추가</a:t>
            </a:r>
            <a:r>
              <a:rPr lang="en-US" altLang="ko-KR" smtClean="0">
                <a:latin typeface="+mj-ea"/>
              </a:rPr>
              <a:t>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3" name="부제목 2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28600" indent="-228600">
              <a:lnSpc>
                <a:spcPct val="150000"/>
              </a:lnSpc>
              <a:buFontTx/>
              <a:buNone/>
            </a:pPr>
            <a:r>
              <a:rPr lang="ko-KR" altLang="en-US" spc="-10" smtClean="0">
                <a:latin typeface="+mn-ea"/>
                <a:ea typeface="+mn-ea"/>
                <a:sym typeface="맑은 고딕" charset="0"/>
              </a:rPr>
              <a:t>결측치 대체</a:t>
            </a:r>
            <a:endParaRPr lang="ko-KR" altLang="en-US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0" indent="0">
              <a:buFontTx/>
              <a:buNone/>
            </a:pPr>
            <a:endParaRPr lang="ko-KR" altLang="en-US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0" indent="0">
              <a:buFontTx/>
              <a:buNone/>
            </a:pPr>
            <a:r>
              <a:rPr lang="ko-KR" altLang="en-US" smtClean="0">
                <a:latin typeface="+mn-ea"/>
                <a:ea typeface="+mn-ea"/>
              </a:rPr>
              <a:t>박세현</a:t>
            </a:r>
            <a:r>
              <a:rPr lang="en-US" altLang="ko-KR">
                <a:latin typeface="+mn-ea"/>
                <a:ea typeface="+mn-ea"/>
              </a:rPr>
              <a:t>, </a:t>
            </a:r>
            <a:r>
              <a:rPr lang="ko-KR" altLang="en-US" smtClean="0">
                <a:latin typeface="+mn-ea"/>
                <a:ea typeface="+mn-ea"/>
              </a:rPr>
              <a:t>김초은</a:t>
            </a:r>
            <a:endParaRPr lang="en-US" altLang="ko-KR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11814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>
              <a:buFontTx/>
              <a:buNone/>
            </a:pPr>
            <a:r>
              <a:rPr lang="ko-KR" altLang="en-US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목차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7960"/>
            <a:ext cx="29184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DF8113E-8313-B566-F747-116A134AAF5D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5020945" cy="4352290"/>
          </a:xfrm>
          <a:prstGeom prst="rect">
            <a:avLst/>
          </a:prstGeom>
        </p:spPr>
        <p:txBody>
          <a:bodyPr vert="horz" wrap="square" lIns="91440" tIns="45720" rIns="91440" bIns="45720" numCol="1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ct val="1000"/>
              </a:spcBef>
              <a:buFontTx/>
              <a:buNone/>
              <a:defRPr lang="en-GB" altLang="en-US" sz="2800" kern="120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defRPr>
            </a:lvl1pPr>
            <a:lvl2pPr marL="685800" lvl="1" indent="-228600" algn="l" defTabSz="914400" rtl="0" eaLnBrk="1" latinLnBrk="1" hangingPunct="1">
              <a:lnSpc>
                <a:spcPct val="90000"/>
              </a:lnSpc>
              <a:spcBef>
                <a:spcPct val="500"/>
              </a:spcBef>
              <a:buFontTx/>
              <a:buNone/>
              <a:defRPr lang="en-GB" altLang="en-US" sz="2400" kern="120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defRPr>
            </a:lvl2pPr>
            <a:lvl3pPr marL="1143000" lvl="2" indent="-228600" algn="l" defTabSz="914400" rtl="0" eaLnBrk="1" latinLnBrk="1" hangingPunct="1">
              <a:lnSpc>
                <a:spcPct val="90000"/>
              </a:lnSpc>
              <a:spcBef>
                <a:spcPct val="500"/>
              </a:spcBef>
              <a:buFontTx/>
              <a:buNone/>
              <a:defRPr lang="en-GB" altLang="en-US" sz="2000" kern="120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defRPr>
            </a:lvl3pPr>
            <a:lvl4pPr marL="1600200" lvl="3" indent="-228600" algn="l" defTabSz="914400" rtl="0" eaLnBrk="1" latinLnBrk="1" hangingPunct="1">
              <a:lnSpc>
                <a:spcPct val="90000"/>
              </a:lnSpc>
              <a:spcBef>
                <a:spcPct val="500"/>
              </a:spcBef>
              <a:buFontTx/>
              <a:buNone/>
              <a:defRPr lang="en-GB" altLang="en-US" sz="1800" kern="120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defRPr>
            </a:lvl4pPr>
            <a:lvl5pPr marL="2057400" lvl="4" indent="-228600" algn="l" defTabSz="914400" rtl="0" eaLnBrk="1" latinLnBrk="1" hangingPunct="1">
              <a:lnSpc>
                <a:spcPct val="90000"/>
              </a:lnSpc>
              <a:spcBef>
                <a:spcPct val="500"/>
              </a:spcBef>
              <a:buFontTx/>
              <a:buNone/>
              <a:defRPr lang="en-GB" altLang="en-US" sz="1800" kern="120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defRPr>
            </a:lvl5pPr>
            <a:lvl6pPr marL="2514600" lvl="5" indent="-228600" algn="l" defTabSz="914400" rtl="0" eaLnBrk="1" latinLnBrk="1" hangingPunct="1">
              <a:lnSpc>
                <a:spcPct val="90000"/>
              </a:lnSpc>
              <a:spcBef>
                <a:spcPct val="500"/>
              </a:spcBef>
              <a:buFontTx/>
              <a:buNone/>
              <a:defRPr lang="en-GB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latinLnBrk="1" hangingPunct="1">
              <a:lnSpc>
                <a:spcPct val="90000"/>
              </a:lnSpc>
              <a:spcBef>
                <a:spcPct val="500"/>
              </a:spcBef>
              <a:buFontTx/>
              <a:buNone/>
              <a:defRPr lang="en-GB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latinLnBrk="1" hangingPunct="1">
              <a:lnSpc>
                <a:spcPct val="90000"/>
              </a:lnSpc>
              <a:spcBef>
                <a:spcPct val="500"/>
              </a:spcBef>
              <a:buFontTx/>
              <a:buNone/>
              <a:defRPr lang="en-GB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latinLnBrk="1" hangingPunct="1">
              <a:lnSpc>
                <a:spcPct val="90000"/>
              </a:lnSpc>
              <a:spcBef>
                <a:spcPct val="500"/>
              </a:spcBef>
              <a:buFontTx/>
              <a:buNone/>
              <a:defRPr lang="en-GB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ko-KR" altLang="en-US" dirty="0" err="1">
                <a:latin typeface="+mn-ea"/>
                <a:ea typeface="+mn-ea"/>
              </a:rPr>
              <a:t>결측치</a:t>
            </a:r>
            <a:r>
              <a:rPr lang="ko-KR" altLang="en-US" dirty="0">
                <a:latin typeface="+mn-ea"/>
                <a:ea typeface="+mn-ea"/>
              </a:rPr>
              <a:t> 처리</a:t>
            </a:r>
            <a:endParaRPr lang="en-US" altLang="ko-KR" dirty="0">
              <a:latin typeface="+mn-ea"/>
              <a:ea typeface="+mn-ea"/>
            </a:endParaRPr>
          </a:p>
          <a:p>
            <a:pPr marL="742950" lvl="1" indent="-2857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en-US" altLang="ko-KR" dirty="0">
                <a:latin typeface="+mn-ea"/>
                <a:ea typeface="+mn-ea"/>
              </a:rPr>
              <a:t>Complete Case Analysis</a:t>
            </a:r>
          </a:p>
          <a:p>
            <a:pPr marL="742950" lvl="1" indent="-2857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ko-KR" altLang="en-US" dirty="0">
                <a:latin typeface="+mn-ea"/>
                <a:ea typeface="+mn-ea"/>
              </a:rPr>
              <a:t>단일 대체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ko-KR" altLang="en-US" dirty="0">
                <a:latin typeface="+mn-ea"/>
                <a:ea typeface="+mn-ea"/>
              </a:rPr>
              <a:t>평균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ko-KR" altLang="en-US" dirty="0">
                <a:latin typeface="+mn-ea"/>
                <a:ea typeface="+mn-ea"/>
              </a:rPr>
              <a:t>중앙값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ko-KR" altLang="en-US" dirty="0" err="1">
                <a:latin typeface="+mn-ea"/>
                <a:ea typeface="+mn-ea"/>
              </a:rPr>
              <a:t>최빈값</a:t>
            </a:r>
            <a:endParaRPr lang="ko-KR" altLang="en-US" dirty="0">
              <a:latin typeface="+mn-ea"/>
              <a:ea typeface="+mn-ea"/>
            </a:endParaRPr>
          </a:p>
          <a:p>
            <a:pPr marL="742950" lvl="1" indent="-2857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ko-KR" altLang="en-US" dirty="0">
                <a:latin typeface="+mn-ea"/>
                <a:ea typeface="+mn-ea"/>
              </a:rPr>
              <a:t>단일 대체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ko-KR" altLang="en-US" dirty="0">
                <a:latin typeface="+mn-ea"/>
                <a:ea typeface="+mn-ea"/>
              </a:rPr>
              <a:t>조건부 평균 </a:t>
            </a:r>
            <a:r>
              <a:rPr lang="ko-KR" altLang="en-US" dirty="0" err="1">
                <a:latin typeface="+mn-ea"/>
                <a:ea typeface="+mn-ea"/>
              </a:rPr>
              <a:t>대체법</a:t>
            </a:r>
            <a:endParaRPr lang="ko-KR" altLang="en-US" dirty="0">
              <a:latin typeface="+mn-ea"/>
              <a:ea typeface="+mn-ea"/>
            </a:endParaRPr>
          </a:p>
          <a:p>
            <a:pPr marL="742950" lvl="1" indent="-2857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ko-KR" altLang="en-US" dirty="0">
                <a:latin typeface="+mn-ea"/>
                <a:ea typeface="+mn-ea"/>
              </a:rPr>
              <a:t>단일 대체</a:t>
            </a:r>
            <a:r>
              <a:rPr lang="en-US" altLang="ko-KR" dirty="0">
                <a:latin typeface="+mn-ea"/>
                <a:ea typeface="+mn-ea"/>
              </a:rPr>
              <a:t>: Hot Deck </a:t>
            </a:r>
            <a:r>
              <a:rPr lang="ko-KR" altLang="en-US" dirty="0">
                <a:latin typeface="+mn-ea"/>
                <a:ea typeface="+mn-ea"/>
              </a:rPr>
              <a:t>대체 </a:t>
            </a:r>
          </a:p>
          <a:p>
            <a:pPr marL="742950" lvl="1" indent="-2857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en-US" altLang="ko-KR" dirty="0">
                <a:latin typeface="+mn-ea"/>
                <a:ea typeface="+mn-ea"/>
              </a:rPr>
              <a:t>SRMI</a:t>
            </a:r>
            <a:r>
              <a:rPr lang="ko-KR" altLang="en-US" dirty="0">
                <a:latin typeface="+mn-ea"/>
                <a:ea typeface="+mn-ea"/>
              </a:rPr>
              <a:t>와 </a:t>
            </a:r>
            <a:r>
              <a:rPr lang="en-US" altLang="ko-KR" dirty="0">
                <a:latin typeface="+mn-ea"/>
                <a:ea typeface="+mn-ea"/>
              </a:rPr>
              <a:t>Multiple Imputation</a:t>
            </a:r>
            <a:endParaRPr lang="en-US" altLang="ko-KR" sz="15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60761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r>
              <a:rPr lang="ko-KR" altLang="en-US" sz="4400" dirty="0">
                <a:solidFill>
                  <a:schemeClr val="tx1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결측 </a:t>
            </a:r>
            <a:r>
              <a:rPr lang="ko-KR" altLang="en-US" sz="4400" dirty="0" err="1">
                <a:solidFill>
                  <a:schemeClr val="tx1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자료란</a:t>
            </a:r>
            <a:r>
              <a:rPr lang="ko-KR" altLang="en-US" sz="4400" dirty="0">
                <a:solidFill>
                  <a:schemeClr val="tx1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 무엇인가</a:t>
            </a:r>
            <a:r>
              <a:rPr lang="en-US" altLang="ko-KR" sz="4400" dirty="0">
                <a:solidFill>
                  <a:schemeClr val="tx1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?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6690"/>
            <a:ext cx="2919730" cy="127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1065" cy="276999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79905"/>
            <a:ext cx="10643101" cy="2308324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3000" dirty="0">
                <a:latin typeface="+mn-ea"/>
                <a:sym typeface="맑은 고딕" charset="0"/>
              </a:rPr>
              <a:t>결</a:t>
            </a:r>
            <a:r>
              <a:rPr lang="ko-KR" altLang="en-US" sz="3000" dirty="0">
                <a:solidFill>
                  <a:schemeClr val="tx1"/>
                </a:solidFill>
                <a:latin typeface="+mn-ea"/>
              </a:rPr>
              <a:t>측 자료는 데이터 행렬의 일부 값이 관측되지 않은 자료를 말함</a:t>
            </a:r>
            <a:r>
              <a:rPr lang="en-US" altLang="ko-KR" sz="30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3000" dirty="0">
                <a:solidFill>
                  <a:schemeClr val="tx1"/>
                </a:solidFill>
                <a:latin typeface="+mn-ea"/>
              </a:rPr>
              <a:t>대부분의 통계 분석과 </a:t>
            </a:r>
            <a:r>
              <a:rPr lang="ko-KR" altLang="en-US" sz="3000" dirty="0" err="1">
                <a:solidFill>
                  <a:schemeClr val="tx1"/>
                </a:solidFill>
                <a:latin typeface="+mn-ea"/>
              </a:rPr>
              <a:t>머신러닝</a:t>
            </a:r>
            <a:r>
              <a:rPr lang="ko-KR" altLang="en-US" sz="3000" dirty="0">
                <a:solidFill>
                  <a:schemeClr val="tx1"/>
                </a:solidFill>
                <a:latin typeface="+mn-ea"/>
              </a:rPr>
              <a:t> 방법은 완전한 데이터 행렬을 기본으로 가정하기 때문에 이러한 결측 값들을 처리하는 과정이 필요함</a:t>
            </a:r>
            <a:r>
              <a:rPr lang="en-US" altLang="ko-KR" sz="30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endParaRPr lang="en-US" altLang="ko-KR" sz="3000" dirty="0">
              <a:latin typeface="+mn-ea"/>
            </a:endParaRPr>
          </a:p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3000" dirty="0">
                <a:solidFill>
                  <a:schemeClr val="tx1"/>
                </a:solidFill>
                <a:latin typeface="+mn-ea"/>
              </a:rPr>
              <a:t>결측 유형</a:t>
            </a:r>
            <a:endParaRPr lang="en-US" altLang="ko-KR" sz="30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AC191169-820D-D0A8-CE5F-DD3E53120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094665"/>
              </p:ext>
            </p:extLst>
          </p:nvPr>
        </p:nvGraphicFramePr>
        <p:xfrm>
          <a:off x="1295416" y="4192270"/>
          <a:ext cx="6665461" cy="1389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947">
                  <a:extLst>
                    <a:ext uri="{9D8B030D-6E8A-4147-A177-3AD203B41FA5}">
                      <a16:colId xmlns:a16="http://schemas.microsoft.com/office/drawing/2014/main" val="2463137632"/>
                    </a:ext>
                  </a:extLst>
                </a:gridCol>
                <a:gridCol w="4393514">
                  <a:extLst>
                    <a:ext uri="{9D8B030D-6E8A-4147-A177-3AD203B41FA5}">
                      <a16:colId xmlns:a16="http://schemas.microsoft.com/office/drawing/2014/main" val="3798451194"/>
                    </a:ext>
                  </a:extLst>
                </a:gridCol>
              </a:tblGrid>
              <a:tr h="2035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의미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6482911"/>
                  </a:ext>
                </a:extLst>
              </a:tr>
              <a:tr h="3515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완전 임의 결측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(MCAR)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결측 여부가 어떤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변수와도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관련이 없음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5692412"/>
                  </a:ext>
                </a:extLst>
              </a:tr>
              <a:tr h="3515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임의 결측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(MAR)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관측된 변수와 관련이 있음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824798"/>
                  </a:ext>
                </a:extLst>
              </a:tr>
              <a:tr h="3515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비임의 결측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(NMAR)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결측값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자체와 관련이 있음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99759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1DBD6BE-3825-7F6E-4EEC-9F5477C2BA39}"/>
              </a:ext>
            </a:extLst>
          </p:cNvPr>
          <p:cNvSpPr txBox="1"/>
          <p:nvPr/>
        </p:nvSpPr>
        <p:spPr>
          <a:xfrm>
            <a:off x="1219700" y="5686121"/>
            <a:ext cx="7761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altLang="ko-KR" sz="1800" dirty="0">
                <a:solidFill>
                  <a:srgbClr val="FF0000"/>
                </a:solidFill>
                <a:latin typeface="+mn-ea"/>
                <a:cs typeface="Noto Sans CJK KR" pitchFamily="34" charset="-120"/>
              </a:rPr>
              <a:t>※ </a:t>
            </a:r>
            <a:r>
              <a:rPr lang="en-US" altLang="ko-KR" sz="1800" dirty="0" err="1">
                <a:solidFill>
                  <a:srgbClr val="FF0000"/>
                </a:solidFill>
                <a:latin typeface="+mn-ea"/>
                <a:cs typeface="Noto Sans CJK KR" pitchFamily="34" charset="-120"/>
              </a:rPr>
              <a:t>실제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altLang="ko-KR" sz="1800" dirty="0" err="1">
                <a:solidFill>
                  <a:srgbClr val="FF0000"/>
                </a:solidFill>
                <a:latin typeface="+mn-ea"/>
                <a:cs typeface="Noto Sans CJK KR" pitchFamily="34" charset="-120"/>
              </a:rPr>
              <a:t>자료만으로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Noto Sans CJK KR" pitchFamily="34" charset="-120"/>
              </a:rPr>
              <a:t> 세 </a:t>
            </a:r>
            <a:r>
              <a:rPr lang="en-US" altLang="ko-KR" sz="1800" dirty="0" err="1">
                <a:solidFill>
                  <a:srgbClr val="FF0000"/>
                </a:solidFill>
                <a:latin typeface="+mn-ea"/>
                <a:cs typeface="Noto Sans CJK KR" pitchFamily="34" charset="-120"/>
              </a:rPr>
              <a:t>메커니즘을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altLang="ko-KR" sz="1800" dirty="0" err="1">
                <a:solidFill>
                  <a:srgbClr val="FF0000"/>
                </a:solidFill>
                <a:latin typeface="+mn-ea"/>
                <a:cs typeface="Noto Sans CJK KR" pitchFamily="34" charset="-120"/>
              </a:rPr>
              <a:t>완전히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altLang="ko-KR" sz="1800" dirty="0" err="1">
                <a:solidFill>
                  <a:srgbClr val="FF0000"/>
                </a:solidFill>
                <a:latin typeface="+mn-ea"/>
                <a:cs typeface="Noto Sans CJK KR" pitchFamily="34" charset="-120"/>
              </a:rPr>
              <a:t>구분하기는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Noto Sans CJK KR" pitchFamily="34" charset="-120"/>
              </a:rPr>
              <a:t> 어</a:t>
            </a:r>
            <a:r>
              <a:rPr lang="ko-KR" altLang="en-US" sz="1800" dirty="0" err="1">
                <a:solidFill>
                  <a:srgbClr val="FF0000"/>
                </a:solidFill>
                <a:latin typeface="+mn-ea"/>
                <a:cs typeface="Noto Sans CJK KR" pitchFamily="34" charset="-120"/>
              </a:rPr>
              <a:t>려움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Noto Sans CJK KR" pitchFamily="34" charset="-120"/>
              </a:rPr>
              <a:t>. </a:t>
            </a:r>
          </a:p>
          <a:p>
            <a:pPr marL="0" indent="0" algn="l">
              <a:buNone/>
            </a:pPr>
            <a:r>
              <a:rPr lang="en-US" altLang="ko-KR" sz="1800" dirty="0">
                <a:solidFill>
                  <a:srgbClr val="FF0000"/>
                </a:solidFill>
                <a:latin typeface="+mn-ea"/>
                <a:cs typeface="Noto Sans CJK KR" pitchFamily="34" charset="-120"/>
              </a:rPr>
              <a:t>    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Noto Sans CJK KR" pitchFamily="34" charset="-120"/>
              </a:rPr>
              <a:t>그렇기 때문에 </a:t>
            </a:r>
            <a:r>
              <a:rPr lang="en-US" altLang="ko-KR" sz="1800" dirty="0" err="1">
                <a:solidFill>
                  <a:srgbClr val="FF0000"/>
                </a:solidFill>
                <a:latin typeface="+mn-ea"/>
                <a:cs typeface="Noto Sans CJK KR" pitchFamily="34" charset="-120"/>
              </a:rPr>
              <a:t>변수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altLang="ko-KR" sz="1800" dirty="0" err="1">
                <a:solidFill>
                  <a:srgbClr val="FF0000"/>
                </a:solidFill>
                <a:latin typeface="+mn-ea"/>
                <a:cs typeface="Noto Sans CJK KR" pitchFamily="34" charset="-120"/>
              </a:rPr>
              <a:t>관계와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altLang="ko-KR" sz="1800" dirty="0" err="1">
                <a:solidFill>
                  <a:srgbClr val="FF0000"/>
                </a:solidFill>
                <a:latin typeface="+mn-ea"/>
                <a:cs typeface="Noto Sans CJK KR" pitchFamily="34" charset="-120"/>
              </a:rPr>
              <a:t>자료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altLang="ko-KR" sz="1800" dirty="0" err="1">
                <a:solidFill>
                  <a:srgbClr val="FF0000"/>
                </a:solidFill>
                <a:latin typeface="+mn-ea"/>
                <a:cs typeface="Noto Sans CJK KR" pitchFamily="34" charset="-120"/>
              </a:rPr>
              <a:t>수집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altLang="ko-KR" sz="1800" dirty="0" err="1">
                <a:solidFill>
                  <a:srgbClr val="FF0000"/>
                </a:solidFill>
                <a:latin typeface="+mn-ea"/>
                <a:cs typeface="Noto Sans CJK KR" pitchFamily="34" charset="-120"/>
              </a:rPr>
              <a:t>과정을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altLang="ko-KR" sz="1800" dirty="0" err="1">
                <a:solidFill>
                  <a:srgbClr val="FF0000"/>
                </a:solidFill>
                <a:latin typeface="+mn-ea"/>
                <a:cs typeface="Noto Sans CJK KR" pitchFamily="34" charset="-120"/>
              </a:rPr>
              <a:t>함께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altLang="ko-KR" sz="1800" dirty="0" err="1">
                <a:solidFill>
                  <a:srgbClr val="FF0000"/>
                </a:solidFill>
                <a:latin typeface="+mn-ea"/>
                <a:cs typeface="Noto Sans CJK KR" pitchFamily="34" charset="-120"/>
              </a:rPr>
              <a:t>보고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altLang="ko-KR" sz="1800" dirty="0" err="1">
                <a:solidFill>
                  <a:srgbClr val="FF0000"/>
                </a:solidFill>
                <a:latin typeface="+mn-ea"/>
                <a:cs typeface="Noto Sans CJK KR" pitchFamily="34" charset="-120"/>
              </a:rPr>
              <a:t>가정을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altLang="ko-KR" sz="1800" dirty="0" err="1">
                <a:solidFill>
                  <a:srgbClr val="FF0000"/>
                </a:solidFill>
                <a:latin typeface="+mn-ea"/>
                <a:cs typeface="Noto Sans CJK KR" pitchFamily="34" charset="-120"/>
              </a:rPr>
              <a:t>세워야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Noto Sans CJK KR" pitchFamily="34" charset="-120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+mn-ea"/>
                <a:cs typeface="Noto Sans CJK KR" pitchFamily="34" charset="-120"/>
              </a:rPr>
              <a:t>함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Noto Sans CJK KR" pitchFamily="34" charset="-120"/>
              </a:rPr>
              <a:t>.</a:t>
            </a:r>
            <a:endParaRPr lang="en-US" altLang="ko-KR" sz="1800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946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r>
              <a:rPr lang="en-US" altLang="ko-KR" sz="4400" dirty="0">
                <a:solidFill>
                  <a:schemeClr val="tx1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Titanic </a:t>
            </a:r>
            <a:r>
              <a:rPr lang="ko-KR" altLang="en-US" sz="4400" dirty="0">
                <a:solidFill>
                  <a:schemeClr val="tx1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데이터 불러오기 및 </a:t>
            </a:r>
            <a:r>
              <a:rPr lang="ko-KR" altLang="en-US" sz="4400" dirty="0" err="1">
                <a:solidFill>
                  <a:schemeClr val="tx1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결측치</a:t>
            </a:r>
            <a:r>
              <a:rPr lang="ko-KR" altLang="en-US" sz="4400" dirty="0">
                <a:solidFill>
                  <a:schemeClr val="tx1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 확인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6690"/>
            <a:ext cx="2919730" cy="127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1065" cy="276999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79905"/>
            <a:ext cx="10643101" cy="738664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/>
              <a:t>Titanic </a:t>
            </a:r>
            <a:r>
              <a:rPr lang="ko-KR" altLang="en-US" sz="2400" dirty="0"/>
              <a:t>데이터는 </a:t>
            </a:r>
            <a:r>
              <a:rPr lang="ko-KR" altLang="en-US" sz="2400" dirty="0" err="1"/>
              <a:t>타이타닉호</a:t>
            </a:r>
            <a:r>
              <a:rPr lang="ko-KR" altLang="en-US" sz="2400" dirty="0"/>
              <a:t> 승객의 성별</a:t>
            </a:r>
            <a:r>
              <a:rPr lang="en-US" altLang="ko-KR" sz="2400" dirty="0"/>
              <a:t>, </a:t>
            </a:r>
            <a:r>
              <a:rPr lang="ko-KR" altLang="en-US" sz="2400" dirty="0"/>
              <a:t>나이</a:t>
            </a:r>
            <a:r>
              <a:rPr lang="en-US" altLang="ko-KR" sz="2400" dirty="0"/>
              <a:t>, </a:t>
            </a:r>
            <a:r>
              <a:rPr lang="ko-KR" altLang="en-US" sz="2400" dirty="0"/>
              <a:t>객실 등급</a:t>
            </a:r>
            <a:r>
              <a:rPr lang="en-US" altLang="ko-KR" sz="2400" dirty="0"/>
              <a:t>, </a:t>
            </a:r>
            <a:r>
              <a:rPr lang="ko-KR" altLang="en-US" sz="2400" dirty="0"/>
              <a:t>요금</a:t>
            </a:r>
            <a:r>
              <a:rPr lang="en-US" altLang="ko-KR" sz="2400" dirty="0"/>
              <a:t>, </a:t>
            </a:r>
            <a:r>
              <a:rPr lang="ko-KR" altLang="en-US" sz="2400" dirty="0"/>
              <a:t>탑승 항구 등의 정보를 바탕으로 생존 여부를 분석하는 데이터</a:t>
            </a:r>
            <a:r>
              <a:rPr lang="en-US" altLang="ko-KR" sz="2400" dirty="0"/>
              <a:t>.</a:t>
            </a:r>
            <a:endParaRPr lang="en-US" altLang="ko-KR" sz="24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15A25A57-C9AD-D054-E107-B731E165E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239563"/>
              </p:ext>
            </p:extLst>
          </p:nvPr>
        </p:nvGraphicFramePr>
        <p:xfrm>
          <a:off x="2142494" y="4683710"/>
          <a:ext cx="3953506" cy="207928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240385">
                  <a:extLst>
                    <a:ext uri="{9D8B030D-6E8A-4147-A177-3AD203B41FA5}">
                      <a16:colId xmlns:a16="http://schemas.microsoft.com/office/drawing/2014/main" val="1455053762"/>
                    </a:ext>
                  </a:extLst>
                </a:gridCol>
                <a:gridCol w="2713121">
                  <a:extLst>
                    <a:ext uri="{9D8B030D-6E8A-4147-A177-3AD203B41FA5}">
                      <a16:colId xmlns:a16="http://schemas.microsoft.com/office/drawing/2014/main" val="2256757537"/>
                    </a:ext>
                  </a:extLst>
                </a:gridCol>
              </a:tblGrid>
              <a:tr h="21192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변수명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marL="83680" marR="83680" marT="41840" marB="4184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의미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309082"/>
                  </a:ext>
                </a:extLst>
              </a:tr>
              <a:tr h="211929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+mn-ea"/>
                          <a:ea typeface="+mn-ea"/>
                        </a:rPr>
                        <a:t>PassengerId</a:t>
                      </a: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marL="83680" marR="83680" marT="41840" marB="4184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승객 </a:t>
                      </a:r>
                      <a:r>
                        <a:rPr lang="en-US" sz="1400" dirty="0">
                          <a:latin typeface="+mn-ea"/>
                          <a:ea typeface="+mn-ea"/>
                        </a:rPr>
                        <a:t>ID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190528"/>
                  </a:ext>
                </a:extLst>
              </a:tr>
              <a:tr h="21192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ea"/>
                          <a:ea typeface="+mn-ea"/>
                        </a:rPr>
                        <a:t>Survived</a:t>
                      </a:r>
                    </a:p>
                  </a:txBody>
                  <a:tcPr marL="83680" marR="83680" marT="41840" marB="4184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생존 여부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0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은 사망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1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은 생존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1309776"/>
                  </a:ext>
                </a:extLst>
              </a:tr>
              <a:tr h="211929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+mn-ea"/>
                          <a:ea typeface="+mn-ea"/>
                        </a:rPr>
                        <a:t>Pclass</a:t>
                      </a: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marL="83680" marR="83680" marT="41840" marB="4184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객실 등급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869362"/>
                  </a:ext>
                </a:extLst>
              </a:tr>
              <a:tr h="21192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ea"/>
                          <a:ea typeface="+mn-ea"/>
                        </a:rPr>
                        <a:t>Name</a:t>
                      </a:r>
                    </a:p>
                  </a:txBody>
                  <a:tcPr marL="83680" marR="83680" marT="41840" marB="4184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>
                          <a:latin typeface="+mn-ea"/>
                          <a:ea typeface="+mn-ea"/>
                        </a:rPr>
                        <a:t>이름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9685145"/>
                  </a:ext>
                </a:extLst>
              </a:tr>
              <a:tr h="21192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ea"/>
                          <a:ea typeface="+mn-ea"/>
                        </a:rPr>
                        <a:t>Sex</a:t>
                      </a:r>
                    </a:p>
                  </a:txBody>
                  <a:tcPr marL="83680" marR="83680" marT="41840" marB="4184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성별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3514469"/>
                  </a:ext>
                </a:extLst>
              </a:tr>
              <a:tr h="21192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ea"/>
                          <a:ea typeface="+mn-ea"/>
                        </a:rPr>
                        <a:t>Age</a:t>
                      </a:r>
                    </a:p>
                  </a:txBody>
                  <a:tcPr marL="83680" marR="83680" marT="41840" marB="4184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나이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60790193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703FC44D-97A9-791A-9E0B-8C3A90C2F3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508075"/>
              </p:ext>
            </p:extLst>
          </p:nvPr>
        </p:nvGraphicFramePr>
        <p:xfrm>
          <a:off x="6416842" y="4682683"/>
          <a:ext cx="3953506" cy="2079280"/>
        </p:xfrm>
        <a:graphic>
          <a:graphicData uri="http://schemas.openxmlformats.org/drawingml/2006/table">
            <a:tbl>
              <a:tblPr/>
              <a:tblGrid>
                <a:gridCol w="1240385">
                  <a:extLst>
                    <a:ext uri="{9D8B030D-6E8A-4147-A177-3AD203B41FA5}">
                      <a16:colId xmlns:a16="http://schemas.microsoft.com/office/drawing/2014/main" val="3206168997"/>
                    </a:ext>
                  </a:extLst>
                </a:gridCol>
                <a:gridCol w="2713121">
                  <a:extLst>
                    <a:ext uri="{9D8B030D-6E8A-4147-A177-3AD203B41FA5}">
                      <a16:colId xmlns:a16="http://schemas.microsoft.com/office/drawing/2014/main" val="1997440152"/>
                    </a:ext>
                  </a:extLst>
                </a:gridCol>
              </a:tblGrid>
              <a:tr h="21192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변수명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marL="83680" marR="83680" marT="41840" marB="4184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의미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625136"/>
                  </a:ext>
                </a:extLst>
              </a:tr>
              <a:tr h="211929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+mn-ea"/>
                          <a:ea typeface="+mn-ea"/>
                        </a:rPr>
                        <a:t>SibSp</a:t>
                      </a: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marL="83680" marR="83680" marT="41840" marB="4184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함께 탑승한 형제자매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배우자 수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764861"/>
                  </a:ext>
                </a:extLst>
              </a:tr>
              <a:tr h="21192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ea"/>
                          <a:ea typeface="+mn-ea"/>
                        </a:rPr>
                        <a:t>Parch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함께 탑승한 부모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자녀 수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215915"/>
                  </a:ext>
                </a:extLst>
              </a:tr>
              <a:tr h="21192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ea"/>
                          <a:ea typeface="+mn-ea"/>
                        </a:rPr>
                        <a:t>Ticket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>
                          <a:latin typeface="+mn-ea"/>
                          <a:ea typeface="+mn-ea"/>
                        </a:rPr>
                        <a:t>티켓 번호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562268"/>
                  </a:ext>
                </a:extLst>
              </a:tr>
              <a:tr h="21192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ea"/>
                          <a:ea typeface="+mn-ea"/>
                        </a:rPr>
                        <a:t>Fare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요금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0674742"/>
                  </a:ext>
                </a:extLst>
              </a:tr>
              <a:tr h="21192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ea"/>
                          <a:ea typeface="+mn-ea"/>
                        </a:rPr>
                        <a:t>Cabin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객실 번호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848258"/>
                  </a:ext>
                </a:extLst>
              </a:tr>
              <a:tr h="21192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ea"/>
                          <a:ea typeface="+mn-ea"/>
                        </a:rPr>
                        <a:t>Embarked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탑승 항구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188150"/>
                  </a:ext>
                </a:extLst>
              </a:tr>
            </a:tbl>
          </a:graphicData>
        </a:graphic>
      </p:graphicFrame>
      <p:pic>
        <p:nvPicPr>
          <p:cNvPr id="25" name="그림 24">
            <a:extLst>
              <a:ext uri="{FF2B5EF4-FFF2-40B4-BE49-F238E27FC236}">
                <a16:creationId xmlns:a16="http://schemas.microsoft.com/office/drawing/2014/main" id="{B7ADCF3F-B290-5B87-6F72-84C1F7616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016" y="2640041"/>
            <a:ext cx="5100610" cy="1835922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1620761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r>
              <a:rPr lang="en-US" altLang="ko-KR" sz="4400" dirty="0">
                <a:solidFill>
                  <a:schemeClr val="tx1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Titanic </a:t>
            </a:r>
            <a:r>
              <a:rPr lang="ko-KR" altLang="en-US" sz="4400" dirty="0">
                <a:solidFill>
                  <a:schemeClr val="tx1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데이터 불러오기 및 </a:t>
            </a:r>
            <a:r>
              <a:rPr lang="ko-KR" altLang="en-US" sz="4400" dirty="0" err="1">
                <a:solidFill>
                  <a:schemeClr val="tx1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결측치</a:t>
            </a:r>
            <a:r>
              <a:rPr lang="ko-KR" altLang="en-US" sz="4400" dirty="0">
                <a:solidFill>
                  <a:schemeClr val="tx1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 확인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6690"/>
            <a:ext cx="2919730" cy="127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1065" cy="276999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5107405" y="1779905"/>
            <a:ext cx="6370721" cy="2954655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 err="1">
                <a:latin typeface="+mn-ea"/>
              </a:rPr>
              <a:t>DataFrame</a:t>
            </a:r>
            <a:r>
              <a:rPr lang="ko-KR" altLang="en-US" sz="2400" dirty="0">
                <a:latin typeface="+mn-ea"/>
              </a:rPr>
              <a:t>에서는 </a:t>
            </a:r>
            <a:r>
              <a:rPr lang="en-US" altLang="ko-KR" sz="2400" b="1" dirty="0" err="1">
                <a:latin typeface="+mn-ea"/>
              </a:rPr>
              <a:t>isnull</a:t>
            </a:r>
            <a:r>
              <a:rPr lang="en-US" altLang="ko-KR" sz="2400" b="1" dirty="0">
                <a:latin typeface="+mn-ea"/>
              </a:rPr>
              <a:t>()</a:t>
            </a:r>
            <a:r>
              <a:rPr lang="ko-KR" altLang="en-US" sz="2400" dirty="0">
                <a:latin typeface="+mn-ea"/>
              </a:rPr>
              <a:t>함수로 </a:t>
            </a:r>
            <a:r>
              <a:rPr lang="ko-KR" altLang="en-US" sz="2400" dirty="0" err="1">
                <a:latin typeface="+mn-ea"/>
              </a:rPr>
              <a:t>결측치</a:t>
            </a:r>
            <a:r>
              <a:rPr lang="ko-KR" altLang="en-US" sz="2400" dirty="0">
                <a:latin typeface="+mn-ea"/>
              </a:rPr>
              <a:t> 여부를 확인할 수 있음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endParaRPr lang="en-US" altLang="ko-KR" sz="2400" dirty="0">
              <a:latin typeface="+mn-ea"/>
            </a:endParaRPr>
          </a:p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latin typeface="+mn-ea"/>
              </a:rPr>
              <a:t>Titanic </a:t>
            </a:r>
            <a:r>
              <a:rPr lang="ko-KR" altLang="en-US" sz="2400" dirty="0">
                <a:latin typeface="+mn-ea"/>
              </a:rPr>
              <a:t>데이터에는 </a:t>
            </a:r>
            <a:r>
              <a:rPr lang="en-US" altLang="ko-KR" sz="2400" dirty="0">
                <a:latin typeface="+mn-ea"/>
              </a:rPr>
              <a:t>Age, Cabin, Embarked </a:t>
            </a:r>
            <a:r>
              <a:rPr lang="ko-KR" altLang="en-US" sz="2400" dirty="0">
                <a:latin typeface="+mn-ea"/>
              </a:rPr>
              <a:t>변수에서 </a:t>
            </a:r>
            <a:r>
              <a:rPr lang="ko-KR" altLang="en-US" sz="2400" dirty="0" err="1">
                <a:latin typeface="+mn-ea"/>
              </a:rPr>
              <a:t>결측이</a:t>
            </a:r>
            <a:r>
              <a:rPr lang="ko-KR" altLang="en-US" sz="2400" dirty="0">
                <a:latin typeface="+mn-ea"/>
              </a:rPr>
              <a:t> 있음을 확인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endParaRPr lang="en-US" altLang="ko-KR" sz="2400" dirty="0">
              <a:latin typeface="+mn-ea"/>
            </a:endParaRPr>
          </a:p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latin typeface="+mn-ea"/>
              </a:rPr>
              <a:t>Cabin</a:t>
            </a:r>
            <a:r>
              <a:rPr lang="ko-KR" altLang="en-US" sz="2400" dirty="0">
                <a:latin typeface="+mn-ea"/>
              </a:rPr>
              <a:t>의 경우 제거 혹은 결측 여부 변수를 고려할 수 있음</a:t>
            </a:r>
            <a:r>
              <a:rPr lang="en-US" altLang="ko-KR" sz="2400" dirty="0">
                <a:latin typeface="+mn-ea"/>
              </a:rPr>
              <a:t>. (ex. “Unknown”</a:t>
            </a:r>
            <a:r>
              <a:rPr lang="ko-KR" altLang="en-US" sz="2400" dirty="0">
                <a:latin typeface="+mn-ea"/>
              </a:rPr>
              <a:t>으로 대체</a:t>
            </a:r>
            <a:r>
              <a:rPr lang="en-US" altLang="ko-KR" sz="2400" dirty="0">
                <a:latin typeface="+mn-ea"/>
              </a:rPr>
              <a:t>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FA6CE6C-4E5A-F3F6-8065-5DB3C54A3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420" y="1701800"/>
            <a:ext cx="3619655" cy="4426446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38628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r>
              <a:rPr lang="en-US" altLang="ko-KR" sz="4400" dirty="0">
                <a:solidFill>
                  <a:schemeClr val="tx1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Complete Case Analysis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6690"/>
            <a:ext cx="2919730" cy="127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1065" cy="276999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79905"/>
            <a:ext cx="10643101" cy="738664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 err="1">
                <a:solidFill>
                  <a:srgbClr val="1F2937"/>
                </a:solidFill>
                <a:latin typeface="+mn-ea"/>
                <a:cs typeface="Noto Sans CJK KR" pitchFamily="34" charset="-120"/>
              </a:rPr>
              <a:t>모든</a:t>
            </a:r>
            <a:r>
              <a:rPr lang="en-US" altLang="ko-KR" sz="2400" dirty="0">
                <a:solidFill>
                  <a:srgbClr val="1F2937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altLang="ko-KR" sz="2400" dirty="0" err="1">
                <a:solidFill>
                  <a:srgbClr val="1F2937"/>
                </a:solidFill>
                <a:latin typeface="+mn-ea"/>
                <a:cs typeface="Noto Sans CJK KR" pitchFamily="34" charset="-120"/>
              </a:rPr>
              <a:t>변수들이</a:t>
            </a:r>
            <a:r>
              <a:rPr lang="en-US" altLang="ko-KR" sz="2400" dirty="0">
                <a:solidFill>
                  <a:srgbClr val="1F2937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altLang="ko-KR" sz="2400" dirty="0" err="1">
                <a:solidFill>
                  <a:srgbClr val="1F2937"/>
                </a:solidFill>
                <a:latin typeface="+mn-ea"/>
                <a:cs typeface="Noto Sans CJK KR" pitchFamily="34" charset="-120"/>
              </a:rPr>
              <a:t>관측된</a:t>
            </a:r>
            <a:r>
              <a:rPr lang="en-US" altLang="ko-KR" sz="2400" dirty="0">
                <a:solidFill>
                  <a:srgbClr val="1F2937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altLang="ko-KR" sz="2400" dirty="0" err="1">
                <a:solidFill>
                  <a:srgbClr val="1F2937"/>
                </a:solidFill>
                <a:latin typeface="+mn-ea"/>
                <a:cs typeface="Noto Sans CJK KR" pitchFamily="34" charset="-120"/>
              </a:rPr>
              <a:t>개체만</a:t>
            </a:r>
            <a:r>
              <a:rPr lang="en-US" altLang="ko-KR" sz="2400" dirty="0">
                <a:solidFill>
                  <a:srgbClr val="1F2937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altLang="ko-KR" sz="2400" dirty="0" err="1">
                <a:solidFill>
                  <a:srgbClr val="1F2937"/>
                </a:solidFill>
                <a:latin typeface="+mn-ea"/>
                <a:cs typeface="Noto Sans CJK KR" pitchFamily="34" charset="-120"/>
              </a:rPr>
              <a:t>이용하는</a:t>
            </a:r>
            <a:r>
              <a:rPr lang="en-US" altLang="ko-KR" sz="2400" dirty="0">
                <a:solidFill>
                  <a:srgbClr val="1F2937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altLang="ko-KR" sz="2400" dirty="0" err="1">
                <a:solidFill>
                  <a:srgbClr val="1F2937"/>
                </a:solidFill>
                <a:latin typeface="+mn-ea"/>
                <a:cs typeface="Noto Sans CJK KR" pitchFamily="34" charset="-120"/>
              </a:rPr>
              <a:t>방식</a:t>
            </a:r>
            <a:r>
              <a:rPr lang="en-US" altLang="ko-KR" sz="2400" dirty="0">
                <a:solidFill>
                  <a:srgbClr val="1F2937"/>
                </a:solidFill>
                <a:latin typeface="+mn-ea"/>
                <a:cs typeface="Noto Sans CJK KR" pitchFamily="34" charset="-120"/>
              </a:rPr>
              <a:t>. </a:t>
            </a:r>
          </a:p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 err="1">
                <a:solidFill>
                  <a:srgbClr val="1F2937"/>
                </a:solidFill>
                <a:latin typeface="+mn-ea"/>
                <a:cs typeface="Noto Sans CJK KR" pitchFamily="34" charset="-120"/>
              </a:rPr>
              <a:t>구현은</a:t>
            </a:r>
            <a:r>
              <a:rPr lang="en-US" altLang="ko-KR" sz="2400" dirty="0">
                <a:solidFill>
                  <a:srgbClr val="1F2937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altLang="ko-KR" sz="2400" dirty="0" err="1">
                <a:solidFill>
                  <a:srgbClr val="1F2937"/>
                </a:solidFill>
                <a:latin typeface="+mn-ea"/>
                <a:cs typeface="Noto Sans CJK KR" pitchFamily="34" charset="-120"/>
              </a:rPr>
              <a:t>쉽지만</a:t>
            </a:r>
            <a:r>
              <a:rPr lang="en-US" altLang="ko-KR" sz="2400" dirty="0">
                <a:solidFill>
                  <a:srgbClr val="1F2937"/>
                </a:solidFill>
                <a:latin typeface="+mn-ea"/>
                <a:cs typeface="Noto Sans CJK KR" pitchFamily="34" charset="-120"/>
              </a:rPr>
              <a:t>, </a:t>
            </a:r>
            <a:r>
              <a:rPr lang="en-US" altLang="ko-KR" sz="2400" dirty="0" err="1">
                <a:solidFill>
                  <a:srgbClr val="1F2937"/>
                </a:solidFill>
                <a:latin typeface="+mn-ea"/>
                <a:cs typeface="Noto Sans CJK KR" pitchFamily="34" charset="-120"/>
              </a:rPr>
              <a:t>결측률이</a:t>
            </a:r>
            <a:r>
              <a:rPr lang="en-US" altLang="ko-KR" sz="2400" dirty="0">
                <a:solidFill>
                  <a:srgbClr val="1F2937"/>
                </a:solidFill>
                <a:latin typeface="+mn-ea"/>
                <a:cs typeface="Noto Sans CJK KR" pitchFamily="34" charset="-120"/>
              </a:rPr>
              <a:t> 큰 </a:t>
            </a:r>
            <a:r>
              <a:rPr lang="en-US" altLang="ko-KR" sz="2400" dirty="0" err="1">
                <a:solidFill>
                  <a:srgbClr val="1F2937"/>
                </a:solidFill>
                <a:latin typeface="+mn-ea"/>
                <a:cs typeface="Noto Sans CJK KR" pitchFamily="34" charset="-120"/>
              </a:rPr>
              <a:t>변수가</a:t>
            </a:r>
            <a:r>
              <a:rPr lang="en-US" altLang="ko-KR" sz="2400" dirty="0">
                <a:solidFill>
                  <a:srgbClr val="1F2937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altLang="ko-KR" sz="2400" dirty="0" err="1">
                <a:solidFill>
                  <a:srgbClr val="1F2937"/>
                </a:solidFill>
                <a:latin typeface="+mn-ea"/>
                <a:cs typeface="Noto Sans CJK KR" pitchFamily="34" charset="-120"/>
              </a:rPr>
              <a:t>있으면</a:t>
            </a:r>
            <a:r>
              <a:rPr lang="en-US" altLang="ko-KR" sz="2400" dirty="0">
                <a:solidFill>
                  <a:srgbClr val="1F2937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altLang="ko-KR" sz="2400" dirty="0" err="1">
                <a:solidFill>
                  <a:srgbClr val="1F2937"/>
                </a:solidFill>
                <a:latin typeface="+mn-ea"/>
                <a:cs typeface="Noto Sans CJK KR" pitchFamily="34" charset="-120"/>
              </a:rPr>
              <a:t>표본</a:t>
            </a:r>
            <a:r>
              <a:rPr lang="en-US" altLang="ko-KR" sz="2400" dirty="0">
                <a:solidFill>
                  <a:srgbClr val="1F2937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altLang="ko-KR" sz="2400" dirty="0" err="1">
                <a:solidFill>
                  <a:srgbClr val="1F2937"/>
                </a:solidFill>
                <a:latin typeface="+mn-ea"/>
                <a:cs typeface="Noto Sans CJK KR" pitchFamily="34" charset="-120"/>
              </a:rPr>
              <a:t>수가</a:t>
            </a:r>
            <a:r>
              <a:rPr lang="en-US" altLang="ko-KR" sz="2400" dirty="0">
                <a:solidFill>
                  <a:srgbClr val="1F2937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altLang="ko-KR" sz="2400" dirty="0" err="1">
                <a:solidFill>
                  <a:srgbClr val="1F2937"/>
                </a:solidFill>
                <a:latin typeface="+mn-ea"/>
                <a:cs typeface="Noto Sans CJK KR" pitchFamily="34" charset="-120"/>
              </a:rPr>
              <a:t>크게</a:t>
            </a:r>
            <a:r>
              <a:rPr lang="en-US" altLang="ko-KR" sz="2400" dirty="0">
                <a:solidFill>
                  <a:srgbClr val="1F2937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altLang="ko-KR" sz="2400" dirty="0" err="1">
                <a:solidFill>
                  <a:srgbClr val="1F2937"/>
                </a:solidFill>
                <a:latin typeface="+mn-ea"/>
                <a:cs typeface="Noto Sans CJK KR" pitchFamily="34" charset="-120"/>
              </a:rPr>
              <a:t>줄어</a:t>
            </a:r>
            <a:r>
              <a:rPr lang="ko-KR" altLang="en-US" sz="2400" dirty="0" err="1">
                <a:solidFill>
                  <a:srgbClr val="1F2937"/>
                </a:solidFill>
                <a:latin typeface="+mn-ea"/>
                <a:cs typeface="Noto Sans CJK KR" pitchFamily="34" charset="-120"/>
              </a:rPr>
              <a:t>듬</a:t>
            </a:r>
            <a:r>
              <a:rPr lang="en-US" altLang="ko-KR" sz="2400" dirty="0">
                <a:solidFill>
                  <a:srgbClr val="1F2937"/>
                </a:solidFill>
                <a:latin typeface="+mn-ea"/>
                <a:cs typeface="Noto Sans CJK KR" pitchFamily="34" charset="-120"/>
              </a:rPr>
              <a:t>.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08566D3-5514-9E30-F6F8-AA836DF07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964" y="2965576"/>
            <a:ext cx="4086795" cy="2972215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4022113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r>
              <a:rPr lang="en-US" altLang="ko-KR" sz="4400" dirty="0">
                <a:solidFill>
                  <a:schemeClr val="tx1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Cabin </a:t>
            </a:r>
            <a:r>
              <a:rPr lang="ko-KR" altLang="en-US" sz="4400" dirty="0">
                <a:solidFill>
                  <a:schemeClr val="tx1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변수</a:t>
            </a:r>
            <a:r>
              <a:rPr lang="en-US" altLang="ko-KR" sz="4400" dirty="0">
                <a:solidFill>
                  <a:schemeClr val="tx1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: </a:t>
            </a:r>
            <a:r>
              <a:rPr lang="ko-KR" altLang="en-US" sz="4400" dirty="0">
                <a:solidFill>
                  <a:schemeClr val="tx1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값을 채우기보다 정보로 바꾸기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6690"/>
            <a:ext cx="2919730" cy="127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1065" cy="276999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79905"/>
            <a:ext cx="10643101" cy="1107996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2400" dirty="0">
                <a:latin typeface="+mn-ea"/>
              </a:rPr>
              <a:t>객실 번호를 억지로 추정하기보다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객실 정보가 기록되었는지 자체를 변수로 만드는 방법이 더 안정적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2400" dirty="0">
                <a:latin typeface="+mn-ea"/>
              </a:rPr>
              <a:t>또한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의미가 없을 수 있는 객실 번호 정보는 버리고 구역 정보만 남겨두기</a:t>
            </a:r>
            <a:r>
              <a:rPr lang="en-US" altLang="ko-KR" sz="2400" dirty="0">
                <a:latin typeface="+mn-ea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54774E-ECF2-0C6C-95E9-C82DD8D41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715" y="3107937"/>
            <a:ext cx="4584633" cy="2611407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F37B910-0510-181C-9F4A-38EE7E403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653" y="3107937"/>
            <a:ext cx="4584631" cy="3515278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1258453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r>
              <a:rPr lang="en-US" altLang="ko-KR" sz="4400" b="1" dirty="0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단</a:t>
            </a:r>
            <a:r>
              <a:rPr lang="ko-KR" altLang="en-US" sz="4400" b="1" dirty="0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일</a:t>
            </a:r>
            <a:r>
              <a:rPr lang="en-US" altLang="ko-KR" sz="4400" b="1" dirty="0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 </a:t>
            </a:r>
            <a:r>
              <a:rPr lang="en-US" altLang="ko-KR" sz="4400" b="1" dirty="0" err="1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대체</a:t>
            </a:r>
            <a:r>
              <a:rPr lang="en-US" altLang="ko-KR" sz="4400" b="1" dirty="0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: </a:t>
            </a:r>
            <a:r>
              <a:rPr lang="en-US" altLang="ko-KR" sz="4400" b="1" dirty="0" err="1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평균</a:t>
            </a:r>
            <a:r>
              <a:rPr lang="en-US" altLang="ko-KR" sz="4400" b="1" dirty="0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, </a:t>
            </a:r>
            <a:r>
              <a:rPr lang="en-US" altLang="ko-KR" sz="4400" b="1" dirty="0" err="1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중앙값</a:t>
            </a:r>
            <a:r>
              <a:rPr lang="en-US" altLang="ko-KR" sz="4400" b="1" dirty="0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, </a:t>
            </a:r>
            <a:r>
              <a:rPr lang="en-US" altLang="ko-KR" sz="4400" b="1" dirty="0" err="1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최빈값</a:t>
            </a:r>
            <a:endParaRPr lang="ko-KR" altLang="en-US" sz="44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6690"/>
            <a:ext cx="2919730" cy="127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1065" cy="276999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79905"/>
            <a:ext cx="10643101" cy="1107996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2400" dirty="0">
                <a:latin typeface="+mn-ea"/>
              </a:rPr>
              <a:t>단일 대체 방법은 각 </a:t>
            </a:r>
            <a:r>
              <a:rPr lang="ko-KR" altLang="en-US" sz="2400" dirty="0" err="1">
                <a:latin typeface="+mn-ea"/>
              </a:rPr>
              <a:t>결측치를</a:t>
            </a:r>
            <a:r>
              <a:rPr lang="ko-KR" altLang="en-US" sz="2400" dirty="0">
                <a:latin typeface="+mn-ea"/>
              </a:rPr>
              <a:t> 하나의 값으로 채운 뒤 완전한 데이터처럼 분석하는 방법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2400" dirty="0">
                <a:latin typeface="+mn-ea"/>
              </a:rPr>
              <a:t>그 중 가장 쉬운 방법으로 평균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중앙값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 err="1">
                <a:latin typeface="+mn-ea"/>
              </a:rPr>
              <a:t>최빈값</a:t>
            </a:r>
            <a:r>
              <a:rPr lang="ko-KR" altLang="en-US" sz="2400" dirty="0">
                <a:latin typeface="+mn-ea"/>
              </a:rPr>
              <a:t> 등으로 대체하는 방법이 있음</a:t>
            </a:r>
            <a:r>
              <a:rPr lang="en-US" altLang="ko-KR" sz="2400" dirty="0">
                <a:latin typeface="+mn-ea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B6606F0-AE80-E4C7-F580-7DC75028A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373" y="3326045"/>
            <a:ext cx="5649113" cy="2648320"/>
          </a:xfrm>
          <a:prstGeom prst="rect">
            <a:avLst/>
          </a:prstGeom>
          <a:ln>
            <a:solidFill>
              <a:srgbClr val="002060"/>
            </a:solidFill>
          </a:ln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CABE1A0-9F05-67A8-C71C-857A3F64A1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110113"/>
              </p:ext>
            </p:extLst>
          </p:nvPr>
        </p:nvGraphicFramePr>
        <p:xfrm>
          <a:off x="6944158" y="3326045"/>
          <a:ext cx="4834759" cy="18999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46289">
                  <a:extLst>
                    <a:ext uri="{9D8B030D-6E8A-4147-A177-3AD203B41FA5}">
                      <a16:colId xmlns:a16="http://schemas.microsoft.com/office/drawing/2014/main" val="3095463718"/>
                    </a:ext>
                  </a:extLst>
                </a:gridCol>
                <a:gridCol w="1994235">
                  <a:extLst>
                    <a:ext uri="{9D8B030D-6E8A-4147-A177-3AD203B41FA5}">
                      <a16:colId xmlns:a16="http://schemas.microsoft.com/office/drawing/2014/main" val="3529313269"/>
                    </a:ext>
                  </a:extLst>
                </a:gridCol>
                <a:gridCol w="1994235">
                  <a:extLst>
                    <a:ext uri="{9D8B030D-6E8A-4147-A177-3AD203B41FA5}">
                      <a16:colId xmlns:a16="http://schemas.microsoft.com/office/drawing/2014/main" val="1039954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+mn-lt"/>
                        </a:rPr>
                        <a:t>방법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+mn-lt"/>
                        </a:rPr>
                        <a:t>장점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+mn-lt"/>
                        </a:rPr>
                        <a:t>주의점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3316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+mn-lt"/>
                        </a:rPr>
                        <a:t>평균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latin typeface="+mn-lt"/>
                        </a:rPr>
                        <a:t>쉽고 빠름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latin typeface="+mn-lt"/>
                        </a:rPr>
                        <a:t>분산이 작아질 수 있음</a:t>
                      </a:r>
                      <a:r>
                        <a:rPr lang="en-US" altLang="ko-KR" sz="1600" dirty="0">
                          <a:latin typeface="+mn-lt"/>
                        </a:rPr>
                        <a:t>.</a:t>
                      </a:r>
                      <a:endParaRPr lang="ko-KR" altLang="en-US" sz="16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0399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+mn-lt"/>
                        </a:rPr>
                        <a:t>중앙값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latin typeface="+mn-lt"/>
                        </a:rPr>
                        <a:t>이상치에 덜 민감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latin typeface="+mn-lt"/>
                        </a:rPr>
                        <a:t>중앙값에 값이 몰릴 수 있음</a:t>
                      </a:r>
                      <a:r>
                        <a:rPr lang="en-US" altLang="ko-KR" sz="1600" dirty="0">
                          <a:latin typeface="+mn-lt"/>
                        </a:rPr>
                        <a:t>.</a:t>
                      </a:r>
                      <a:endParaRPr lang="ko-KR" altLang="en-US" sz="16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6924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+mn-lt"/>
                        </a:rPr>
                        <a:t>최빈값</a:t>
                      </a:r>
                      <a:endParaRPr lang="ko-KR" altLang="en-US" sz="16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latin typeface="+mn-lt"/>
                        </a:rPr>
                        <a:t>범주형 변수에 적합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latin typeface="+mn-lt"/>
                        </a:rPr>
                        <a:t>소수 범주가 줄어들 수 있음</a:t>
                      </a:r>
                      <a:r>
                        <a:rPr lang="en-US" altLang="ko-KR" sz="1600" dirty="0">
                          <a:latin typeface="+mn-lt"/>
                        </a:rPr>
                        <a:t>.</a:t>
                      </a:r>
                      <a:endParaRPr lang="ko-KR" altLang="en-US" sz="16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5709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6463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 txBox="1">
            <a:spLocks/>
          </p:cNvSpPr>
          <p:nvPr/>
        </p:nvSpPr>
        <p:spPr>
          <a:xfrm>
            <a:off x="835025" y="1779905"/>
            <a:ext cx="10643101" cy="369332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2400" dirty="0" err="1">
                <a:latin typeface="+mn-ea"/>
              </a:rPr>
              <a:t>결측값을</a:t>
            </a:r>
            <a:r>
              <a:rPr lang="ko-KR" altLang="en-US" sz="2400" dirty="0">
                <a:latin typeface="+mn-ea"/>
              </a:rPr>
              <a:t> 가진 </a:t>
            </a:r>
            <a:r>
              <a:rPr lang="en-US" altLang="ko-KR" sz="2400" dirty="0">
                <a:latin typeface="+mn-ea"/>
              </a:rPr>
              <a:t>Age </a:t>
            </a:r>
            <a:r>
              <a:rPr lang="ko-KR" altLang="en-US" sz="2400" dirty="0">
                <a:latin typeface="+mn-ea"/>
              </a:rPr>
              <a:t>변수를 다른 변수들과 회귀분석한 후 </a:t>
            </a:r>
            <a:r>
              <a:rPr lang="ko-KR" altLang="en-US" sz="2400" dirty="0" err="1">
                <a:latin typeface="+mn-ea"/>
              </a:rPr>
              <a:t>예측값으로</a:t>
            </a:r>
            <a:r>
              <a:rPr lang="ko-KR" altLang="en-US" sz="2400" dirty="0">
                <a:latin typeface="+mn-ea"/>
              </a:rPr>
              <a:t> 대체</a:t>
            </a:r>
            <a:r>
              <a:rPr lang="en-US" altLang="ko-KR" sz="2400" dirty="0">
                <a:latin typeface="+mn-ea"/>
              </a:rPr>
              <a:t>.</a:t>
            </a:r>
          </a:p>
        </p:txBody>
      </p:sp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r>
              <a:rPr lang="en-US" altLang="ko-KR" sz="4400" b="1" dirty="0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단</a:t>
            </a:r>
            <a:r>
              <a:rPr lang="ko-KR" altLang="en-US" sz="4400" b="1" dirty="0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일</a:t>
            </a:r>
            <a:r>
              <a:rPr lang="en-US" altLang="ko-KR" sz="4400" b="1" dirty="0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 </a:t>
            </a:r>
            <a:r>
              <a:rPr lang="en-US" altLang="ko-KR" sz="4400" b="1" dirty="0" err="1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대체</a:t>
            </a:r>
            <a:r>
              <a:rPr lang="en-US" altLang="ko-KR" sz="4400" b="1" dirty="0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: </a:t>
            </a:r>
            <a:r>
              <a:rPr lang="ko-KR" altLang="en-US" sz="4400" b="1" dirty="0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조건부 평균 </a:t>
            </a:r>
            <a:r>
              <a:rPr lang="ko-KR" altLang="en-US" sz="4400" b="1" dirty="0" err="1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대체법</a:t>
            </a:r>
            <a:endParaRPr lang="ko-KR" altLang="en-US" sz="44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6690"/>
            <a:ext cx="2919730" cy="127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A58583C4-B4F0-07DE-7725-6549233B8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036" y="2417846"/>
            <a:ext cx="4783722" cy="2759560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C91EB15-1BDF-DD21-D4A8-A86C481D9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697" y="2417845"/>
            <a:ext cx="3920855" cy="4069435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3014362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r>
              <a:rPr lang="en-US" altLang="ko-KR" sz="4400" b="1" dirty="0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단</a:t>
            </a:r>
            <a:r>
              <a:rPr lang="ko-KR" altLang="en-US" sz="4400" b="1" dirty="0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일</a:t>
            </a:r>
            <a:r>
              <a:rPr lang="en-US" altLang="ko-KR" sz="4400" b="1" dirty="0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 </a:t>
            </a:r>
            <a:r>
              <a:rPr lang="en-US" altLang="ko-KR" sz="4400" b="1" dirty="0" err="1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대체</a:t>
            </a:r>
            <a:r>
              <a:rPr lang="en-US" altLang="ko-KR" sz="4400" b="1" dirty="0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: </a:t>
            </a:r>
            <a:r>
              <a:rPr lang="ko-KR" altLang="en-US" sz="4400" b="1" dirty="0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조건부 평균 </a:t>
            </a:r>
            <a:r>
              <a:rPr lang="ko-KR" altLang="en-US" sz="4400" b="1" dirty="0" err="1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대체법</a:t>
            </a:r>
            <a:r>
              <a:rPr lang="ko-KR" altLang="en-US" sz="4400" b="1" dirty="0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 </a:t>
            </a:r>
            <a:r>
              <a:rPr lang="en-US" altLang="ko-KR" sz="4400" b="1" dirty="0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(</a:t>
            </a:r>
            <a:r>
              <a:rPr lang="ko-KR" altLang="en-US" sz="4400" b="1" dirty="0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분포 보정</a:t>
            </a:r>
            <a:r>
              <a:rPr lang="en-US" altLang="ko-KR" sz="4400" b="1" dirty="0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)</a:t>
            </a:r>
            <a:endParaRPr lang="ko-KR" altLang="en-US" sz="44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6690"/>
            <a:ext cx="2919730" cy="127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1065" cy="276999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79905"/>
            <a:ext cx="10643101" cy="738664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2400" dirty="0">
                <a:latin typeface="+mn-ea"/>
              </a:rPr>
              <a:t>회귀 </a:t>
            </a:r>
            <a:r>
              <a:rPr lang="ko-KR" altLang="en-US" sz="2400" dirty="0" err="1">
                <a:latin typeface="+mn-ea"/>
              </a:rPr>
              <a:t>예측값만</a:t>
            </a:r>
            <a:r>
              <a:rPr lang="ko-KR" altLang="en-US" sz="2400" dirty="0">
                <a:latin typeface="+mn-ea"/>
              </a:rPr>
              <a:t> 사용하면 분산이 작아질 수 있으므로 </a:t>
            </a:r>
            <a:r>
              <a:rPr lang="ko-KR" altLang="en-US" sz="2400" dirty="0" err="1">
                <a:latin typeface="+mn-ea"/>
              </a:rPr>
              <a:t>예측값에</a:t>
            </a:r>
            <a:r>
              <a:rPr lang="ko-KR" altLang="en-US" sz="2400" dirty="0">
                <a:latin typeface="+mn-ea"/>
              </a:rPr>
              <a:t> 임의 오차를 더해 불확실성을 조금 더 반영하는 방식으로 보정</a:t>
            </a:r>
            <a:r>
              <a:rPr lang="en-US" altLang="ko-KR" sz="2400" dirty="0">
                <a:latin typeface="+mn-ea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619AA4-3404-BBD8-F0B1-A5CBA04F173F}"/>
              </a:ext>
            </a:extLst>
          </p:cNvPr>
          <p:cNvSpPr txBox="1"/>
          <p:nvPr/>
        </p:nvSpPr>
        <p:spPr>
          <a:xfrm>
            <a:off x="6454942" y="2710478"/>
            <a:ext cx="1067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보정 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739AB4-029D-28BA-1B37-F9A7E83C3042}"/>
              </a:ext>
            </a:extLst>
          </p:cNvPr>
          <p:cNvSpPr txBox="1"/>
          <p:nvPr/>
        </p:nvSpPr>
        <p:spPr>
          <a:xfrm>
            <a:off x="6454942" y="4755066"/>
            <a:ext cx="1067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보정 전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AF6FBBC-1E21-A004-2D20-8D254AD1A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528" y="2783840"/>
            <a:ext cx="4391771" cy="2930371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A60BE2F-C080-98F9-DE0B-1E8D771B6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277" y="3079810"/>
            <a:ext cx="1892908" cy="1675256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5FCB67FA-3B7B-18BF-3CFE-B0F5FDDF0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277" y="5124398"/>
            <a:ext cx="1926876" cy="1675256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1466692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r>
              <a:rPr lang="en-US" altLang="ko-KR" sz="4400" b="1" dirty="0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단</a:t>
            </a:r>
            <a:r>
              <a:rPr lang="ko-KR" altLang="en-US" sz="4400" b="1" dirty="0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일</a:t>
            </a:r>
            <a:r>
              <a:rPr lang="en-US" altLang="ko-KR" sz="4400" b="1" dirty="0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 </a:t>
            </a:r>
            <a:r>
              <a:rPr lang="en-US" altLang="ko-KR" sz="4400" b="1" dirty="0" err="1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대체</a:t>
            </a:r>
            <a:r>
              <a:rPr lang="en-US" altLang="ko-KR" sz="4400" b="1" dirty="0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: Hot Deck </a:t>
            </a:r>
            <a:r>
              <a:rPr lang="ko-KR" altLang="en-US" sz="4400" b="1" dirty="0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대체</a:t>
            </a:r>
            <a:r>
              <a:rPr lang="en-US" altLang="ko-KR" sz="4400" b="1" dirty="0">
                <a:solidFill>
                  <a:srgbClr val="1F2937"/>
                </a:solidFill>
                <a:latin typeface="+mj-ea"/>
                <a:ea typeface="+mj-ea"/>
                <a:cs typeface="Noto Sans CJK KR" pitchFamily="34" charset="-120"/>
              </a:rPr>
              <a:t> </a:t>
            </a:r>
            <a:endParaRPr lang="ko-KR" altLang="en-US" sz="44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6690"/>
            <a:ext cx="2919730" cy="127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1065" cy="276999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79905"/>
            <a:ext cx="10643101" cy="738664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latin typeface="+mn-ea"/>
              </a:rPr>
              <a:t>Hot Deck</a:t>
            </a:r>
            <a:r>
              <a:rPr lang="ko-KR" altLang="en-US" sz="2400" dirty="0">
                <a:latin typeface="+mn-ea"/>
              </a:rPr>
              <a:t>은 자료 안에서 관측된 다른 개체를 골라 그 값으로 </a:t>
            </a:r>
            <a:r>
              <a:rPr lang="ko-KR" altLang="en-US" sz="2400" dirty="0" err="1">
                <a:latin typeface="+mn-ea"/>
              </a:rPr>
              <a:t>결측치를</a:t>
            </a:r>
            <a:r>
              <a:rPr lang="ko-KR" altLang="en-US" sz="2400" dirty="0">
                <a:latin typeface="+mn-ea"/>
              </a:rPr>
              <a:t> 채우는 방법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2400" dirty="0">
                <a:latin typeface="+mn-ea"/>
              </a:rPr>
              <a:t>여기서는 같은 </a:t>
            </a:r>
            <a:r>
              <a:rPr lang="en-US" altLang="ko-KR" sz="2400" dirty="0">
                <a:latin typeface="+mn-ea"/>
              </a:rPr>
              <a:t>Sex</a:t>
            </a:r>
            <a:r>
              <a:rPr lang="ko-KR" altLang="en-US" sz="2400" dirty="0">
                <a:latin typeface="+mn-ea"/>
              </a:rPr>
              <a:t>와 </a:t>
            </a:r>
            <a:r>
              <a:rPr lang="en-US" altLang="ko-KR" sz="2400" dirty="0" err="1">
                <a:latin typeface="+mn-ea"/>
              </a:rPr>
              <a:t>Pclass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그룹 안에서 </a:t>
            </a:r>
            <a:r>
              <a:rPr lang="en-US" altLang="ko-KR" sz="2400" dirty="0">
                <a:latin typeface="+mn-ea"/>
              </a:rPr>
              <a:t>Age</a:t>
            </a:r>
            <a:r>
              <a:rPr lang="ko-KR" altLang="en-US" sz="2400" dirty="0">
                <a:latin typeface="+mn-ea"/>
              </a:rPr>
              <a:t>를 무작위 추출함</a:t>
            </a:r>
            <a:r>
              <a:rPr lang="en-US" altLang="ko-KR" sz="2400" dirty="0">
                <a:latin typeface="+mn-ea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6F95604-0BCE-5CBA-F49D-B8037AD15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1747" y="2686240"/>
            <a:ext cx="6288506" cy="4000120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615642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r>
              <a:rPr lang="en-US" altLang="ko-KR" sz="4400" dirty="0">
                <a:solidFill>
                  <a:schemeClr val="tx1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SRMI</a:t>
            </a:r>
            <a:r>
              <a:rPr lang="ko-KR" altLang="en-US" dirty="0"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와 </a:t>
            </a:r>
            <a:r>
              <a:rPr lang="en-US" altLang="ko-KR" dirty="0"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Multiple Imputation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6690"/>
            <a:ext cx="2919730" cy="127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1065" cy="276999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79905"/>
            <a:ext cx="10643101" cy="738664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latin typeface="+mn-ea"/>
              </a:rPr>
              <a:t>SRMI</a:t>
            </a:r>
            <a:r>
              <a:rPr lang="ko-KR" altLang="en-US" sz="2400" dirty="0">
                <a:latin typeface="+mn-ea"/>
              </a:rPr>
              <a:t>는 결측 변수를 하나씩 종속변수로 두고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다른 변수들을 이용해 반복적으로 </a:t>
            </a:r>
            <a:endParaRPr lang="en-US" altLang="ko-KR" sz="2400" dirty="0">
              <a:latin typeface="+mn-ea"/>
            </a:endParaRPr>
          </a:p>
          <a:p>
            <a:pPr marL="12700">
              <a:tabLst>
                <a:tab pos="122555" algn="l"/>
              </a:tabLst>
            </a:pPr>
            <a:r>
              <a:rPr lang="en-US" altLang="ko-KR" sz="2400" dirty="0">
                <a:latin typeface="+mn-ea"/>
              </a:rPr>
              <a:t>      </a:t>
            </a:r>
            <a:r>
              <a:rPr lang="ko-KR" altLang="en-US" sz="2400" dirty="0" err="1">
                <a:latin typeface="+mn-ea"/>
              </a:rPr>
              <a:t>대체값을</a:t>
            </a:r>
            <a:r>
              <a:rPr lang="ko-KR" altLang="en-US" sz="2400" dirty="0">
                <a:latin typeface="+mn-ea"/>
              </a:rPr>
              <a:t> 갱신하는 방법</a:t>
            </a:r>
            <a:r>
              <a:rPr lang="en-US" altLang="ko-KR" sz="2400" dirty="0">
                <a:latin typeface="+mn-ea"/>
              </a:rPr>
              <a:t>.</a:t>
            </a:r>
          </a:p>
        </p:txBody>
      </p:sp>
      <p:pic>
        <p:nvPicPr>
          <p:cNvPr id="8" name="Image 0">
            <a:extLst>
              <a:ext uri="{FF2B5EF4-FFF2-40B4-BE49-F238E27FC236}">
                <a16:creationId xmlns:a16="http://schemas.microsoft.com/office/drawing/2014/main" id="{15DFC4BB-7DE7-CBE1-2A84-945FC59335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20" t="30111" r="66165" b="14982"/>
          <a:stretch/>
        </p:blipFill>
        <p:spPr>
          <a:xfrm>
            <a:off x="1496107" y="3100199"/>
            <a:ext cx="1603916" cy="281158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C36971C-FCB9-BA18-3A73-67D6EE17FF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475" b="36378"/>
          <a:stretch/>
        </p:blipFill>
        <p:spPr>
          <a:xfrm>
            <a:off x="3683835" y="2951313"/>
            <a:ext cx="4275054" cy="3117390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427E76C-89D8-6481-C7CB-3E99A51F85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933" r="47212" b="50"/>
          <a:stretch/>
        </p:blipFill>
        <p:spPr>
          <a:xfrm>
            <a:off x="8403845" y="3722107"/>
            <a:ext cx="2695287" cy="2346596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2944947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r>
              <a:rPr lang="en-US" altLang="ko-KR" sz="4400" dirty="0">
                <a:solidFill>
                  <a:schemeClr val="tx1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SRMI</a:t>
            </a:r>
            <a:r>
              <a:rPr lang="ko-KR" altLang="en-US" dirty="0"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와 </a:t>
            </a:r>
            <a:r>
              <a:rPr lang="en-US" altLang="ko-KR" dirty="0"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Multiple Imputation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6690"/>
            <a:ext cx="2919730" cy="127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1065" cy="276999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79905"/>
            <a:ext cx="10643101" cy="738664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latin typeface="+mn-ea"/>
              </a:rPr>
              <a:t>SRMI</a:t>
            </a:r>
            <a:r>
              <a:rPr lang="ko-KR" altLang="en-US" sz="2400" dirty="0">
                <a:latin typeface="+mn-ea"/>
              </a:rPr>
              <a:t>는 결측 변수를 하나씩 종속변수로 두고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다른 변수들을 이용해 반복적으로 </a:t>
            </a:r>
            <a:endParaRPr lang="en-US" altLang="ko-KR" sz="2400" dirty="0">
              <a:latin typeface="+mn-ea"/>
            </a:endParaRPr>
          </a:p>
          <a:p>
            <a:pPr marL="12700">
              <a:tabLst>
                <a:tab pos="122555" algn="l"/>
              </a:tabLst>
            </a:pPr>
            <a:r>
              <a:rPr lang="en-US" altLang="ko-KR" sz="2400" dirty="0">
                <a:latin typeface="+mn-ea"/>
              </a:rPr>
              <a:t>      </a:t>
            </a:r>
            <a:r>
              <a:rPr lang="ko-KR" altLang="en-US" sz="2400" dirty="0" err="1">
                <a:latin typeface="+mn-ea"/>
              </a:rPr>
              <a:t>대체값을</a:t>
            </a:r>
            <a:r>
              <a:rPr lang="ko-KR" altLang="en-US" sz="2400" dirty="0">
                <a:latin typeface="+mn-ea"/>
              </a:rPr>
              <a:t> 갱신하는 방법</a:t>
            </a:r>
            <a:r>
              <a:rPr lang="en-US" altLang="ko-KR" sz="2400" dirty="0">
                <a:latin typeface="+mn-ea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2DFA38E-47F9-D37E-9E6D-7A55DDFF7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964" y="2675648"/>
            <a:ext cx="3754795" cy="3952081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1939454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r>
              <a:rPr lang="en-US" altLang="ko-KR" sz="4400" dirty="0">
                <a:solidFill>
                  <a:schemeClr val="tx1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SRMI</a:t>
            </a:r>
            <a:r>
              <a:rPr lang="ko-KR" altLang="en-US" dirty="0"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와 </a:t>
            </a:r>
            <a:r>
              <a:rPr lang="en-US" altLang="ko-KR" dirty="0"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Multiple Imputation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6690"/>
            <a:ext cx="2919730" cy="127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1065" cy="276999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79905"/>
            <a:ext cx="10643101" cy="369332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2400" dirty="0"/>
              <a:t>다중 대체법은 </a:t>
            </a:r>
            <a:r>
              <a:rPr lang="ko-KR" altLang="en-US" sz="2400" dirty="0" err="1"/>
              <a:t>결측으로</a:t>
            </a:r>
            <a:r>
              <a:rPr lang="ko-KR" altLang="en-US" sz="2400" dirty="0"/>
              <a:t> 인한 불확실성을 고려하기 위한 단일 대체법의 확장</a:t>
            </a:r>
            <a:r>
              <a:rPr lang="en-US" altLang="ko-KR" sz="2400" dirty="0"/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E4FE0BC-92AE-81F5-A560-8D663CB5D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879" y="2609545"/>
            <a:ext cx="4515573" cy="3266118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55F23A8-CEC1-0F28-9901-04D3276EE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485" y="2610814"/>
            <a:ext cx="3267131" cy="1575323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BF4C351-4045-99C2-E488-6D723D575D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0850" y="2610813"/>
            <a:ext cx="2291236" cy="3264849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3130614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6">
      <a:majorFont>
        <a:latin typeface="나눔스퀘어OTF_ac ExtraBold"/>
        <a:ea typeface="나눔스퀘어OTF_ac ExtraBold"/>
        <a:cs typeface=""/>
      </a:majorFont>
      <a:minorFont>
        <a:latin typeface="나눔스퀘어OTF"/>
        <a:ea typeface="나눔스퀘어OTF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1381</TotalTime>
  <Pages>40</Pages>
  <Words>537</Words>
  <Characters>0</Characters>
  <Application>Microsoft Office PowerPoint</Application>
  <DocSecurity>0</DocSecurity>
  <PresentationFormat>와이드스크린</PresentationFormat>
  <Lines>0</Lines>
  <Paragraphs>100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3" baseType="lpstr">
      <vt:lpstr>나눔스퀘어OTF ExtraBold</vt:lpstr>
      <vt:lpstr>Times New Roman</vt:lpstr>
      <vt:lpstr>Noto Sans CJK KR</vt:lpstr>
      <vt:lpstr>나눔스퀘어OTF_ac ExtraBold</vt:lpstr>
      <vt:lpstr>Wingdings</vt:lpstr>
      <vt:lpstr>나눔스퀘어OTF Bold</vt:lpstr>
      <vt:lpstr>나눔스퀘어OTF</vt:lpstr>
      <vt:lpstr>맑은 고딕</vt:lpstr>
      <vt:lpstr>Office 테마</vt:lpstr>
      <vt:lpstr>우리금융 실습 (추가)</vt:lpstr>
      <vt:lpstr>목차</vt:lpstr>
      <vt:lpstr>결측 자료란 무엇인가?</vt:lpstr>
      <vt:lpstr>Titanic 데이터 불러오기 및 결측치 확인</vt:lpstr>
      <vt:lpstr>Titanic 데이터 불러오기 및 결측치 확인</vt:lpstr>
      <vt:lpstr>Complete Case Analysis</vt:lpstr>
      <vt:lpstr>Cabin 변수: 값을 채우기보다 정보로 바꾸기</vt:lpstr>
      <vt:lpstr>단일 대체: 평균, 중앙값, 최빈값</vt:lpstr>
      <vt:lpstr>단일 대체: 조건부 평균 대체법</vt:lpstr>
      <vt:lpstr>단일 대체: 조건부 평균 대체법 (분포 보정)</vt:lpstr>
      <vt:lpstr>단일 대체: Hot Deck 대체 </vt:lpstr>
      <vt:lpstr>SRMI와 Multiple Imputation</vt:lpstr>
      <vt:lpstr>SRMI와 Multiple Imputation</vt:lpstr>
      <vt:lpstr>SRMI와 Multiple Imputation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데이터마이닝 실습  1주차</dc:title>
  <dc:creator>Kyungseon</dc:creator>
  <cp:lastModifiedBy>User</cp:lastModifiedBy>
  <cp:revision>168</cp:revision>
  <dcterms:modified xsi:type="dcterms:W3CDTF">2026-09-04T05:23:13Z</dcterms:modified>
  <cp:version>10.105.270.55406</cp:version>
</cp:coreProperties>
</file>