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68" r:id="rId1"/>
  </p:sldMasterIdLst>
  <p:notesMasterIdLst>
    <p:notesMasterId r:id="rId46"/>
  </p:notesMasterIdLst>
  <p:sldIdLst>
    <p:sldId id="256" r:id="rId2"/>
    <p:sldId id="525" r:id="rId3"/>
    <p:sldId id="550" r:id="rId4"/>
    <p:sldId id="551" r:id="rId5"/>
    <p:sldId id="543" r:id="rId6"/>
    <p:sldId id="544" r:id="rId7"/>
    <p:sldId id="545" r:id="rId8"/>
    <p:sldId id="547" r:id="rId9"/>
    <p:sldId id="546" r:id="rId10"/>
    <p:sldId id="441" r:id="rId11"/>
    <p:sldId id="410" r:id="rId12"/>
    <p:sldId id="411" r:id="rId13"/>
    <p:sldId id="412" r:id="rId14"/>
    <p:sldId id="414" r:id="rId15"/>
    <p:sldId id="418" r:id="rId16"/>
    <p:sldId id="419" r:id="rId17"/>
    <p:sldId id="420" r:id="rId18"/>
    <p:sldId id="421" r:id="rId19"/>
    <p:sldId id="423" r:id="rId20"/>
    <p:sldId id="424" r:id="rId21"/>
    <p:sldId id="425" r:id="rId22"/>
    <p:sldId id="548" r:id="rId23"/>
    <p:sldId id="444" r:id="rId24"/>
    <p:sldId id="432" r:id="rId25"/>
    <p:sldId id="433" r:id="rId26"/>
    <p:sldId id="448" r:id="rId27"/>
    <p:sldId id="445" r:id="rId28"/>
    <p:sldId id="436" r:id="rId29"/>
    <p:sldId id="451" r:id="rId30"/>
    <p:sldId id="452" r:id="rId31"/>
    <p:sldId id="453" r:id="rId32"/>
    <p:sldId id="460" r:id="rId33"/>
    <p:sldId id="461" r:id="rId34"/>
    <p:sldId id="462" r:id="rId35"/>
    <p:sldId id="549" r:id="rId36"/>
    <p:sldId id="465" r:id="rId37"/>
    <p:sldId id="552" r:id="rId38"/>
    <p:sldId id="555" r:id="rId39"/>
    <p:sldId id="553" r:id="rId40"/>
    <p:sldId id="556" r:id="rId41"/>
    <p:sldId id="554" r:id="rId42"/>
    <p:sldId id="557" r:id="rId43"/>
    <p:sldId id="559" r:id="rId44"/>
    <p:sldId id="558" r:id="rId45"/>
  </p:sldIdLst>
  <p:sldSz cx="12192000" cy="6858000"/>
  <p:notesSz cx="6858000" cy="9144000"/>
  <p:embeddedFontLst>
    <p:embeddedFont>
      <p:font typeface="나눔스퀘어 Bold" panose="020B0600000101010101" pitchFamily="50" charset="-127"/>
      <p:bold r:id="rId47"/>
    </p:embeddedFont>
    <p:embeddedFont>
      <p:font typeface="나눔스퀘어 ExtraBold" panose="020B0600000101010101" pitchFamily="50" charset="-127"/>
      <p:bold r:id="rId48"/>
    </p:embeddedFont>
    <p:embeddedFont>
      <p:font typeface="나눔스퀘어" panose="020B0600000101010101" pitchFamily="50" charset="-127"/>
      <p:regular r:id="rId49"/>
    </p:embeddedFont>
    <p:embeddedFont>
      <p:font typeface="맑은 고딕" panose="020B0503020000020004" pitchFamily="50" charset="-127"/>
      <p:regular r:id="rId50"/>
      <p:bold r:id="rId51"/>
    </p:embeddedFont>
    <p:embeddedFont>
      <p:font typeface="Cambria Math" panose="02040503050406030204" pitchFamily="18" charset="0"/>
      <p:regular r:id="rId5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1" autoAdjust="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450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4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7035" cy="3086735"/>
          </a:xfrm>
          <a:prstGeom prst="rect">
            <a:avLst/>
          </a:prstGeom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76200" tIns="76200" rIns="76200" bIns="76200" anchor="t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텍스트 개체 틀 44"/>
          <p:cNvSpPr txBox="1">
            <a:spLocks noGrp="1"/>
          </p:cNvSpPr>
          <p:nvPr>
            <p:ph type="body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  <a:noFill/>
        </p:spPr>
        <p:txBody>
          <a:bodyPr vert="horz" wrap="square" lIns="76200" tIns="76200" rIns="76200" bIns="76200" anchor="t">
            <a:noAutofit/>
          </a:bodyPr>
          <a:lstStyle/>
          <a:p>
            <a:pPr marL="0" indent="0" algn="l" hangingPunct="1"/>
            <a:r>
              <a:rPr sz="1800" dirty="0" err="1">
                <a:latin typeface="맑은 고딕" charset="0"/>
                <a:ea typeface="맑은 고딕" charset="0"/>
              </a:rPr>
              <a:t>마스터</a:t>
            </a:r>
            <a:r>
              <a:rPr sz="1800" dirty="0">
                <a:latin typeface="맑은 고딕" charset="0"/>
                <a:ea typeface="맑은 고딕" charset="0"/>
              </a:rPr>
              <a:t> </a:t>
            </a:r>
            <a:r>
              <a:rPr sz="1800" dirty="0" err="1">
                <a:latin typeface="맑은 고딕" charset="0"/>
                <a:ea typeface="맑은 고딕" charset="0"/>
              </a:rPr>
              <a:t>텍스트</a:t>
            </a:r>
            <a:r>
              <a:rPr sz="1800" dirty="0">
                <a:latin typeface="맑은 고딕" charset="0"/>
                <a:ea typeface="맑은 고딕" charset="0"/>
              </a:rPr>
              <a:t> </a:t>
            </a:r>
            <a:r>
              <a:rPr sz="1800" dirty="0" err="1">
                <a:latin typeface="맑은 고딕" charset="0"/>
                <a:ea typeface="맑은 고딕" charset="0"/>
              </a:rPr>
              <a:t>스타일을</a:t>
            </a:r>
            <a:r>
              <a:rPr sz="1800" dirty="0">
                <a:latin typeface="맑은 고딕" charset="0"/>
                <a:ea typeface="맑은 고딕" charset="0"/>
              </a:rPr>
              <a:t> </a:t>
            </a:r>
            <a:r>
              <a:rPr sz="1800" dirty="0" err="1">
                <a:latin typeface="맑은 고딕" charset="0"/>
                <a:ea typeface="맑은 고딕" charset="0"/>
              </a:rPr>
              <a:t>편집합니다</a:t>
            </a:r>
            <a:endParaRPr lang="ko-KR" altLang="en-US" sz="1800" dirty="0">
              <a:latin typeface="맑은 고딕" charset="0"/>
              <a:ea typeface="맑은 고딕" charset="0"/>
            </a:endParaRPr>
          </a:p>
          <a:p>
            <a:pPr marL="0" lvl="1" indent="0" rtl="0"/>
            <a:r>
              <a:rPr dirty="0" err="1"/>
              <a:t>둘째</a:t>
            </a:r>
            <a:r>
              <a:rPr dirty="0"/>
              <a:t> </a:t>
            </a:r>
            <a:r>
              <a:rPr dirty="0" err="1"/>
              <a:t>수준</a:t>
            </a:r>
            <a:endParaRPr lang="ko-KR" altLang="en-US" dirty="0"/>
          </a:p>
          <a:p>
            <a:pPr marL="0" lvl="2" indent="0" rtl="0"/>
            <a:r>
              <a:rPr dirty="0" err="1"/>
              <a:t>셋째</a:t>
            </a:r>
            <a:r>
              <a:rPr dirty="0"/>
              <a:t> </a:t>
            </a:r>
            <a:r>
              <a:rPr dirty="0" err="1"/>
              <a:t>수준</a:t>
            </a:r>
            <a:endParaRPr lang="ko-KR" altLang="en-US" dirty="0"/>
          </a:p>
          <a:p>
            <a:pPr marL="0" lvl="3" indent="0" rtl="0"/>
            <a:r>
              <a:rPr dirty="0" err="1"/>
              <a:t>넷째</a:t>
            </a:r>
            <a:r>
              <a:rPr dirty="0"/>
              <a:t> </a:t>
            </a:r>
            <a:r>
              <a:rPr dirty="0" err="1"/>
              <a:t>수준</a:t>
            </a:r>
            <a:endParaRPr lang="ko-KR" altLang="en-US" dirty="0"/>
          </a:p>
          <a:p>
            <a:pPr marL="0" lvl="4" indent="0" rtl="0"/>
            <a:r>
              <a:rPr dirty="0" err="1"/>
              <a:t>다섯째</a:t>
            </a:r>
            <a:r>
              <a:rPr dirty="0"/>
              <a:t> </a:t>
            </a:r>
            <a:r>
              <a:rPr dirty="0" err="1"/>
              <a:t>수준</a:t>
            </a:r>
            <a:endParaRPr lang="ko-KR" altLang="en-US" dirty="0"/>
          </a:p>
        </p:txBody>
      </p:sp>
      <p:sp>
        <p:nvSpPr>
          <p:cNvPr id="7" name="머리글 갤체 틀 45"/>
          <p:cNvSpPr txBox="1">
            <a:spLocks noGrp="1"/>
          </p:cNvSpPr>
          <p:nvPr>
            <p:ph type="hdr"/>
          </p:nvPr>
        </p:nvSpPr>
        <p:spPr>
          <a:xfrm>
            <a:off x="0" y="0"/>
            <a:ext cx="2972435" cy="459740"/>
          </a:xfrm>
          <a:prstGeom prst="rect">
            <a:avLst/>
          </a:prstGeom>
          <a:noFill/>
        </p:spPr>
        <p:txBody>
          <a:bodyPr vert="horz" wrap="square" lIns="76200" tIns="76200" rIns="76200" bIns="76200" anchor="t">
            <a:noAutofit/>
          </a:bodyPr>
          <a:lstStyle>
            <a:lvl1pPr marL="0" indent="0" algn="l">
              <a:defRPr lang="en-GB" altLang="en-US"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dirty="0"/>
          </a:p>
        </p:txBody>
      </p:sp>
      <p:sp>
        <p:nvSpPr>
          <p:cNvPr id="8" name="바닥글 개체 틀 46"/>
          <p:cNvSpPr txBox="1">
            <a:spLocks noGrp="1"/>
          </p:cNvSpPr>
          <p:nvPr>
            <p:ph type="ftr"/>
          </p:nvPr>
        </p:nvSpPr>
        <p:spPr>
          <a:xfrm>
            <a:off x="0" y="8685530"/>
            <a:ext cx="2972435" cy="459105"/>
          </a:xfrm>
          <a:prstGeom prst="rect">
            <a:avLst/>
          </a:prstGeom>
          <a:noFill/>
        </p:spPr>
        <p:txBody>
          <a:bodyPr vert="horz" wrap="square" lIns="76200" tIns="76200" rIns="76200" bIns="76200" anchor="b">
            <a:noAutofit/>
          </a:bodyPr>
          <a:lstStyle>
            <a:lvl1pPr marL="0" indent="0" algn="l">
              <a:defRPr lang="en-GB" altLang="en-US"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dirty="0"/>
          </a:p>
        </p:txBody>
      </p:sp>
      <p:sp>
        <p:nvSpPr>
          <p:cNvPr id="9" name="날짜 개체 틀 47"/>
          <p:cNvSpPr txBox="1">
            <a:spLocks noGrp="1"/>
          </p:cNvSpPr>
          <p:nvPr>
            <p:ph type="dt"/>
          </p:nvPr>
        </p:nvSpPr>
        <p:spPr>
          <a:xfrm>
            <a:off x="3884930" y="0"/>
            <a:ext cx="2972435" cy="459740"/>
          </a:xfrm>
          <a:prstGeom prst="rect">
            <a:avLst/>
          </a:prstGeom>
          <a:noFill/>
        </p:spPr>
        <p:txBody>
          <a:bodyPr vert="horz" wrap="square" lIns="76200" tIns="76200" rIns="76200" bIns="76200" anchor="t">
            <a:noAutofit/>
          </a:bodyPr>
          <a:lstStyle>
            <a:lvl1pPr marL="0" indent="0" algn="r">
              <a:defRPr lang="en-GB" altLang="en-US"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B9320F77-B9A0-41C5-862A-B4B631284C64}" type="datetime1">
              <a:rPr lang="en-US" altLang="ko-KR" smtClean="0"/>
              <a:pPr/>
              <a:t>8/31/2026</a:t>
            </a:fld>
            <a:endParaRPr lang="ko-KR" dirty="0"/>
          </a:p>
        </p:txBody>
      </p:sp>
      <p:sp>
        <p:nvSpPr>
          <p:cNvPr id="10" name="슬라이드 번호 개체 틀 48"/>
          <p:cNvSpPr txBox="1">
            <a:spLocks noGrp="1"/>
          </p:cNvSpPr>
          <p:nvPr>
            <p:ph type="sldNum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  <a:noFill/>
        </p:spPr>
        <p:txBody>
          <a:bodyPr vert="horz" wrap="square" lIns="76200" tIns="76200" rIns="76200" bIns="76200" anchor="b">
            <a:noAutofit/>
          </a:bodyPr>
          <a:lstStyle>
            <a:lvl1pPr marL="0" indent="0" algn="r">
              <a:defRPr lang="en-GB" altLang="en-US"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l"/>
            <a:fld id="{B9320F77-B9A0-41C5-862A-B4B631284C64}" type="slidenum">
              <a:rPr lang="en-US" altLang="ko-KR" smtClean="0"/>
              <a:pPr algn="l"/>
              <a:t>‹#›</a:t>
            </a:fld>
            <a:endParaRPr 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41820-B93E-4BD1-9A45-FB2586DF7A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00FF20-CD9F-4AFF-8F90-DC92AA5F5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361B00-D5BE-4F58-B130-9EADD1FA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FB9C45-B895-4712-9458-01843B0A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C6F7E-8F79-4D55-BBEE-505394EC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92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EFAE5-B006-425B-8778-FAC71E95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FADBAF-CFCC-405F-8532-2B55C9BB5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5EBF6C-638B-484A-99E1-F85ABB37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9FC65-0257-4F6F-916E-F284EE2E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AEDEFA-2EE8-4DCF-A464-14C6552B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38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B2DCB-7969-43AA-8BB2-7C5DDDE3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8C9B35-6CF4-41CB-8877-483E6C933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B45DAB-F08E-46B0-AA46-B08A890E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21FF68-A1EC-4859-8187-8EA6C514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E02601-40B6-41F6-86BA-9F630BB5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57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5B84A-E9B7-4440-8424-7839BF77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06B6F1-DE2F-4DF0-8C40-32982EA43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3C75F4-9251-49F4-8565-612A5462D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06E91-A87C-4A09-B8E4-F42B7137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5C94C7-28F2-4716-8A43-83A3D8FF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0A544E-E686-4FA7-9ED8-D7D6DF2A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24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78D96-4828-495F-BE8E-74BFC2B0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6D5E08-3119-4E57-B7C7-D6B40929B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70CFAF-BE6B-4316-BFDB-263029984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3650D3-4F0B-458A-BC88-3F0179E75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74E43-ECEE-48A5-B52C-AF8DFEEE6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D68631-25C3-422D-9356-A4EA2FB4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3D1474-3A38-417C-93ED-88100D6B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FCAD0D-82D2-4F9F-85DA-6F078882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0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37C51-DF11-4851-B6FF-13FDBA3E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59584B-C1F5-471B-BA97-7030EFA7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0916A8-D4BB-4EE7-986D-FD3B091B0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496833-1563-45D0-9F9D-A4E8B392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56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D7DF54-32F4-4D74-924F-1F702843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5D32FA-5368-4E2D-9AE8-1F99D92B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F9BC50-4558-4521-AF3B-32CCA50B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831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16229-EE88-4AF3-AF80-128D1BC2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35487A-4A89-4221-BCB8-D95A3FA1D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879F24-D5D2-48DD-9FF3-BFC4DF5C4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284DDE-C71E-4D6C-AA0E-0809FAE1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627055-AD37-4E5A-B735-BAD8B4E7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187225-F055-4BBD-9F83-D3A2DD5B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4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604E1-0E9C-4282-A0F4-0E995EC8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FEE94F-570E-4C5A-82F8-148E4DEB9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50FC1E-B25C-4590-B86F-42072749C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040AF1-E7A2-4FCF-AD1E-8892DCFB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B34AEA-E26C-4219-9C4A-D1AC1164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B62DA4-C7D4-4813-A870-9596AC6C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70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EAA4C-6BAD-409E-814C-8E735677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FFABCD-3AD1-4139-B43E-EE0972DFB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4989F-456A-46B2-969E-686B17D1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008F5-1BA2-4FD7-837D-579B62D3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77A758-4CC5-40E1-A593-BA0D99CC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32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50273E5-CA10-45D1-AE1C-E40B8C46B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150514-1DDB-41D5-AE2D-B72484F89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FF823C-A86A-4557-B345-9CD38562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E26626-56C9-4A65-A9BE-80A971D8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F38CF-83F9-4FAC-AC4C-41DFC668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58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AF3EC9-674B-4DE7-9DB8-3E1FFAEA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06981D-268B-4C5A-9733-0298D4184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B0A6F6-BB7A-4662-B32F-3533FFA57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10232099-8D81-41B5-ACC9-A719EB423CB0}" type="datetimeFigureOut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C5F66-6E80-4E25-A499-0BA5BCA2C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4B61F3-D4DF-492F-8F54-415868737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EEB3DC15-878E-4BBE-990A-8D7636F25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35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marL="0" indent="0" algn="l" defTabSz="914400" rtl="0" eaLnBrk="1" latinLnBrk="1" hangingPunct="1">
        <a:lnSpc>
          <a:spcPct val="90000"/>
        </a:lnSpc>
        <a:spcBef>
          <a:spcPct val="0"/>
        </a:spcBef>
        <a:buFontTx/>
        <a:buNone/>
        <a:defRPr lang="en-GB" altLang="en-US" sz="44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ct val="1000"/>
        </a:spcBef>
        <a:buFontTx/>
        <a:buNone/>
        <a:defRPr lang="en-GB" altLang="en-US" sz="2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</a:defRPr>
      </a:lvl1pPr>
      <a:lvl2pPr marL="685800" lvl="1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24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</a:defRPr>
      </a:lvl2pPr>
      <a:lvl3pPr marL="1143000" lvl="2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20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</a:defRPr>
      </a:lvl3pPr>
      <a:lvl4pPr marL="1600200" lvl="3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</a:defRPr>
      </a:lvl4pPr>
      <a:lvl5pPr marL="2057400" lvl="4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</a:defRPr>
      </a:lvl5pPr>
      <a:lvl6pPr marL="2514600" lvl="5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latinLnBrk="1" hangingPunct="1">
        <a:lnSpc>
          <a:spcPct val="90000"/>
        </a:lnSpc>
        <a:spcBef>
          <a:spcPct val="500"/>
        </a:spcBef>
        <a:buFontTx/>
        <a:buNone/>
        <a:defRPr lang="en-GB" alt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b">
            <a:normAutofit/>
          </a:bodyPr>
          <a:lstStyle/>
          <a:p>
            <a:pPr marL="0" indent="0">
              <a:buFontTx/>
              <a:buNone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우리금융 실습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주차</a:t>
            </a: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lnSpc>
                <a:spcPct val="150000"/>
              </a:lnSpc>
              <a:buFontTx/>
              <a:buNone/>
            </a:pPr>
            <a:r>
              <a:rPr lang="en-US" altLang="ko-KR" sz="2400" spc="-10" dirty="0">
                <a:solidFill>
                  <a:schemeClr val="tx1"/>
                </a:solidFill>
                <a:sym typeface="맑은 고딕" charset="0"/>
              </a:rPr>
              <a:t>SVM, </a:t>
            </a:r>
            <a:r>
              <a:rPr lang="ko-KR" altLang="en-US" sz="2400" spc="-10" dirty="0">
                <a:solidFill>
                  <a:schemeClr val="tx1"/>
                </a:solidFill>
                <a:sym typeface="맑은 고딕" charset="0"/>
              </a:rPr>
              <a:t>군집분석</a:t>
            </a:r>
            <a:r>
              <a:rPr lang="en-US" altLang="ko-KR" sz="2400" spc="-10" dirty="0">
                <a:solidFill>
                  <a:schemeClr val="tx1"/>
                </a:solidFill>
                <a:sym typeface="맑은 고딕" charset="0"/>
              </a:rPr>
              <a:t>, </a:t>
            </a:r>
            <a:r>
              <a:rPr lang="ko-KR" altLang="en-US" sz="2400" spc="-10" dirty="0">
                <a:solidFill>
                  <a:schemeClr val="tx1"/>
                </a:solidFill>
                <a:sym typeface="맑은 고딕" charset="0"/>
              </a:rPr>
              <a:t>차원축소</a:t>
            </a:r>
            <a:endParaRPr lang="ko-KR" altLang="en-US" sz="2400" dirty="0">
              <a:solidFill>
                <a:schemeClr val="tx1"/>
              </a:solidFill>
            </a:endParaRPr>
          </a:p>
          <a:p>
            <a:pPr marL="0" indent="0">
              <a:buFontTx/>
              <a:buNone/>
            </a:pPr>
            <a:endParaRPr lang="ko-KR" altLang="en-US" sz="2400" dirty="0">
              <a:solidFill>
                <a:schemeClr val="tx1"/>
              </a:solidFill>
            </a:endParaRPr>
          </a:p>
          <a:p>
            <a:pPr marL="0" indent="0">
              <a:buFontTx/>
              <a:buNone/>
            </a:pPr>
            <a:r>
              <a:rPr lang="ko-KR" altLang="en-US" dirty="0" smtClean="0"/>
              <a:t>김초은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박세현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11814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1061BB-F176-4316-BB3D-71356B20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3490" y="1825625"/>
            <a:ext cx="5020945" cy="4836432"/>
          </a:xfrm>
        </p:spPr>
        <p:txBody>
          <a:bodyPr vert="horz" wrap="square" lIns="91440" tIns="45720" rIns="91440" bIns="45720" numCol="1" anchor="t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ko-KR" altLang="en-US" dirty="0"/>
              <a:t>차원축소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-US" altLang="ko-KR" dirty="0"/>
              <a:t>PCA</a:t>
            </a: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-US" altLang="ko-KR" dirty="0"/>
              <a:t>MDS</a:t>
            </a: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-US" altLang="ko-KR" dirty="0"/>
              <a:t>T-SNE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5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7960"/>
            <a:ext cx="29184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DB0A64A-1D17-4FD5-8346-ABD800D5EDD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020945" cy="4352290"/>
          </a:xfrm>
          <a:prstGeom prst="rect">
            <a:avLst/>
          </a:prstGeom>
        </p:spPr>
        <p:txBody>
          <a:bodyPr vert="horz" wrap="square" lIns="91440" tIns="45720" rIns="91440" bIns="45720" numCol="1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ct val="1000"/>
              </a:spcBef>
              <a:buFontTx/>
              <a:buNone/>
              <a:defRPr lang="en-GB" altLang="en-US" sz="2800" kern="120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1pPr>
            <a:lvl2pPr marL="685800" lvl="1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2400" kern="120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2pPr>
            <a:lvl3pPr marL="1143000" lvl="2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2000" kern="120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3pPr>
            <a:lvl4pPr marL="1600200" lvl="3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4pPr>
            <a:lvl5pPr marL="2057400" lvl="4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defRPr>
            </a:lvl5pPr>
            <a:lvl6pPr marL="2514600" lvl="5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latinLnBrk="1" hangingPunct="1">
              <a:lnSpc>
                <a:spcPct val="90000"/>
              </a:lnSpc>
              <a:spcBef>
                <a:spcPct val="500"/>
              </a:spcBef>
              <a:buFontTx/>
              <a:buNone/>
              <a:defRPr lang="en-GB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Support Vector Machine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군집분석</a:t>
            </a: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계층적 군집분석</a:t>
            </a: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K-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평균 군집분석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076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3600" spc="-1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Support Vector Machine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006E0ABA-A76E-435B-A503-007B6E091DA1}"/>
              </a:ext>
            </a:extLst>
          </p:cNvPr>
          <p:cNvSpPr txBox="1">
            <a:spLocks/>
          </p:cNvSpPr>
          <p:nvPr/>
        </p:nvSpPr>
        <p:spPr>
          <a:xfrm>
            <a:off x="835025" y="1760855"/>
            <a:ext cx="10337165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선형 분리가 불가능한 복잡한 데이터 분류하기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커널 함수를 사용해서 고차원 공간으로 보낸 후 선형 분리하는 방법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B90781-83A1-4DF7-9FD8-C7836C9F2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410" y="3034868"/>
            <a:ext cx="6115904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1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1CC1FB-2D04-4F5E-85FA-78A9775C9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515" y="3338214"/>
            <a:ext cx="5758489" cy="3033278"/>
          </a:xfrm>
          <a:prstGeom prst="rect">
            <a:avLst/>
          </a:prstGeom>
        </p:spPr>
      </p:pic>
      <p:sp>
        <p:nvSpPr>
          <p:cNvPr id="8" name="Rect 0">
            <a:extLst>
              <a:ext uri="{FF2B5EF4-FFF2-40B4-BE49-F238E27FC236}">
                <a16:creationId xmlns:a16="http://schemas.microsoft.com/office/drawing/2014/main" id="{7E8AB51E-2AD6-47CB-A2B6-92C244ADE90A}"/>
              </a:ext>
            </a:extLst>
          </p:cNvPr>
          <p:cNvSpPr txBox="1">
            <a:spLocks/>
          </p:cNvSpPr>
          <p:nvPr/>
        </p:nvSpPr>
        <p:spPr>
          <a:xfrm>
            <a:off x="835025" y="1607962"/>
            <a:ext cx="10337165" cy="160871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Margin: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결정 경계와 가장 가까운 점까지의 거리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69900" indent="-457200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Margin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합을 최대화하는 선형 분류기를 찾음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469900" indent="-457200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Soft margin: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일부 샘플은 경계를 넘어도 허용해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분류 오류를 감수하는 기법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10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3600" spc="-1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Support Vector Machine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1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504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0855"/>
            <a:ext cx="10337165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load and split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623F082-E7FC-46A2-AE3E-D97FA7676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467" y="2499519"/>
            <a:ext cx="7603067" cy="3811920"/>
          </a:xfrm>
          <a:prstGeom prst="rect">
            <a:avLst/>
          </a:prstGeom>
        </p:spPr>
      </p:pic>
      <p:sp>
        <p:nvSpPr>
          <p:cNvPr id="14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3600" spc="-1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Support Vector Machine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5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20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0855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Fitting model and calculate accuracy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F7768D-2C6B-47E3-9494-A22A17B19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615" y="2541905"/>
            <a:ext cx="6252770" cy="3696546"/>
          </a:xfrm>
          <a:prstGeom prst="rect">
            <a:avLst/>
          </a:prstGeom>
        </p:spPr>
      </p:pic>
      <p:sp>
        <p:nvSpPr>
          <p:cNvPr id="8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3600" spc="-1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Support Vector Machine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9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249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0855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Fit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model and calculate accuracy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7CE4413-0CC6-4004-850F-A0EC7F7834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56"/>
          <a:stretch/>
        </p:blipFill>
        <p:spPr>
          <a:xfrm>
            <a:off x="2786063" y="2683510"/>
            <a:ext cx="6619875" cy="3186747"/>
          </a:xfrm>
          <a:prstGeom prst="rect">
            <a:avLst/>
          </a:prstGeom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Support Vector Machine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304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0855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Tuning Hyperparameter</a:t>
            </a:r>
          </a:p>
        </p:txBody>
      </p:sp>
      <p:sp>
        <p:nvSpPr>
          <p:cNvPr id="9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3600" spc="-1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Support Vector Machine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1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3187E813-E793-419C-9FB5-D4E899B93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513" y="2412317"/>
            <a:ext cx="4748083" cy="34778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04E9DF1-26AB-4B37-B63E-184554F98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651" y="4171413"/>
            <a:ext cx="3315163" cy="724001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272979" y="3227071"/>
            <a:ext cx="3534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C: </a:t>
            </a:r>
            <a:r>
              <a:rPr lang="ko-KR" altLang="en-US" dirty="0" err="1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오분류에</a:t>
            </a:r>
            <a:r>
              <a:rPr lang="ko-KR" altLang="en-US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대한 </a:t>
            </a:r>
            <a:r>
              <a:rPr lang="en-US" altLang="ko-KR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penalty </a:t>
            </a:r>
            <a:r>
              <a:rPr lang="ko-KR" altLang="en-US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크기</a:t>
            </a:r>
            <a:endParaRPr lang="en-US" altLang="ko-KR" dirty="0" smtClean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gamma: RBF </a:t>
            </a:r>
            <a:r>
              <a:rPr lang="ko-KR" altLang="en-US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커널과 관련된 값</a:t>
            </a:r>
            <a:r>
              <a:rPr lang="en-US" altLang="ko-KR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3231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0855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Confusion matrix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6C638B-60F8-40BD-91CB-683C5BDDB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971" y="2320622"/>
            <a:ext cx="4436058" cy="3738866"/>
          </a:xfrm>
          <a:prstGeom prst="rect">
            <a:avLst/>
          </a:prstGeom>
        </p:spPr>
      </p:pic>
      <p:sp>
        <p:nvSpPr>
          <p:cNvPr id="8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3600" spc="-1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Support Vector Machine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9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04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939149"/>
            <a:ext cx="9791065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 err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</a:t>
            </a:r>
            <a:r>
              <a:rPr lang="ko-KR" sz="2400" dirty="0" err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mport</a:t>
            </a:r>
            <a:r>
              <a:rPr lang="ko-KR" sz="24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library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442565-B3ED-490B-9413-464F82F6E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659" y="2775754"/>
            <a:ext cx="8684683" cy="2936250"/>
          </a:xfrm>
          <a:prstGeom prst="rect">
            <a:avLst/>
          </a:prstGeom>
        </p:spPr>
      </p:pic>
      <p:sp>
        <p:nvSpPr>
          <p:cNvPr id="8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9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텍스트 상자 58"/>
          <p:cNvSpPr txBox="1">
            <a:spLocks/>
          </p:cNvSpPr>
          <p:nvPr/>
        </p:nvSpPr>
        <p:spPr>
          <a:xfrm>
            <a:off x="835659" y="2430018"/>
            <a:ext cx="10208749" cy="1107996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342900" indent="-342900" hangingPunct="1">
              <a:buFont typeface="Wingdings" panose="05000000000000000000" pitchFamily="2" charset="2"/>
              <a:buChar char="l"/>
            </a:pP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모집단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또는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범주에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대한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사전정보가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없는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경우에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주어진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관측값들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사이의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거리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또는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유사성을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이용하여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전체를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몇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집단으로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그룹화하여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각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집단의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성격을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파악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전체의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구조에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대한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이해를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돕고자하는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분석법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텍스트 상자 59"/>
              <p:cNvSpPr txBox="1">
                <a:spLocks/>
              </p:cNvSpPr>
              <p:nvPr/>
            </p:nvSpPr>
            <p:spPr>
              <a:xfrm>
                <a:off x="835660" y="4112768"/>
                <a:ext cx="10208748" cy="785664"/>
              </a:xfrm>
              <a:prstGeom prst="rect">
                <a:avLst/>
              </a:prstGeom>
              <a:noFill/>
            </p:spPr>
            <p:txBody>
              <a:bodyPr vert="horz" wrap="square" lIns="0" tIns="0" rIns="0" bIns="0" anchor="t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ko-KR" altLang="en-US" sz="2400" dirty="0" smtClean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주어진</a:t>
                </a:r>
                <a:r>
                  <a:rPr lang="ko-KR" altLang="en-US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ko-KR" altLang="en-US" sz="24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자료의</a:t>
                </a:r>
                <a:r>
                  <a:rPr lang="ko-KR" altLang="en-US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ko-KR" altLang="en-US" sz="24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수가</a:t>
                </a:r>
                <a:r>
                  <a:rPr lang="ko-KR" altLang="en-US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en-US" altLang="ko-KR" sz="24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n</a:t>
                </a:r>
                <a:r>
                  <a:rPr lang="ko-KR" altLang="en-US" sz="24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일</a:t>
                </a:r>
                <a:r>
                  <a:rPr lang="ko-KR" altLang="en-US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때</a:t>
                </a:r>
                <a:r>
                  <a:rPr lang="en-US" altLang="ko-KR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:r>
                  <a:rPr lang="en-US" altLang="ko-KR" sz="24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K</a:t>
                </a:r>
                <a:r>
                  <a:rPr lang="ko-KR" altLang="en-US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개의 군집들은 </a:t>
                </a:r>
                <a:r>
                  <a:rPr lang="ko-KR" altLang="en-US" sz="2400" dirty="0" smtClean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일반적으로</a:t>
                </a:r>
                <a:r>
                  <a:rPr lang="ko-KR" altLang="en-US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𝐶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 …, 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𝐶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ko-KR" altLang="en-US" sz="2400" dirty="0" smtClean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로 </a:t>
                </a:r>
                <a:r>
                  <a:rPr lang="ko-KR" altLang="en-US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표기하고</a:t>
                </a:r>
                <a:r>
                  <a:rPr lang="en-US" altLang="ko-KR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</a:t>
                </a:r>
                <a:r>
                  <a:rPr lang="ko-KR" altLang="en-US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1, 2, …,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∅, 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ko-KR" altLang="en-US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을 만족한다</a:t>
                </a:r>
                <a:r>
                  <a:rPr lang="en-US" altLang="ko-KR" sz="24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.</a:t>
                </a:r>
                <a:endParaRPr lang="ko-KR" altLang="en-US" sz="24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>
          <p:sp>
            <p:nvSpPr>
              <p:cNvPr id="9" name="텍스트 상자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60" y="4112768"/>
                <a:ext cx="10208748" cy="785664"/>
              </a:xfrm>
              <a:prstGeom prst="rect">
                <a:avLst/>
              </a:prstGeom>
              <a:blipFill>
                <a:blip r:embed="rId2"/>
                <a:stretch>
                  <a:fillRect l="-1672" t="-12403" b="-193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1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38530" y="17799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530498" cy="1476375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관측치들이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서로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얼마나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유사한지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또는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유사하지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않은지를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보통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비유사성을</a:t>
            </a:r>
            <a:r>
              <a:rPr sz="2400" spc="5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기준으로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하며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거리를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사용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거리측도의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종류들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24" descr="C:/Users/Administrator/AppData/Roaming/PolarisOffice/ETemp/2840_17096728/fImage74053349299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918" y="3535045"/>
            <a:ext cx="7670165" cy="2164080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err="1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비유사성</a:t>
            </a:r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척도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1476375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가까운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자료끼리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차례로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병합해가는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방법으로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한번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병합된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자료는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다시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/>
            </a:r>
            <a:b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분리되지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않는다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군집들이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매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단계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계층적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나무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구조를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이루고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결과를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나무구조인</a:t>
            </a:r>
            <a:r>
              <a:rPr lang="en-US" sz="2400" spc="5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덴드로그램을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통해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간단히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나타낼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수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있다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26" descr="C:/Users/Administrator/AppData/Roaming/PolarisOffice/ETemp/2840_17096728/fImage45156355194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89"/>
          <a:stretch>
            <a:fillRect/>
          </a:stretch>
        </p:blipFill>
        <p:spPr>
          <a:xfrm>
            <a:off x="4635500" y="3621942"/>
            <a:ext cx="2736850" cy="2740660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계층적 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6530" cy="2339102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2555" indent="-109855">
              <a:buSzPct val="88000"/>
              <a:buFont typeface="Wingdings"/>
              <a:buChar char="l"/>
              <a:tabLst>
                <a:tab pos="122555" algn="l"/>
              </a:tabLst>
            </a:pP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알고리즘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  <a:p>
            <a:pPr marL="927100" lvl="1" indent="-457200">
              <a:buFont typeface="+mj-lt"/>
              <a:buAutoNum type="arabicPeriod"/>
              <a:tabLst>
                <a:tab pos="122555" algn="l"/>
              </a:tabLst>
            </a:pP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처음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n개의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자료에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각각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하나의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군집을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할당한다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. 즉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초기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군집의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수는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n이다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  <a:p>
            <a:pPr marL="927100" lvl="1" indent="-457200">
              <a:buFont typeface="+mj-lt"/>
              <a:buAutoNum type="arabicPeriod"/>
              <a:tabLst>
                <a:tab pos="122555" algn="l"/>
              </a:tabLst>
            </a:pP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1단계의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n개의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군집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중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가장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거리가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가까운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두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개의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군집을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병합하여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n − 1개의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군집으로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군집을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줄인다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  <a:p>
            <a:pPr marL="927100" lvl="1" indent="-457200">
              <a:buFont typeface="+mj-lt"/>
              <a:buAutoNum type="arabicPeriod"/>
              <a:tabLst>
                <a:tab pos="122555" algn="l"/>
              </a:tabLst>
            </a:pP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위의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2단계를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반복하여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군집의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수를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0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줄여나간다</a:t>
            </a:r>
            <a:r>
              <a:rPr sz="20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  <a:p>
            <a:pPr marL="122555" indent="-109855">
              <a:buFont typeface="Wingdings"/>
              <a:buChar char="l"/>
              <a:tabLst>
                <a:tab pos="122555" algn="l"/>
              </a:tabLst>
            </a:pP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  <a:p>
            <a:pPr marL="266700" indent="-254000">
              <a:buFont typeface="Wingdings"/>
              <a:buChar char="l"/>
              <a:tabLst>
                <a:tab pos="122555" algn="l"/>
              </a:tabLst>
            </a:pP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군집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간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거리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측정하는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방법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(linkage, </a:t>
            </a:r>
            <a:r>
              <a:rPr sz="2400" spc="5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연결법</a:t>
            </a:r>
            <a:r>
              <a:rPr sz="2400" spc="5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)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27" descr="C:/Users/Administrator/AppData/Roaming/PolarisOffice/ETemp/2840_17096728/fImage120015356482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835" y="4540777"/>
            <a:ext cx="7974330" cy="1630045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계층적 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0855"/>
            <a:ext cx="10337165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10개의 변수를 가진 100개의 데이터, 군집은 총 6가지에서 추출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28" descr="C:/Users/Administrator/AppData/Roaming/PolarisOffice/ETemp/2840_17096728/fImage143369357543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045" y="2369918"/>
            <a:ext cx="5375910" cy="3811905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계층적 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6530" cy="369570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산포도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(scatter plot)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확인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29" descr="C:/Users/Administrator/AppData/Roaming/PolarisOffice/ETemp/2840_17096728/fImage139001358239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555" y="2294890"/>
            <a:ext cx="5342890" cy="3971290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계층적 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4" y="1624145"/>
            <a:ext cx="10477183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b="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Dendrogram with average linkage according to </a:t>
            </a:r>
            <a:r>
              <a:rPr lang="en-US" sz="2400" b="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various d</a:t>
            </a:r>
            <a:r>
              <a:rPr sz="2400" b="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istance method</a:t>
            </a:r>
            <a:r>
              <a:rPr lang="en-US" sz="2400" b="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s</a:t>
            </a:r>
            <a:endParaRPr lang="ko-KR" altLang="en-US" sz="2400" b="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b="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Distance method : </a:t>
            </a:r>
            <a:r>
              <a:rPr lang="ko-KR" sz="2400" b="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Euclidean</a:t>
            </a:r>
            <a:r>
              <a:rPr lang="ko-KR" sz="2400" b="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, </a:t>
            </a:r>
            <a:r>
              <a:rPr lang="ko-KR" sz="2400" b="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Minkowski</a:t>
            </a:r>
            <a:r>
              <a:rPr lang="ko-KR" sz="2400" b="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, </a:t>
            </a:r>
            <a:r>
              <a:rPr lang="ko-KR" sz="2400" b="0" dirty="0" err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Chebyshev</a:t>
            </a:r>
            <a:r>
              <a:rPr lang="ko-KR" sz="2400" b="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, </a:t>
            </a:r>
            <a:r>
              <a:rPr lang="ko-KR" sz="2400" b="0" dirty="0" err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City</a:t>
            </a:r>
            <a:r>
              <a:rPr lang="ko-KR" sz="2400" b="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Block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</p:txBody>
      </p:sp>
      <p:pic>
        <p:nvPicPr>
          <p:cNvPr id="8" name="그림 30" descr="C:/Users/Administrator/AppData/Roaming/PolarisOffice/ETemp/2840_17096728/fImage94637359460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24" y="2566361"/>
            <a:ext cx="6394450" cy="3708400"/>
          </a:xfrm>
          <a:prstGeom prst="rect">
            <a:avLst/>
          </a:prstGeom>
          <a:noFill/>
        </p:spPr>
      </p:pic>
      <p:pic>
        <p:nvPicPr>
          <p:cNvPr id="9" name="그림 24" descr="C:/Users/Administrator/AppData/Roaming/PolarisOffice/ETemp/2840_17096728/fImage740533492995.png">
            <a:extLst>
              <a:ext uri="{FF2B5EF4-FFF2-40B4-BE49-F238E27FC236}">
                <a16:creationId xmlns:a16="http://schemas.microsoft.com/office/drawing/2014/main" id="{B93C0712-D44F-404B-8A58-6746495D9F0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6"/>
          <a:stretch/>
        </p:blipFill>
        <p:spPr>
          <a:xfrm>
            <a:off x="6003607" y="4880990"/>
            <a:ext cx="5308600" cy="16023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</p:pic>
      <p:sp>
        <p:nvSpPr>
          <p:cNvPr id="10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계층적 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1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31" descr="C:/Users/Administrator/AppData/Roaming/PolarisOffice/ETemp/2840_17096728/fImage74939361390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" y="508000"/>
            <a:ext cx="11725910" cy="5829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sz="2400" dirty="0" smtClean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Euclidean </a:t>
            </a:r>
            <a:r>
              <a:rPr lang="ko-KR" altLang="en-US" sz="2400" dirty="0" smtClean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거리와 다양한 </a:t>
            </a:r>
            <a:r>
              <a:rPr lang="en-US" altLang="ko-KR" sz="2400" dirty="0" smtClean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Linkage </a:t>
            </a:r>
            <a:r>
              <a:rPr lang="ko-KR" altLang="en-US" sz="2400" dirty="0" smtClean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방법으로 구한 </a:t>
            </a:r>
            <a:r>
              <a:rPr lang="en-US" altLang="ko-KR" sz="2400" dirty="0" err="1" smtClean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dendrogram</a:t>
            </a:r>
            <a:r>
              <a:rPr lang="ko-KR" altLang="en-US" sz="2400" dirty="0" smtClean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들</a:t>
            </a:r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</p:txBody>
      </p:sp>
      <p:pic>
        <p:nvPicPr>
          <p:cNvPr id="8" name="그림 32" descr="C:/Users/Administrator/AppData/Roaming/PolarisOffice/ETemp/2840_17096728/fImage4515636215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58" y="2802311"/>
            <a:ext cx="10128885" cy="3342640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계층적 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Data </a:t>
            </a:r>
            <a:r>
              <a:rPr 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Summary</a:t>
            </a:r>
            <a:r>
              <a:rPr 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of </a:t>
            </a:r>
            <a:r>
              <a:rPr lang="ko-KR" sz="2400" dirty="0" err="1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each</a:t>
            </a:r>
            <a:r>
              <a:rPr 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</a:t>
            </a:r>
            <a:r>
              <a:rPr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linkage method</a:t>
            </a:r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</p:txBody>
      </p:sp>
      <p:pic>
        <p:nvPicPr>
          <p:cNvPr id="11" name="그림 36" descr="C:/Users/Administrator/AppData/Roaming/PolarisOffice/ETemp/2840_17096728/fImage30498366238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01"/>
          <a:stretch>
            <a:fillRect/>
          </a:stretch>
        </p:blipFill>
        <p:spPr>
          <a:xfrm>
            <a:off x="1209686" y="3756676"/>
            <a:ext cx="4861071" cy="1181917"/>
          </a:xfrm>
          <a:prstGeom prst="rect">
            <a:avLst/>
          </a:prstGeom>
          <a:noFill/>
        </p:spPr>
      </p:pic>
      <p:pic>
        <p:nvPicPr>
          <p:cNvPr id="12" name="그림 37" descr="C:/Users/Administrator/AppData/Roaming/PolarisOffice/ETemp/2840_17096728/fImage30498367742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99" b="36267"/>
          <a:stretch>
            <a:fillRect/>
          </a:stretch>
        </p:blipFill>
        <p:spPr>
          <a:xfrm>
            <a:off x="1209832" y="2326104"/>
            <a:ext cx="4860925" cy="1270000"/>
          </a:xfrm>
          <a:prstGeom prst="rect">
            <a:avLst/>
          </a:prstGeom>
          <a:noFill/>
        </p:spPr>
      </p:pic>
      <p:pic>
        <p:nvPicPr>
          <p:cNvPr id="13" name="그림 38" descr="C:/Users/Administrator/AppData/Roaming/PolarisOffice/ETemp/2840_17096728/fImage30498368871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54" b="2270"/>
          <a:stretch>
            <a:fillRect/>
          </a:stretch>
        </p:blipFill>
        <p:spPr>
          <a:xfrm>
            <a:off x="1208978" y="5099165"/>
            <a:ext cx="4860924" cy="1239570"/>
          </a:xfrm>
          <a:prstGeom prst="rect">
            <a:avLst/>
          </a:prstGeom>
          <a:noFill/>
        </p:spPr>
      </p:pic>
      <p:pic>
        <p:nvPicPr>
          <p:cNvPr id="10" name="그림 27" descr="C:/Users/Administrator/AppData/Roaming/PolarisOffice/ETemp/2840_17096728/fImage1200153564827.png">
            <a:extLst>
              <a:ext uri="{FF2B5EF4-FFF2-40B4-BE49-F238E27FC236}">
                <a16:creationId xmlns:a16="http://schemas.microsoft.com/office/drawing/2014/main" id="{5A8FBEBB-8234-48C4-A8D7-632E6A1F86F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" r="8232" b="22711"/>
          <a:stretch/>
        </p:blipFill>
        <p:spPr>
          <a:xfrm>
            <a:off x="6537018" y="3911314"/>
            <a:ext cx="4642217" cy="844452"/>
          </a:xfrm>
          <a:prstGeom prst="rect">
            <a:avLst/>
          </a:prstGeom>
          <a:noFill/>
        </p:spPr>
      </p:pic>
      <p:sp>
        <p:nvSpPr>
          <p:cNvPr id="14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계층적 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5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 smtClean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linkage method</a:t>
            </a:r>
            <a:r>
              <a:rPr lang="ko-KR" altLang="en-US" sz="2400" dirty="0" smtClean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에 따른 </a:t>
            </a:r>
            <a:r>
              <a:rPr lang="en-US" altLang="ko-KR" sz="2400" dirty="0" smtClean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scatter plot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</p:txBody>
      </p:sp>
      <p:pic>
        <p:nvPicPr>
          <p:cNvPr id="8" name="그림 39" descr="C:/Users/Administrator/AppData/Roaming/PolarisOffice/ETemp/2840_17096728/fImage36165369971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24" y="2541905"/>
            <a:ext cx="10621352" cy="3490748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계층적 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linkage method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에 따른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scatter plot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</p:txBody>
      </p:sp>
      <p:pic>
        <p:nvPicPr>
          <p:cNvPr id="8" name="그림 40" descr="C:/Users/Administrator/AppData/Roaming/PolarisOffice/ETemp/2840_17096728/fImage37625380989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09" y="2547671"/>
            <a:ext cx="10586183" cy="3473420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 noGrp="1"/>
          </p:cNvSpPr>
          <p:nvPr>
            <p:ph type="title"/>
          </p:nvPr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3600" spc="-10" dirty="0" smtClean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계층적 군집분석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41" descr="C:/Users/Administrator/AppData/Roaming/PolarisOffice/ETemp/2840_17096728/fImage39586386544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86" y="2752977"/>
            <a:ext cx="10031828" cy="3299958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sz="3600" spc="-1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계층적 군집분석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 0"/>
          <p:cNvSpPr txBox="1">
            <a:spLocks/>
          </p:cNvSpPr>
          <p:nvPr/>
        </p:nvSpPr>
        <p:spPr>
          <a:xfrm>
            <a:off x="835025" y="1779905"/>
            <a:ext cx="10337165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linkage method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에 따른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scatter plot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7205"/>
            <a:ext cx="10471883" cy="4295278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비계층적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군집분석으로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사전에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결정된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수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K에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기초하여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전체</a:t>
            </a:r>
            <a:r>
              <a:rPr lang="ko-KR" altLang="en-US" sz="2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상대적으로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유사한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K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개의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군집으로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구분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계층적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군집방법에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비해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계산량이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적음</a:t>
            </a:r>
            <a:r>
              <a:rPr sz="2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2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알고리즘</a:t>
            </a:r>
            <a:endParaRPr lang="en-US" sz="2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7100" lvl="1" indent="-457200">
              <a:lnSpc>
                <a:spcPct val="150000"/>
              </a:lnSpc>
              <a:buFont typeface="+mj-lt"/>
              <a:buAutoNum type="arabicPeriod"/>
              <a:tabLst>
                <a:tab pos="122555" algn="l"/>
              </a:tabLst>
            </a:pP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수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K을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결정</a:t>
            </a:r>
            <a:r>
              <a:rPr lang="en-US"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7100" lvl="1" indent="-457200">
              <a:lnSpc>
                <a:spcPct val="150000"/>
              </a:lnSpc>
              <a:buFont typeface="+mj-lt"/>
              <a:buAutoNum type="arabicPeriod"/>
              <a:tabLst>
                <a:tab pos="122555" algn="l"/>
              </a:tabLst>
            </a:pP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초기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K개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군집의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중심을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랜덤하게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선택</a:t>
            </a:r>
            <a:r>
              <a:rPr lang="en-US"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7100" lvl="1" indent="-457200">
              <a:lnSpc>
                <a:spcPct val="150000"/>
              </a:lnSpc>
              <a:buFont typeface="+mj-lt"/>
              <a:buAutoNum type="arabicPeriod"/>
              <a:tabLst>
                <a:tab pos="122555" algn="l"/>
              </a:tabLst>
            </a:pP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전체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관측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개체를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군집의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중심들과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거리를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계산하여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가까운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거리에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있는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집으로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할당</a:t>
            </a:r>
            <a:r>
              <a:rPr lang="en-US"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7100" lvl="1" indent="-457200">
              <a:lnSpc>
                <a:spcPct val="150000"/>
              </a:lnSpc>
              <a:buFont typeface="+mj-lt"/>
              <a:buAutoNum type="arabicPeriod"/>
              <a:tabLst>
                <a:tab pos="122555" algn="l"/>
              </a:tabLst>
            </a:pP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군집의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중심을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각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내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관측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개체의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평균으로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업데이트</a:t>
            </a:r>
            <a:r>
              <a:rPr lang="en-US"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927100" lvl="1" indent="-457200">
              <a:lnSpc>
                <a:spcPct val="150000"/>
              </a:lnSpc>
              <a:buFont typeface="+mj-lt"/>
              <a:buAutoNum type="arabicPeriod"/>
              <a:tabLst>
                <a:tab pos="122555" algn="l"/>
              </a:tabLst>
            </a:pP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3단계와 4단계를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기존의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중심과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새로운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중심의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차이가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없을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때까지</a:t>
            </a:r>
            <a:r>
              <a:rPr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반복</a:t>
            </a:r>
            <a:r>
              <a:rPr lang="en-US" sz="20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b="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sklearn.cluster</a:t>
            </a:r>
            <a:r>
              <a:rPr lang="en-US" altLang="ko-KR" sz="2400" b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b="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안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</a:t>
            </a:r>
            <a:r>
              <a:rPr lang="ko-KR" altLang="en-US" sz="2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400" dirty="0" err="1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KMeans</a:t>
            </a:r>
            <a:r>
              <a:rPr lang="en-US" altLang="ko-KR" sz="2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 사용</a:t>
            </a:r>
          </a:p>
        </p:txBody>
      </p:sp>
      <p:pic>
        <p:nvPicPr>
          <p:cNvPr id="8" name="그림 42" descr="C:/Users/Administrator/AppData/Roaming/PolarisOffice/ETemp/2840_17096728/fImage16668387172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858" y="3104124"/>
            <a:ext cx="8630285" cy="2458085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50" descr="C:/Users/Administrator/AppData/Roaming/PolarisOffice/ETemp/2840_17096728/fImage43309479477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" y="2435225"/>
            <a:ext cx="10043160" cy="3296285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계층적 군집분석</a:t>
            </a:r>
            <a:r>
              <a:rPr lang="en-US" altLang="ko-KR" sz="24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vs. </a:t>
            </a:r>
            <a:r>
              <a:rPr lang="en-US" altLang="ko-KR" sz="2400" dirty="0" err="1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KM</a:t>
            </a:r>
            <a:r>
              <a:rPr lang="en-US" altLang="ko-KR" sz="2400" dirty="0" err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eans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2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8683295" y="2832837"/>
            <a:ext cx="0" cy="281491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55" descr="C:/Users/Administrator/AppData/Roaming/PolarisOffice/ETemp/2840_17096728/fImage39586496703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09" y="2944966"/>
            <a:ext cx="7826026" cy="2569510"/>
          </a:xfrm>
          <a:prstGeom prst="rect">
            <a:avLst/>
          </a:prstGeom>
          <a:noFill/>
        </p:spPr>
      </p:pic>
      <p:pic>
        <p:nvPicPr>
          <p:cNvPr id="16" name="그림 54" descr="C:/Users/Administrator/AppData/Roaming/PolarisOffice/ETemp/2840_17096728/fImage433094956299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05"/>
          <a:stretch>
            <a:fillRect/>
          </a:stretch>
        </p:blipFill>
        <p:spPr>
          <a:xfrm>
            <a:off x="8806856" y="2947632"/>
            <a:ext cx="2651435" cy="25641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6530" cy="369332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 수 </a:t>
            </a:r>
            <a:r>
              <a:rPr lang="en-US" altLang="ko-KR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 </a:t>
            </a:r>
            <a:r>
              <a:rPr lang="ko-KR" altLang="en-US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결정</a:t>
            </a:r>
          </a:p>
        </p:txBody>
      </p:sp>
      <p:pic>
        <p:nvPicPr>
          <p:cNvPr id="8" name="그림 56" descr="C:/Users/Administrator/AppData/Roaming/PolarisOffice/ETemp/2840_17096728/fImage64272497989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533" y="2341245"/>
            <a:ext cx="5956935" cy="3865245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군집</a:t>
            </a:r>
            <a:r>
              <a:rPr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수 K 의 </a:t>
            </a:r>
            <a:r>
              <a:rPr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결정</a:t>
            </a:r>
            <a:endParaRPr lang="ko-KR" altLang="en-US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57" descr="C:/Users/Administrator/AppData/Roaming/PolarisOffice/ETemp/2840_17096728/fImage40525503870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143" y="2366487"/>
            <a:ext cx="6101715" cy="3881120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38073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Clustering for Bad Data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58" descr="C:/Users/Administrator/AppData/Roaming/PolarisOffice/ETemp/2840_17096728/fImage44976544381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440" y="2350770"/>
            <a:ext cx="3881120" cy="3946525"/>
          </a:xfrm>
          <a:prstGeom prst="rect">
            <a:avLst/>
          </a:prstGeom>
          <a:noFill/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59" descr="C:/Users/Administrator/AppData/Roaming/PolarisOffice/ETemp/2840_17096728/fImage43909545132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19" y="2597536"/>
            <a:ext cx="10644163" cy="3503432"/>
          </a:xfrm>
          <a:prstGeom prst="rect">
            <a:avLst/>
          </a:prstGeom>
          <a:noFill/>
        </p:spPr>
      </p:pic>
      <p:sp>
        <p:nvSpPr>
          <p:cNvPr id="9" name="Rect 0"/>
          <p:cNvSpPr txBox="1">
            <a:spLocks/>
          </p:cNvSpPr>
          <p:nvPr/>
        </p:nvSpPr>
        <p:spPr>
          <a:xfrm>
            <a:off x="835025" y="1738073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Clustering for Bad Data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1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9" name="Picture " descr="C:/Users/Administrator/AppData/Roaming/PolarisOffice/ETemp/2840_17096728/fImage4842355333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35" y="2591729"/>
            <a:ext cx="10633930" cy="3500064"/>
          </a:xfrm>
          <a:prstGeom prst="rect">
            <a:avLst/>
          </a:prstGeom>
          <a:noFill/>
        </p:spPr>
      </p:pic>
      <p:sp>
        <p:nvSpPr>
          <p:cNvPr id="8" name="Rect 0"/>
          <p:cNvSpPr txBox="1">
            <a:spLocks/>
          </p:cNvSpPr>
          <p:nvPr/>
        </p:nvSpPr>
        <p:spPr>
          <a:xfrm>
            <a:off x="835025" y="1738073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Clustering for Bad Data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1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" name="Picture " descr="C:/Users/Administrator/AppData/Roaming/PolarisOffice/ETemp/2840_17096728/fImage4988156176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85" y="2530867"/>
            <a:ext cx="10776830" cy="3547098"/>
          </a:xfrm>
          <a:prstGeom prst="rect">
            <a:avLst/>
          </a:prstGeom>
          <a:noFill/>
        </p:spPr>
      </p:pic>
      <p:sp>
        <p:nvSpPr>
          <p:cNvPr id="8" name="Rect 0"/>
          <p:cNvSpPr txBox="1">
            <a:spLocks/>
          </p:cNvSpPr>
          <p:nvPr/>
        </p:nvSpPr>
        <p:spPr>
          <a:xfrm>
            <a:off x="835025" y="1738073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Clustering for Bad Data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1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62" descr="C:/Users/Administrator/AppData/Roaming/PolarisOffice/ETemp/2840_17096728/fImage55151569466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40" y="2520462"/>
            <a:ext cx="10659521" cy="3625721"/>
          </a:xfrm>
          <a:prstGeom prst="rect">
            <a:avLst/>
          </a:prstGeom>
          <a:noFill/>
        </p:spPr>
      </p:pic>
      <p:sp>
        <p:nvSpPr>
          <p:cNvPr id="9" name="Rect 0"/>
          <p:cNvSpPr txBox="1">
            <a:spLocks/>
          </p:cNvSpPr>
          <p:nvPr/>
        </p:nvSpPr>
        <p:spPr>
          <a:xfrm>
            <a:off x="835025" y="1738073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Clustering for Bad Data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K-Means</a:t>
            </a:r>
            <a:endParaRPr lang="ko-KR" sz="3600" dirty="0"/>
          </a:p>
        </p:txBody>
      </p:sp>
      <p:cxnSp>
        <p:nvCxnSpPr>
          <p:cNvPr id="11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>
            <a:extLst>
              <a:ext uri="{FF2B5EF4-FFF2-40B4-BE49-F238E27FC236}">
                <a16:creationId xmlns:a16="http://schemas.microsoft.com/office/drawing/2014/main" id="{FC53A1D4-3884-4670-A4E2-DD8FC3CB769A}"/>
              </a:ext>
            </a:extLst>
          </p:cNvPr>
          <p:cNvSpPr txBox="1">
            <a:spLocks/>
          </p:cNvSpPr>
          <p:nvPr/>
        </p:nvSpPr>
        <p:spPr>
          <a:xfrm>
            <a:off x="875030" y="1463041"/>
            <a:ext cx="10441940" cy="2263953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586740" indent="-457200">
              <a:lnSpc>
                <a:spcPct val="150000"/>
              </a:lnSpc>
              <a:buFont typeface="+mj-lt"/>
              <a:buAutoNum type="arabicPeriod"/>
              <a:tabLst>
                <a:tab pos="239395" algn="l"/>
              </a:tabLst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iris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불러온다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586740" indent="-457200">
              <a:lnSpc>
                <a:spcPct val="150000"/>
              </a:lnSpc>
              <a:buFont typeface="+mj-lt"/>
              <a:buAutoNum type="arabicPeriod"/>
              <a:tabLst>
                <a:tab pos="239395" algn="l"/>
              </a:tabLst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범주형 변수를 제외한 데이터 생성한다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586740" indent="-457200">
              <a:lnSpc>
                <a:spcPct val="150000"/>
              </a:lnSpc>
              <a:buFont typeface="+mj-lt"/>
              <a:buAutoNum type="arabicPeriod"/>
              <a:tabLst>
                <a:tab pos="239395" algn="l"/>
              </a:tabLst>
            </a:pPr>
            <a:r>
              <a:rPr lang="en-US" altLang="ko-KR" sz="2000" b="0" dirty="0" err="1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StandardScale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함수를 통해서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 Standardize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한다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586740" indent="-457200">
              <a:lnSpc>
                <a:spcPct val="150000"/>
              </a:lnSpc>
              <a:buFont typeface="+mj-lt"/>
              <a:buAutoNum type="arabicPeriod"/>
              <a:tabLst>
                <a:tab pos="239395" algn="l"/>
              </a:tabLst>
            </a:pP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유클리디안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거리와 군집 연결법을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ward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하여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linkage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객체를 생성한다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586740" indent="-457200">
              <a:lnSpc>
                <a:spcPct val="150000"/>
              </a:lnSpc>
              <a:buFont typeface="+mj-lt"/>
              <a:buAutoNum type="arabicPeriod"/>
              <a:tabLst>
                <a:tab pos="239395" algn="l"/>
              </a:tabLst>
            </a:pPr>
            <a:r>
              <a:rPr lang="fr-FR" altLang="ko-KR" sz="2000" b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truncate_mode='level', p=3</a:t>
            </a:r>
            <a:r>
              <a:rPr lang="fr-FR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Parameter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사용하여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dendrogram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작성한다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BDAAAF6-C6B6-474E-80D3-A2D10E29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154" y="3914562"/>
            <a:ext cx="6955692" cy="2716737"/>
          </a:xfrm>
          <a:prstGeom prst="rect">
            <a:avLst/>
          </a:prstGeom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직접 해보기 </a:t>
            </a:r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iris dataset</a:t>
            </a:r>
            <a:endParaRPr lang="ko-KR" sz="3600" dirty="0"/>
          </a:p>
        </p:txBody>
      </p:sp>
      <p:cxnSp>
        <p:nvCxnSpPr>
          <p:cNvPr id="8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>
            <a:extLst>
              <a:ext uri="{FF2B5EF4-FFF2-40B4-BE49-F238E27FC236}">
                <a16:creationId xmlns:a16="http://schemas.microsoft.com/office/drawing/2014/main" id="{FC53A1D4-3884-4670-A4E2-DD8FC3CB769A}"/>
              </a:ext>
            </a:extLst>
          </p:cNvPr>
          <p:cNvSpPr txBox="1">
            <a:spLocks/>
          </p:cNvSpPr>
          <p:nvPr/>
        </p:nvSpPr>
        <p:spPr>
          <a:xfrm>
            <a:off x="913130" y="1691640"/>
            <a:ext cx="10441940" cy="87895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586740" indent="-457200">
              <a:lnSpc>
                <a:spcPct val="150000"/>
              </a:lnSpc>
              <a:buFont typeface="+mj-lt"/>
              <a:buAutoNum type="arabicPeriod" startAt="6"/>
              <a:tabLst>
                <a:tab pos="239395" algn="l"/>
              </a:tabLst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Linkage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객체를 사용하여 군집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클러스터를 생성한다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586740" indent="-457200">
              <a:lnSpc>
                <a:spcPct val="150000"/>
              </a:lnSpc>
              <a:buFont typeface="+mj-lt"/>
              <a:buAutoNum type="arabicPeriod" startAt="6"/>
              <a:tabLst>
                <a:tab pos="239395" algn="l"/>
              </a:tabLst>
            </a:pPr>
            <a:r>
              <a:rPr lang="en-US" altLang="ko-KR" sz="2000" b="0" dirty="0" err="1">
                <a:solidFill>
                  <a:srgbClr val="383A42"/>
                </a:soli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sns.pairplot</a:t>
            </a:r>
            <a:r>
              <a:rPr lang="ko-KR" altLang="en-US" sz="2000" b="0" dirty="0">
                <a:solidFill>
                  <a:srgbClr val="383A42"/>
                </a:soli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을 사용하여 각 변수들의 </a:t>
            </a:r>
            <a:r>
              <a:rPr lang="en-US" altLang="ko-KR" sz="2000" b="0" dirty="0">
                <a:solidFill>
                  <a:srgbClr val="383A42"/>
                </a:soli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scatter plot</a:t>
            </a:r>
            <a:r>
              <a:rPr lang="ko-KR" altLang="en-US" sz="2000" b="0" dirty="0">
                <a:solidFill>
                  <a:srgbClr val="383A42"/>
                </a:soli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을 그리고 군집별로 색을 달리한다</a:t>
            </a:r>
            <a:r>
              <a:rPr lang="en-US" altLang="ko-KR" sz="2000" b="0" dirty="0">
                <a:solidFill>
                  <a:srgbClr val="383A42"/>
                </a:soli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직접 해보기 </a:t>
            </a:r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iris dataset</a:t>
            </a:r>
            <a:endParaRPr lang="ko-KR" sz="3600" dirty="0"/>
          </a:p>
        </p:txBody>
      </p:sp>
      <p:cxnSp>
        <p:nvCxnSpPr>
          <p:cNvPr id="8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400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3600" spc="-10" dirty="0" err="1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차원축소</a:t>
            </a:r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PCA</a:t>
            </a:r>
            <a:endParaRPr lang="ko-KR" sz="3600" dirty="0"/>
          </a:p>
        </p:txBody>
      </p:sp>
      <p:cxnSp>
        <p:nvCxnSpPr>
          <p:cNvPr id="9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 0"/>
          <p:cNvSpPr txBox="1">
            <a:spLocks/>
          </p:cNvSpPr>
          <p:nvPr/>
        </p:nvSpPr>
        <p:spPr>
          <a:xfrm>
            <a:off x="873370" y="1779905"/>
            <a:ext cx="10391214" cy="1477328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가장 큰 분산을 가지는 축을 기준으로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projection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하는 방법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정보 손실을 최소화하며 차원을 축소할 수 있다</a:t>
            </a:r>
            <a:r>
              <a:rPr lang="en-US" altLang="ko-KR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PCA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목적함수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3303148" y="3651738"/>
            <a:ext cx="5585704" cy="2398645"/>
            <a:chOff x="3733971" y="3651738"/>
            <a:chExt cx="5585704" cy="239864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27BC2A3-8F98-4298-953D-6B77C658DB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3155" t="5185" r="2576" b="63229"/>
            <a:stretch/>
          </p:blipFill>
          <p:spPr>
            <a:xfrm>
              <a:off x="4894385" y="3651738"/>
              <a:ext cx="3264877" cy="69166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27BC2A3-8F98-4298-953D-6B77C658DB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5164" r="7155"/>
            <a:stretch/>
          </p:blipFill>
          <p:spPr>
            <a:xfrm>
              <a:off x="3733971" y="4630614"/>
              <a:ext cx="5585704" cy="14197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770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C19761-2BCD-47E2-80D5-DB52E5CEE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188" y="2883350"/>
            <a:ext cx="4673002" cy="3600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A0A5842-681B-4E20-8C83-9040BC119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48" y="3603350"/>
            <a:ext cx="5428966" cy="2160000"/>
          </a:xfrm>
          <a:prstGeom prst="rect">
            <a:avLst/>
          </a:prstGeom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3600" spc="-10" dirty="0" err="1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차원축소</a:t>
            </a:r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PCA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 0"/>
          <p:cNvSpPr txBox="1">
            <a:spLocks/>
          </p:cNvSpPr>
          <p:nvPr/>
        </p:nvSpPr>
        <p:spPr>
          <a:xfrm>
            <a:off x="873370" y="1779905"/>
            <a:ext cx="10391214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가장 큰 분산을 가지는 축을 기준으로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projection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하는 방법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정보 손실을 최소화하며 차원을 축소할 수 있다</a:t>
            </a:r>
            <a:r>
              <a:rPr lang="en-US" altLang="ko-KR" sz="240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6992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3600" spc="-10" dirty="0" err="1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차원축소</a:t>
            </a:r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MDS</a:t>
            </a:r>
            <a:endParaRPr lang="ko-KR" sz="3600" dirty="0"/>
          </a:p>
        </p:txBody>
      </p:sp>
      <p:cxnSp>
        <p:nvCxnSpPr>
          <p:cNvPr id="9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 0"/>
          <p:cNvSpPr txBox="1">
            <a:spLocks/>
          </p:cNvSpPr>
          <p:nvPr/>
        </p:nvSpPr>
        <p:spPr>
          <a:xfrm>
            <a:off x="927418" y="1779905"/>
            <a:ext cx="10337165" cy="1477328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사이의 거리를 보존하도록 차원을 축소하는 방법</a:t>
            </a:r>
            <a:r>
              <a:rPr lang="en-US" altLang="ko-KR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차원 축소 후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간 상대적 위치 관계가 유지된다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MDS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목적함수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2975855" y="3669322"/>
            <a:ext cx="6240290" cy="2432431"/>
            <a:chOff x="2299972" y="4062045"/>
            <a:chExt cx="6240290" cy="243243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F5E280B-59FE-474B-A749-3B22DDC676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2951" t="4732" r="7504" b="62482"/>
            <a:stretch/>
          </p:blipFill>
          <p:spPr>
            <a:xfrm>
              <a:off x="3872671" y="4062045"/>
              <a:ext cx="3094892" cy="744417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F5E280B-59FE-474B-A749-3B22DDC676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8304" r="102"/>
            <a:stretch/>
          </p:blipFill>
          <p:spPr>
            <a:xfrm>
              <a:off x="2299972" y="5093677"/>
              <a:ext cx="6240290" cy="14007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2170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DBBDAA-7429-4C80-8BB3-CCF2358AE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134" y="3767599"/>
            <a:ext cx="5428103" cy="17395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9100D7-7514-4BFD-B215-6E2A0B18C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685" y="2854119"/>
            <a:ext cx="4700181" cy="3566468"/>
          </a:xfrm>
          <a:prstGeom prst="rect">
            <a:avLst/>
          </a:prstGeom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3600" spc="-10" dirty="0" err="1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차원축소</a:t>
            </a:r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 MDS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 0"/>
          <p:cNvSpPr txBox="1">
            <a:spLocks/>
          </p:cNvSpPr>
          <p:nvPr/>
        </p:nvSpPr>
        <p:spPr>
          <a:xfrm>
            <a:off x="927418" y="1779905"/>
            <a:ext cx="10337165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사이의 거리를 보존하도록 차원을 축소하는 방법</a:t>
            </a:r>
            <a:r>
              <a:rPr lang="en-US" altLang="ko-KR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차원 축소 후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간 상대적 위치 관계가 유지된다</a:t>
            </a:r>
            <a:r>
              <a:rPr lang="en-US" altLang="ko-KR" sz="2400" dirty="0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82508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3600" spc="-10" dirty="0" err="1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차원축소</a:t>
            </a:r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T-SNE</a:t>
            </a:r>
            <a:endParaRPr lang="ko-KR" sz="3600" dirty="0"/>
          </a:p>
        </p:txBody>
      </p:sp>
      <p:cxnSp>
        <p:nvCxnSpPr>
          <p:cNvPr id="9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 0"/>
          <p:cNvSpPr txBox="1">
            <a:spLocks/>
          </p:cNvSpPr>
          <p:nvPr/>
        </p:nvSpPr>
        <p:spPr>
          <a:xfrm>
            <a:off x="684213" y="1779905"/>
            <a:ext cx="10823575" cy="1107996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각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데이터끼리의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 유사도 분포를 유지하도록 차원을 축소하는 방법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.</a:t>
            </a:r>
          </a:p>
          <a:p>
            <a:pPr marL="12700">
              <a:tabLst>
                <a:tab pos="122555" algn="l"/>
              </a:tabLst>
            </a:pP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T-SNE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목적함수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3841965" y="3483853"/>
            <a:ext cx="4508071" cy="2445924"/>
            <a:chOff x="2534568" y="3693102"/>
            <a:chExt cx="4508071" cy="244592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DECE195-81B8-4544-9D34-509F760141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1980" r="5756" b="64490"/>
            <a:stretch/>
          </p:blipFill>
          <p:spPr>
            <a:xfrm>
              <a:off x="3563542" y="3693102"/>
              <a:ext cx="2450123" cy="81442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DECE195-81B8-4544-9D34-509F760141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7554" r="22237"/>
            <a:stretch/>
          </p:blipFill>
          <p:spPr>
            <a:xfrm>
              <a:off x="2534568" y="4706815"/>
              <a:ext cx="4508071" cy="1432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73826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480ED5-FC32-4D9B-A697-F9D76914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234" y="2729635"/>
            <a:ext cx="5048372" cy="37946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8B3AB8-DAE0-4A73-B2B9-9830FD1959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45"/>
          <a:stretch/>
        </p:blipFill>
        <p:spPr>
          <a:xfrm>
            <a:off x="763395" y="3852083"/>
            <a:ext cx="5553209" cy="1628040"/>
          </a:xfrm>
          <a:prstGeom prst="rect">
            <a:avLst/>
          </a:prstGeom>
        </p:spPr>
      </p:pic>
      <p:sp>
        <p:nvSpPr>
          <p:cNvPr id="9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3600" spc="-10" dirty="0" err="1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차원축소</a:t>
            </a:r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T-SNE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 0"/>
          <p:cNvSpPr txBox="1">
            <a:spLocks/>
          </p:cNvSpPr>
          <p:nvPr/>
        </p:nvSpPr>
        <p:spPr>
          <a:xfrm>
            <a:off x="684213" y="1779905"/>
            <a:ext cx="1082357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각 데이터끼리의 유사도 분포를 유지하도록 차원을 축소하는 방법</a:t>
            </a:r>
            <a:r>
              <a:rPr lang="en-US" altLang="ko-KR" sz="2400" dirty="0" smtClean="0">
                <a:latin typeface="나눔스퀘어" panose="020B0600000101010101" pitchFamily="50" charset="-127"/>
                <a:ea typeface="나눔스퀘어" panose="020B0600000101010101" pitchFamily="50" charset="-127"/>
                <a:sym typeface="맑은 고딕" charset="0"/>
              </a:rPr>
              <a:t>.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sym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233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584514"/>
            <a:ext cx="10823575" cy="160871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차원축소 후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로지스틱 회귀 모형 적합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69900" indent="-457200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원본 데이터로 로지스틱 회귀 모형 적합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469900" indent="-457200">
              <a:lnSpc>
                <a:spcPct val="150000"/>
              </a:lnSpc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원본 데이터로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SVM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모형 적합</a:t>
            </a:r>
            <a:endParaRPr lang="en-US" altLang="ko-KR" sz="24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57C847-31DE-4FE6-87E1-003CFB3358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086"/>
          <a:stretch/>
        </p:blipFill>
        <p:spPr>
          <a:xfrm>
            <a:off x="509523" y="3429000"/>
            <a:ext cx="6082294" cy="288592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3E6641A-768C-4469-A787-3D3ECB5B0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252" y="3429000"/>
            <a:ext cx="5221348" cy="12644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335367-1FE7-4717-87AD-F609FA619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252" y="4902577"/>
            <a:ext cx="4238625" cy="1238250"/>
          </a:xfrm>
          <a:prstGeom prst="rect">
            <a:avLst/>
          </a:prstGeom>
        </p:spPr>
      </p:pic>
      <p:sp>
        <p:nvSpPr>
          <p:cNvPr id="10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서로 다른 모형 비교하기</a:t>
            </a:r>
            <a:endParaRPr lang="ko-KR" sz="3600" dirty="0"/>
          </a:p>
        </p:txBody>
      </p:sp>
      <p:cxnSp>
        <p:nvCxnSpPr>
          <p:cNvPr id="11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5104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27699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FD968D-EFA3-4089-8C8C-41DD8B5AA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2783840"/>
            <a:ext cx="11083636" cy="3026145"/>
          </a:xfrm>
          <a:prstGeom prst="rect">
            <a:avLst/>
          </a:prstGeom>
        </p:spPr>
      </p:pic>
      <p:sp>
        <p:nvSpPr>
          <p:cNvPr id="9" name="Rect 0">
            <a:extLst>
              <a:ext uri="{FF2B5EF4-FFF2-40B4-BE49-F238E27FC236}">
                <a16:creationId xmlns:a16="http://schemas.microsoft.com/office/drawing/2014/main" id="{AA636B9B-9D9A-40C6-9A44-C5FFED14F4DE}"/>
              </a:ext>
            </a:extLst>
          </p:cNvPr>
          <p:cNvSpPr txBox="1">
            <a:spLocks/>
          </p:cNvSpPr>
          <p:nvPr/>
        </p:nvSpPr>
        <p:spPr>
          <a:xfrm>
            <a:off x="835025" y="1779905"/>
            <a:ext cx="1082357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69900" indent="-4572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가지 방식으로 차원축소 후</a:t>
            </a:r>
            <a:r>
              <a:rPr lang="en-US" altLang="ko-KR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로지스틱 회귀로 분류하고 </a:t>
            </a:r>
            <a:r>
              <a:rPr lang="ko-KR" altLang="en-US" sz="24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시각화한다</a:t>
            </a:r>
            <a:r>
              <a:rPr lang="en-US" altLang="ko-KR" sz="24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527539" y="245696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 lang="en-GB" altLang="en-US" sz="4400" kern="12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3600" spc="-10" dirty="0" smtClean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서로 다른 모형 비교하기</a:t>
            </a:r>
            <a:endParaRPr lang="ko-KR" sz="3600" dirty="0"/>
          </a:p>
        </p:txBody>
      </p:sp>
      <p:cxnSp>
        <p:nvCxnSpPr>
          <p:cNvPr id="10" name="Rect 0"/>
          <p:cNvCxnSpPr/>
          <p:nvPr/>
        </p:nvCxnSpPr>
        <p:spPr>
          <a:xfrm>
            <a:off x="527539" y="1329006"/>
            <a:ext cx="5603630" cy="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322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6">
      <a:majorFont>
        <a:latin typeface="나눔스퀘어OTF_ac ExtraBold"/>
        <a:ea typeface="나눔스퀘어OTF_ac ExtraBold"/>
        <a:cs typeface=""/>
      </a:majorFont>
      <a:minorFont>
        <a:latin typeface="나눔스퀘어OTF"/>
        <a:ea typeface="나눔스퀘어OTF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Pages>40</Pages>
  <Words>709</Words>
  <Characters>0</Characters>
  <Application>Microsoft Office PowerPoint</Application>
  <DocSecurity>0</DocSecurity>
  <PresentationFormat>와이드스크린</PresentationFormat>
  <Lines>0</Lines>
  <Paragraphs>134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4" baseType="lpstr">
      <vt:lpstr>나눔스퀘어 Bold</vt:lpstr>
      <vt:lpstr>Arial</vt:lpstr>
      <vt:lpstr>Times New Roman</vt:lpstr>
      <vt:lpstr>나눔스퀘어 ExtraBold</vt:lpstr>
      <vt:lpstr>나눔스퀘어</vt:lpstr>
      <vt:lpstr>Wingdings</vt:lpstr>
      <vt:lpstr>맑은 고딕</vt:lpstr>
      <vt:lpstr>Cambria Math</vt:lpstr>
      <vt:lpstr>나눔스퀘어OTF</vt:lpstr>
      <vt:lpstr>Office 테마</vt:lpstr>
      <vt:lpstr>우리금융 실습 5주차</vt:lpstr>
      <vt:lpstr>목차</vt:lpstr>
      <vt:lpstr>Support Vector Machine</vt:lpstr>
      <vt:lpstr>Support Vector Machine</vt:lpstr>
      <vt:lpstr>Support Vector Machine</vt:lpstr>
      <vt:lpstr>Support Vector Machine</vt:lpstr>
      <vt:lpstr>PowerPoint 프레젠테이션</vt:lpstr>
      <vt:lpstr>Support Vector Machine</vt:lpstr>
      <vt:lpstr>Support Vector Machine</vt:lpstr>
      <vt:lpstr>군집분석</vt:lpstr>
      <vt:lpstr>군집분석</vt:lpstr>
      <vt:lpstr>비유사성 척도</vt:lpstr>
      <vt:lpstr>계층적 군집분석</vt:lpstr>
      <vt:lpstr>계층적 군집분석</vt:lpstr>
      <vt:lpstr>계층적 군집분석</vt:lpstr>
      <vt:lpstr>계층적 군집분석</vt:lpstr>
      <vt:lpstr>계층적 군집분석</vt:lpstr>
      <vt:lpstr>PowerPoint 프레젠테이션</vt:lpstr>
      <vt:lpstr>계층적 군집분석</vt:lpstr>
      <vt:lpstr>계층적 군집분석</vt:lpstr>
      <vt:lpstr>계층적 군집분석</vt:lpstr>
      <vt:lpstr>계층적 군집분석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데이터마이닝 실습  1주차</dc:title>
  <dc:creator>Kyungseon</dc:creator>
  <cp:lastModifiedBy>김초은</cp:lastModifiedBy>
  <cp:revision>159</cp:revision>
  <dcterms:modified xsi:type="dcterms:W3CDTF">2026-08-31T10:31:34Z</dcterms:modified>
  <cp:version>10.105.270.55406</cp:version>
</cp:coreProperties>
</file>